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6.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63" r:id="rId2"/>
    <p:sldId id="411" r:id="rId3"/>
    <p:sldId id="299" r:id="rId4"/>
    <p:sldId id="300" r:id="rId5"/>
    <p:sldId id="301" r:id="rId6"/>
    <p:sldId id="314" r:id="rId7"/>
    <p:sldId id="412" r:id="rId8"/>
    <p:sldId id="305" r:id="rId9"/>
    <p:sldId id="315" r:id="rId10"/>
    <p:sldId id="319" r:id="rId11"/>
    <p:sldId id="323" r:id="rId12"/>
    <p:sldId id="311" r:id="rId13"/>
    <p:sldId id="318" r:id="rId14"/>
    <p:sldId id="403" r:id="rId15"/>
    <p:sldId id="307" r:id="rId16"/>
    <p:sldId id="309" r:id="rId17"/>
    <p:sldId id="308" r:id="rId18"/>
    <p:sldId id="410" r:id="rId19"/>
    <p:sldId id="402" r:id="rId20"/>
    <p:sldId id="265"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40"/>
    <p:restoredTop sz="71858"/>
  </p:normalViewPr>
  <p:slideViewPr>
    <p:cSldViewPr snapToGrid="0" snapToObjects="1">
      <p:cViewPr varScale="1">
        <p:scale>
          <a:sx n="41" d="100"/>
          <a:sy n="41" d="100"/>
        </p:scale>
        <p:origin x="117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 Id="rId5" Type="http://schemas.openxmlformats.org/officeDocument/2006/relationships/image" Target="../media/image16.png"/><Relationship Id="rId4" Type="http://schemas.openxmlformats.org/officeDocument/2006/relationships/image" Target="../media/image15.jpeg"/></Relationships>
</file>

<file path=ppt/diagrams/_rels/data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image" Target="../media/image21.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 Id="rId5" Type="http://schemas.openxmlformats.org/officeDocument/2006/relationships/image" Target="../media/image16.png"/><Relationship Id="rId4" Type="http://schemas.openxmlformats.org/officeDocument/2006/relationships/image" Target="../media/image15.jpeg"/></Relationships>
</file>

<file path=ppt/diagrams/_rels/drawing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image" Target="../media/image21.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9413AC-56F1-9F41-80F0-D592C834469C}" type="doc">
      <dgm:prSet loTypeId="urn:microsoft.com/office/officeart/2005/8/layout/pList1" loCatId="" qsTypeId="urn:microsoft.com/office/officeart/2005/8/quickstyle/simple1" qsCatId="simple" csTypeId="urn:microsoft.com/office/officeart/2005/8/colors/accent0_1" csCatId="mainScheme" phldr="1"/>
      <dgm:spPr/>
      <dgm:t>
        <a:bodyPr/>
        <a:lstStyle/>
        <a:p>
          <a:endParaRPr lang="zh-CN" altLang="en-US"/>
        </a:p>
      </dgm:t>
    </dgm:pt>
    <dgm:pt modelId="{FC70411D-93F4-804F-8F74-C93DC21E1C59}">
      <dgm:prSet phldrT="[文本]"/>
      <dgm:spPr/>
      <dgm:t>
        <a:bodyPr/>
        <a:lstStyle/>
        <a:p>
          <a:r>
            <a:rPr kumimoji="1" lang="en-US" altLang="zh-CN" dirty="0">
              <a:latin typeface="Helvetica" pitchFamily="2" charset="0"/>
            </a:rPr>
            <a:t>Alias Sets</a:t>
          </a:r>
        </a:p>
        <a:p>
          <a:r>
            <a:rPr kumimoji="1" lang="en-US" altLang="zh-CN" dirty="0">
              <a:latin typeface="Helvetica" pitchFamily="2" charset="0"/>
            </a:rPr>
            <a:t> Problem</a:t>
          </a:r>
          <a:endParaRPr lang="zh-CN" altLang="en-US" dirty="0"/>
        </a:p>
      </dgm:t>
    </dgm:pt>
    <dgm:pt modelId="{D0ED498D-A8BB-234B-9003-92097A25111C}" type="parTrans" cxnId="{3D90232C-B346-C547-8039-7C5971354CBA}">
      <dgm:prSet/>
      <dgm:spPr/>
      <dgm:t>
        <a:bodyPr/>
        <a:lstStyle/>
        <a:p>
          <a:endParaRPr lang="zh-CN" altLang="en-US"/>
        </a:p>
      </dgm:t>
    </dgm:pt>
    <dgm:pt modelId="{A5520D7D-43D8-4C4D-B157-5007AF13DFE9}" type="sibTrans" cxnId="{3D90232C-B346-C547-8039-7C5971354CBA}">
      <dgm:prSet/>
      <dgm:spPr/>
      <dgm:t>
        <a:bodyPr/>
        <a:lstStyle/>
        <a:p>
          <a:endParaRPr lang="zh-CN" altLang="en-US"/>
        </a:p>
      </dgm:t>
    </dgm:pt>
    <dgm:pt modelId="{5E6543F5-1065-4A4F-81D7-33B32CAEE590}">
      <dgm:prSet phldrT="[文本]"/>
      <dgm:spPr/>
      <dgm:t>
        <a:bodyPr/>
        <a:lstStyle/>
        <a:p>
          <a:r>
            <a:rPr kumimoji="1" lang="en-US" altLang="zh-CN" dirty="0">
              <a:latin typeface="Helvetica" pitchFamily="2" charset="0"/>
            </a:rPr>
            <a:t>Secure</a:t>
          </a:r>
        </a:p>
        <a:p>
          <a:r>
            <a:rPr kumimoji="1" lang="en-US" altLang="zh-CN" dirty="0">
              <a:latin typeface="Helvetica" pitchFamily="2" charset="0"/>
            </a:rPr>
            <a:t> Information Flow</a:t>
          </a:r>
          <a:endParaRPr lang="zh-CN" altLang="en-US" dirty="0"/>
        </a:p>
      </dgm:t>
    </dgm:pt>
    <dgm:pt modelId="{8A0E9FB4-8E3B-C24C-954E-38B517F53E4D}" type="parTrans" cxnId="{75B10E18-FB45-C94A-B131-4533AC63E40A}">
      <dgm:prSet/>
      <dgm:spPr/>
      <dgm:t>
        <a:bodyPr/>
        <a:lstStyle/>
        <a:p>
          <a:endParaRPr lang="zh-CN" altLang="en-US"/>
        </a:p>
      </dgm:t>
    </dgm:pt>
    <dgm:pt modelId="{07873F92-37AA-9E4E-8C9C-7BE8D471EF56}" type="sibTrans" cxnId="{75B10E18-FB45-C94A-B131-4533AC63E40A}">
      <dgm:prSet/>
      <dgm:spPr/>
      <dgm:t>
        <a:bodyPr/>
        <a:lstStyle/>
        <a:p>
          <a:endParaRPr lang="zh-CN" altLang="en-US"/>
        </a:p>
      </dgm:t>
    </dgm:pt>
    <dgm:pt modelId="{EF8DCF66-7768-8F4C-801B-36D5C04852B5}">
      <dgm:prSet phldrT="[文本]"/>
      <dgm:spPr/>
      <dgm:t>
        <a:bodyPr/>
        <a:lstStyle/>
        <a:p>
          <a:r>
            <a:rPr kumimoji="1" lang="en-US" altLang="zh-CN" dirty="0">
              <a:latin typeface="Helvetica" pitchFamily="2" charset="0"/>
            </a:rPr>
            <a:t>Type State</a:t>
          </a:r>
        </a:p>
        <a:p>
          <a:r>
            <a:rPr kumimoji="1" lang="en-US" altLang="zh-CN" dirty="0">
              <a:latin typeface="Helvetica" pitchFamily="2" charset="0"/>
            </a:rPr>
            <a:t> Analysis</a:t>
          </a:r>
          <a:endParaRPr lang="zh-CN" altLang="en-US" dirty="0"/>
        </a:p>
      </dgm:t>
    </dgm:pt>
    <dgm:pt modelId="{328C08F6-612F-9848-8F35-DC92A35ED28E}" type="parTrans" cxnId="{E47660FA-38B5-A14A-A079-CDD45BC7EB53}">
      <dgm:prSet/>
      <dgm:spPr/>
      <dgm:t>
        <a:bodyPr/>
        <a:lstStyle/>
        <a:p>
          <a:endParaRPr lang="zh-CN" altLang="en-US"/>
        </a:p>
      </dgm:t>
    </dgm:pt>
    <dgm:pt modelId="{550233F9-27B8-3944-B67F-B7C97DC03CA9}" type="sibTrans" cxnId="{E47660FA-38B5-A14A-A079-CDD45BC7EB53}">
      <dgm:prSet/>
      <dgm:spPr/>
      <dgm:t>
        <a:bodyPr/>
        <a:lstStyle/>
        <a:p>
          <a:endParaRPr lang="zh-CN" altLang="en-US"/>
        </a:p>
      </dgm:t>
    </dgm:pt>
    <dgm:pt modelId="{C39C54B8-FB7D-4041-909E-0B8015113C30}">
      <dgm:prSet phldrT="[文本]"/>
      <dgm:spPr/>
      <dgm:t>
        <a:bodyPr/>
        <a:lstStyle/>
        <a:p>
          <a:r>
            <a:rPr kumimoji="1" lang="en-US" altLang="zh-CN" dirty="0">
              <a:latin typeface="Helvetica" pitchFamily="2" charset="0"/>
            </a:rPr>
            <a:t>Shape </a:t>
          </a:r>
        </a:p>
        <a:p>
          <a:r>
            <a:rPr kumimoji="1" lang="en-US" altLang="zh-CN" dirty="0">
              <a:latin typeface="Helvetica" pitchFamily="2" charset="0"/>
            </a:rPr>
            <a:t>Analysis</a:t>
          </a:r>
          <a:endParaRPr lang="zh-CN" altLang="en-US" dirty="0"/>
        </a:p>
      </dgm:t>
    </dgm:pt>
    <dgm:pt modelId="{DADD063C-B52F-3845-A060-1C02232F8130}" type="parTrans" cxnId="{BD61D6F3-8D97-1740-8E5B-3763D6CE6BB2}">
      <dgm:prSet/>
      <dgm:spPr/>
      <dgm:t>
        <a:bodyPr/>
        <a:lstStyle/>
        <a:p>
          <a:endParaRPr lang="zh-CN" altLang="en-US"/>
        </a:p>
      </dgm:t>
    </dgm:pt>
    <dgm:pt modelId="{424864C8-BFA4-CE4B-B3E0-C6C8DC3291B7}" type="sibTrans" cxnId="{BD61D6F3-8D97-1740-8E5B-3763D6CE6BB2}">
      <dgm:prSet/>
      <dgm:spPr/>
      <dgm:t>
        <a:bodyPr/>
        <a:lstStyle/>
        <a:p>
          <a:endParaRPr lang="zh-CN" altLang="en-US"/>
        </a:p>
      </dgm:t>
    </dgm:pt>
    <dgm:pt modelId="{1504A78C-315B-1A4D-ACD8-055BE8D2A785}">
      <dgm:prSet phldrT="[文本]"/>
      <dgm:spPr/>
      <dgm:t>
        <a:bodyPr/>
        <a:lstStyle/>
        <a:p>
          <a:r>
            <a:rPr kumimoji="1" lang="en-US" altLang="zh-CN" dirty="0">
              <a:latin typeface="Helvetica" pitchFamily="2" charset="0"/>
            </a:rPr>
            <a:t>Specification</a:t>
          </a:r>
        </a:p>
        <a:p>
          <a:r>
            <a:rPr kumimoji="1" lang="en-US" altLang="zh-CN" dirty="0">
              <a:latin typeface="Helvetica" pitchFamily="2" charset="0"/>
            </a:rPr>
            <a:t>Inference</a:t>
          </a:r>
          <a:endParaRPr lang="zh-CN" altLang="en-US" dirty="0"/>
        </a:p>
      </dgm:t>
    </dgm:pt>
    <dgm:pt modelId="{614AB6EF-3C3F-1345-99DD-C70DBA0CE5CB}" type="parTrans" cxnId="{5D5A55EB-CCAE-C64C-8A32-27616D8E1DA7}">
      <dgm:prSet/>
      <dgm:spPr/>
      <dgm:t>
        <a:bodyPr/>
        <a:lstStyle/>
        <a:p>
          <a:endParaRPr lang="zh-CN" altLang="en-US"/>
        </a:p>
      </dgm:t>
    </dgm:pt>
    <dgm:pt modelId="{77696A0F-FA19-A54E-8C5F-7E4951C0CD9E}" type="sibTrans" cxnId="{5D5A55EB-CCAE-C64C-8A32-27616D8E1DA7}">
      <dgm:prSet/>
      <dgm:spPr/>
      <dgm:t>
        <a:bodyPr/>
        <a:lstStyle/>
        <a:p>
          <a:endParaRPr lang="zh-CN" altLang="en-US"/>
        </a:p>
      </dgm:t>
    </dgm:pt>
    <dgm:pt modelId="{4C5AEAD1-CDEC-F744-A064-9A2DC4F737DD}" type="pres">
      <dgm:prSet presAssocID="{A89413AC-56F1-9F41-80F0-D592C834469C}" presName="Name0" presStyleCnt="0">
        <dgm:presLayoutVars>
          <dgm:dir/>
          <dgm:resizeHandles val="exact"/>
        </dgm:presLayoutVars>
      </dgm:prSet>
      <dgm:spPr/>
    </dgm:pt>
    <dgm:pt modelId="{5D0A6DDF-002F-CA4F-8EBB-5ABA7132C0C7}" type="pres">
      <dgm:prSet presAssocID="{FC70411D-93F4-804F-8F74-C93DC21E1C59}" presName="compNode" presStyleCnt="0"/>
      <dgm:spPr/>
    </dgm:pt>
    <dgm:pt modelId="{DB3D8739-4971-B54E-AF8D-F29574F57756}" type="pres">
      <dgm:prSet presAssocID="{FC70411D-93F4-804F-8F74-C93DC21E1C59}" presName="pictRect" presStyleLbl="node1" presStyleIdx="0" presStyleCnt="5"/>
      <dgm:spPr>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dgm:spPr>
    </dgm:pt>
    <dgm:pt modelId="{2F0E2E6B-771F-4B46-AAAA-BAEBF53C5107}" type="pres">
      <dgm:prSet presAssocID="{FC70411D-93F4-804F-8F74-C93DC21E1C59}" presName="textRect" presStyleLbl="revTx" presStyleIdx="0" presStyleCnt="5" custLinFactNeighborY="15701">
        <dgm:presLayoutVars>
          <dgm:bulletEnabled val="1"/>
        </dgm:presLayoutVars>
      </dgm:prSet>
      <dgm:spPr/>
    </dgm:pt>
    <dgm:pt modelId="{B14242AA-3FAB-1A48-895F-B2298B327B5F}" type="pres">
      <dgm:prSet presAssocID="{A5520D7D-43D8-4C4D-B157-5007AF13DFE9}" presName="sibTrans" presStyleLbl="sibTrans2D1" presStyleIdx="0" presStyleCnt="0"/>
      <dgm:spPr/>
    </dgm:pt>
    <dgm:pt modelId="{9D3F1DCF-C81A-404E-9142-3CBFB6AE9B4D}" type="pres">
      <dgm:prSet presAssocID="{5E6543F5-1065-4A4F-81D7-33B32CAEE590}" presName="compNode" presStyleCnt="0"/>
      <dgm:spPr/>
    </dgm:pt>
    <dgm:pt modelId="{640A6DED-9557-4645-B3B4-5FAE14B2CD89}" type="pres">
      <dgm:prSet presAssocID="{5E6543F5-1065-4A4F-81D7-33B32CAEE590}" presName="pictRect" presStyleLbl="node1" presStyleIdx="1" presStyleCnt="5"/>
      <dgm:spPr>
        <a:blipFill>
          <a:blip xmlns:r="http://schemas.openxmlformats.org/officeDocument/2006/relationships" r:embed="rId2">
            <a:extLst>
              <a:ext uri="{28A0092B-C50C-407E-A947-70E740481C1C}">
                <a14:useLocalDpi xmlns:a14="http://schemas.microsoft.com/office/drawing/2010/main"/>
              </a:ext>
            </a:extLst>
          </a:blip>
          <a:srcRect/>
          <a:stretch>
            <a:fillRect/>
          </a:stretch>
        </a:blipFill>
      </dgm:spPr>
    </dgm:pt>
    <dgm:pt modelId="{1961E4AF-ED7D-8847-ABDA-C9102AB14FAD}" type="pres">
      <dgm:prSet presAssocID="{5E6543F5-1065-4A4F-81D7-33B32CAEE590}" presName="textRect" presStyleLbl="revTx" presStyleIdx="1" presStyleCnt="5" custLinFactNeighborY="15701">
        <dgm:presLayoutVars>
          <dgm:bulletEnabled val="1"/>
        </dgm:presLayoutVars>
      </dgm:prSet>
      <dgm:spPr/>
    </dgm:pt>
    <dgm:pt modelId="{9604F2F0-A81D-D24D-B3E4-3086DFAFAE76}" type="pres">
      <dgm:prSet presAssocID="{07873F92-37AA-9E4E-8C9C-7BE8D471EF56}" presName="sibTrans" presStyleLbl="sibTrans2D1" presStyleIdx="0" presStyleCnt="0"/>
      <dgm:spPr/>
    </dgm:pt>
    <dgm:pt modelId="{72E6ED8C-DB4A-AC49-AFBD-1B91A4A7E0F6}" type="pres">
      <dgm:prSet presAssocID="{EF8DCF66-7768-8F4C-801B-36D5C04852B5}" presName="compNode" presStyleCnt="0"/>
      <dgm:spPr/>
    </dgm:pt>
    <dgm:pt modelId="{47E52638-2229-FE4F-9ADD-8FC3ABA11B4B}" type="pres">
      <dgm:prSet presAssocID="{EF8DCF66-7768-8F4C-801B-36D5C04852B5}" presName="pictRect" presStyleLbl="node1" presStyleIdx="2" presStyleCnt="5"/>
      <dgm:spPr>
        <a:blipFill>
          <a:blip xmlns:r="http://schemas.openxmlformats.org/officeDocument/2006/relationships" r:embed="rId3" cstate="screen">
            <a:extLst>
              <a:ext uri="{28A0092B-C50C-407E-A947-70E740481C1C}">
                <a14:useLocalDpi xmlns:a14="http://schemas.microsoft.com/office/drawing/2010/main"/>
              </a:ext>
            </a:extLst>
          </a:blip>
          <a:srcRect/>
          <a:stretch>
            <a:fillRect/>
          </a:stretch>
        </a:blipFill>
      </dgm:spPr>
    </dgm:pt>
    <dgm:pt modelId="{78E19FF4-755B-9E41-B017-D3B34B9CF539}" type="pres">
      <dgm:prSet presAssocID="{EF8DCF66-7768-8F4C-801B-36D5C04852B5}" presName="textRect" presStyleLbl="revTx" presStyleIdx="2" presStyleCnt="5" custLinFactNeighborY="15701">
        <dgm:presLayoutVars>
          <dgm:bulletEnabled val="1"/>
        </dgm:presLayoutVars>
      </dgm:prSet>
      <dgm:spPr/>
    </dgm:pt>
    <dgm:pt modelId="{E7E395AC-EBB1-2943-AC21-E0C1715FA1AA}" type="pres">
      <dgm:prSet presAssocID="{550233F9-27B8-3944-B67F-B7C97DC03CA9}" presName="sibTrans" presStyleLbl="sibTrans2D1" presStyleIdx="0" presStyleCnt="0"/>
      <dgm:spPr/>
    </dgm:pt>
    <dgm:pt modelId="{B536F77F-0AED-324F-9C20-D59701581F2F}" type="pres">
      <dgm:prSet presAssocID="{C39C54B8-FB7D-4041-909E-0B8015113C30}" presName="compNode" presStyleCnt="0"/>
      <dgm:spPr/>
    </dgm:pt>
    <dgm:pt modelId="{1BEB6582-EBE1-F446-85E9-9E1B3D7EB9E4}" type="pres">
      <dgm:prSet presAssocID="{C39C54B8-FB7D-4041-909E-0B8015113C30}" presName="pictRect" presStyleLbl="node1" presStyleIdx="3" presStyleCnt="5"/>
      <dgm:spPr>
        <a:blipFill>
          <a:blip xmlns:r="http://schemas.openxmlformats.org/officeDocument/2006/relationships" r:embed="rId4" cstate="screen">
            <a:extLst>
              <a:ext uri="{28A0092B-C50C-407E-A947-70E740481C1C}">
                <a14:useLocalDpi xmlns:a14="http://schemas.microsoft.com/office/drawing/2010/main"/>
              </a:ext>
            </a:extLst>
          </a:blip>
          <a:srcRect/>
          <a:stretch>
            <a:fillRect/>
          </a:stretch>
        </a:blipFill>
      </dgm:spPr>
    </dgm:pt>
    <dgm:pt modelId="{2A47BC29-7DB2-7546-AE0C-9344A4F3DE3D}" type="pres">
      <dgm:prSet presAssocID="{C39C54B8-FB7D-4041-909E-0B8015113C30}" presName="textRect" presStyleLbl="revTx" presStyleIdx="3" presStyleCnt="5" custLinFactNeighborY="15701">
        <dgm:presLayoutVars>
          <dgm:bulletEnabled val="1"/>
        </dgm:presLayoutVars>
      </dgm:prSet>
      <dgm:spPr/>
    </dgm:pt>
    <dgm:pt modelId="{F22C92A4-004F-DE4D-A054-40247EC77C68}" type="pres">
      <dgm:prSet presAssocID="{424864C8-BFA4-CE4B-B3E0-C6C8DC3291B7}" presName="sibTrans" presStyleLbl="sibTrans2D1" presStyleIdx="0" presStyleCnt="0"/>
      <dgm:spPr/>
    </dgm:pt>
    <dgm:pt modelId="{30A447B1-642D-BD41-9E14-C4CA81455E8C}" type="pres">
      <dgm:prSet presAssocID="{1504A78C-315B-1A4D-ACD8-055BE8D2A785}" presName="compNode" presStyleCnt="0"/>
      <dgm:spPr/>
    </dgm:pt>
    <dgm:pt modelId="{A6AEB8EA-F1AF-FC4A-A218-64F53C0B1567}" type="pres">
      <dgm:prSet presAssocID="{1504A78C-315B-1A4D-ACD8-055BE8D2A785}" presName="pictRect" presStyleLbl="node1" presStyleIdx="4" presStyleCnt="5"/>
      <dgm:spPr>
        <a:blipFill>
          <a:blip xmlns:r="http://schemas.openxmlformats.org/officeDocument/2006/relationships" r:embed="rId5" cstate="screen">
            <a:extLst>
              <a:ext uri="{28A0092B-C50C-407E-A947-70E740481C1C}">
                <a14:useLocalDpi xmlns:a14="http://schemas.microsoft.com/office/drawing/2010/main"/>
              </a:ext>
            </a:extLst>
          </a:blip>
          <a:srcRect/>
          <a:stretch>
            <a:fillRect/>
          </a:stretch>
        </a:blipFill>
      </dgm:spPr>
    </dgm:pt>
    <dgm:pt modelId="{FA76E543-9254-3542-AAF3-0333E36C9CA2}" type="pres">
      <dgm:prSet presAssocID="{1504A78C-315B-1A4D-ACD8-055BE8D2A785}" presName="textRect" presStyleLbl="revTx" presStyleIdx="4" presStyleCnt="5" custLinFactNeighborY="15701">
        <dgm:presLayoutVars>
          <dgm:bulletEnabled val="1"/>
        </dgm:presLayoutVars>
      </dgm:prSet>
      <dgm:spPr/>
    </dgm:pt>
  </dgm:ptLst>
  <dgm:cxnLst>
    <dgm:cxn modelId="{C0DDB50D-A4E6-A444-8C34-682637893C2B}" type="presOf" srcId="{C39C54B8-FB7D-4041-909E-0B8015113C30}" destId="{2A47BC29-7DB2-7546-AE0C-9344A4F3DE3D}" srcOrd="0" destOrd="0" presId="urn:microsoft.com/office/officeart/2005/8/layout/pList1"/>
    <dgm:cxn modelId="{75B10E18-FB45-C94A-B131-4533AC63E40A}" srcId="{A89413AC-56F1-9F41-80F0-D592C834469C}" destId="{5E6543F5-1065-4A4F-81D7-33B32CAEE590}" srcOrd="1" destOrd="0" parTransId="{8A0E9FB4-8E3B-C24C-954E-38B517F53E4D}" sibTransId="{07873F92-37AA-9E4E-8C9C-7BE8D471EF56}"/>
    <dgm:cxn modelId="{CE2D9C28-219A-F147-B109-42AEBD88636A}" type="presOf" srcId="{EF8DCF66-7768-8F4C-801B-36D5C04852B5}" destId="{78E19FF4-755B-9E41-B017-D3B34B9CF539}" srcOrd="0" destOrd="0" presId="urn:microsoft.com/office/officeart/2005/8/layout/pList1"/>
    <dgm:cxn modelId="{3D90232C-B346-C547-8039-7C5971354CBA}" srcId="{A89413AC-56F1-9F41-80F0-D592C834469C}" destId="{FC70411D-93F4-804F-8F74-C93DC21E1C59}" srcOrd="0" destOrd="0" parTransId="{D0ED498D-A8BB-234B-9003-92097A25111C}" sibTransId="{A5520D7D-43D8-4C4D-B157-5007AF13DFE9}"/>
    <dgm:cxn modelId="{5299CA39-E6A0-E044-87F2-B9F091FC9F92}" type="presOf" srcId="{A5520D7D-43D8-4C4D-B157-5007AF13DFE9}" destId="{B14242AA-3FAB-1A48-895F-B2298B327B5F}" srcOrd="0" destOrd="0" presId="urn:microsoft.com/office/officeart/2005/8/layout/pList1"/>
    <dgm:cxn modelId="{8DF25B5E-AAC7-7047-800C-241128C609CC}" type="presOf" srcId="{07873F92-37AA-9E4E-8C9C-7BE8D471EF56}" destId="{9604F2F0-A81D-D24D-B3E4-3086DFAFAE76}" srcOrd="0" destOrd="0" presId="urn:microsoft.com/office/officeart/2005/8/layout/pList1"/>
    <dgm:cxn modelId="{6E9FFC6B-5DBD-3748-8614-8D9E6504CAEB}" type="presOf" srcId="{1504A78C-315B-1A4D-ACD8-055BE8D2A785}" destId="{FA76E543-9254-3542-AAF3-0333E36C9CA2}" srcOrd="0" destOrd="0" presId="urn:microsoft.com/office/officeart/2005/8/layout/pList1"/>
    <dgm:cxn modelId="{C3FDAF79-9EB8-AB41-A743-AC8FA23DBF40}" type="presOf" srcId="{424864C8-BFA4-CE4B-B3E0-C6C8DC3291B7}" destId="{F22C92A4-004F-DE4D-A054-40247EC77C68}" srcOrd="0" destOrd="0" presId="urn:microsoft.com/office/officeart/2005/8/layout/pList1"/>
    <dgm:cxn modelId="{37FB75B2-DFEC-2041-A805-FBD394E2E705}" type="presOf" srcId="{A89413AC-56F1-9F41-80F0-D592C834469C}" destId="{4C5AEAD1-CDEC-F744-A064-9A2DC4F737DD}" srcOrd="0" destOrd="0" presId="urn:microsoft.com/office/officeart/2005/8/layout/pList1"/>
    <dgm:cxn modelId="{76A024DA-8CF2-154F-8BBD-4AE4273706E5}" type="presOf" srcId="{FC70411D-93F4-804F-8F74-C93DC21E1C59}" destId="{2F0E2E6B-771F-4B46-AAAA-BAEBF53C5107}" srcOrd="0" destOrd="0" presId="urn:microsoft.com/office/officeart/2005/8/layout/pList1"/>
    <dgm:cxn modelId="{5D5A55EB-CCAE-C64C-8A32-27616D8E1DA7}" srcId="{A89413AC-56F1-9F41-80F0-D592C834469C}" destId="{1504A78C-315B-1A4D-ACD8-055BE8D2A785}" srcOrd="4" destOrd="0" parTransId="{614AB6EF-3C3F-1345-99DD-C70DBA0CE5CB}" sibTransId="{77696A0F-FA19-A54E-8C5F-7E4951C0CD9E}"/>
    <dgm:cxn modelId="{B15C25F2-110B-164C-A7B4-F4E51DACB018}" type="presOf" srcId="{550233F9-27B8-3944-B67F-B7C97DC03CA9}" destId="{E7E395AC-EBB1-2943-AC21-E0C1715FA1AA}" srcOrd="0" destOrd="0" presId="urn:microsoft.com/office/officeart/2005/8/layout/pList1"/>
    <dgm:cxn modelId="{BD61D6F3-8D97-1740-8E5B-3763D6CE6BB2}" srcId="{A89413AC-56F1-9F41-80F0-D592C834469C}" destId="{C39C54B8-FB7D-4041-909E-0B8015113C30}" srcOrd="3" destOrd="0" parTransId="{DADD063C-B52F-3845-A060-1C02232F8130}" sibTransId="{424864C8-BFA4-CE4B-B3E0-C6C8DC3291B7}"/>
    <dgm:cxn modelId="{28DEA1F9-B58D-B642-A0B7-F720D205F97E}" type="presOf" srcId="{5E6543F5-1065-4A4F-81D7-33B32CAEE590}" destId="{1961E4AF-ED7D-8847-ABDA-C9102AB14FAD}" srcOrd="0" destOrd="0" presId="urn:microsoft.com/office/officeart/2005/8/layout/pList1"/>
    <dgm:cxn modelId="{E47660FA-38B5-A14A-A079-CDD45BC7EB53}" srcId="{A89413AC-56F1-9F41-80F0-D592C834469C}" destId="{EF8DCF66-7768-8F4C-801B-36D5C04852B5}" srcOrd="2" destOrd="0" parTransId="{328C08F6-612F-9848-8F35-DC92A35ED28E}" sibTransId="{550233F9-27B8-3944-B67F-B7C97DC03CA9}"/>
    <dgm:cxn modelId="{803F63A1-3C3B-A641-A24B-B856EBF2623D}" type="presParOf" srcId="{4C5AEAD1-CDEC-F744-A064-9A2DC4F737DD}" destId="{5D0A6DDF-002F-CA4F-8EBB-5ABA7132C0C7}" srcOrd="0" destOrd="0" presId="urn:microsoft.com/office/officeart/2005/8/layout/pList1"/>
    <dgm:cxn modelId="{0808F1D3-7EE9-EE40-9E1B-7B6726B2B99F}" type="presParOf" srcId="{5D0A6DDF-002F-CA4F-8EBB-5ABA7132C0C7}" destId="{DB3D8739-4971-B54E-AF8D-F29574F57756}" srcOrd="0" destOrd="0" presId="urn:microsoft.com/office/officeart/2005/8/layout/pList1"/>
    <dgm:cxn modelId="{7BBBA8D0-B9E5-F940-B9A2-514C69CEE931}" type="presParOf" srcId="{5D0A6DDF-002F-CA4F-8EBB-5ABA7132C0C7}" destId="{2F0E2E6B-771F-4B46-AAAA-BAEBF53C5107}" srcOrd="1" destOrd="0" presId="urn:microsoft.com/office/officeart/2005/8/layout/pList1"/>
    <dgm:cxn modelId="{7D2A21D4-937B-C941-BAAB-866450D4EF4F}" type="presParOf" srcId="{4C5AEAD1-CDEC-F744-A064-9A2DC4F737DD}" destId="{B14242AA-3FAB-1A48-895F-B2298B327B5F}" srcOrd="1" destOrd="0" presId="urn:microsoft.com/office/officeart/2005/8/layout/pList1"/>
    <dgm:cxn modelId="{414423B5-B299-D44D-9A4C-D85160CBCF3C}" type="presParOf" srcId="{4C5AEAD1-CDEC-F744-A064-9A2DC4F737DD}" destId="{9D3F1DCF-C81A-404E-9142-3CBFB6AE9B4D}" srcOrd="2" destOrd="0" presId="urn:microsoft.com/office/officeart/2005/8/layout/pList1"/>
    <dgm:cxn modelId="{86F77479-0D0B-8146-90D1-88C833099311}" type="presParOf" srcId="{9D3F1DCF-C81A-404E-9142-3CBFB6AE9B4D}" destId="{640A6DED-9557-4645-B3B4-5FAE14B2CD89}" srcOrd="0" destOrd="0" presId="urn:microsoft.com/office/officeart/2005/8/layout/pList1"/>
    <dgm:cxn modelId="{ED72B372-1487-F941-9367-515A6534C3AD}" type="presParOf" srcId="{9D3F1DCF-C81A-404E-9142-3CBFB6AE9B4D}" destId="{1961E4AF-ED7D-8847-ABDA-C9102AB14FAD}" srcOrd="1" destOrd="0" presId="urn:microsoft.com/office/officeart/2005/8/layout/pList1"/>
    <dgm:cxn modelId="{83947517-A82B-D64B-B511-97EF557A4316}" type="presParOf" srcId="{4C5AEAD1-CDEC-F744-A064-9A2DC4F737DD}" destId="{9604F2F0-A81D-D24D-B3E4-3086DFAFAE76}" srcOrd="3" destOrd="0" presId="urn:microsoft.com/office/officeart/2005/8/layout/pList1"/>
    <dgm:cxn modelId="{E9618704-BEED-1347-A14A-DDDF666BA096}" type="presParOf" srcId="{4C5AEAD1-CDEC-F744-A064-9A2DC4F737DD}" destId="{72E6ED8C-DB4A-AC49-AFBD-1B91A4A7E0F6}" srcOrd="4" destOrd="0" presId="urn:microsoft.com/office/officeart/2005/8/layout/pList1"/>
    <dgm:cxn modelId="{B0B66512-366D-144A-9C9E-F512B00BC581}" type="presParOf" srcId="{72E6ED8C-DB4A-AC49-AFBD-1B91A4A7E0F6}" destId="{47E52638-2229-FE4F-9ADD-8FC3ABA11B4B}" srcOrd="0" destOrd="0" presId="urn:microsoft.com/office/officeart/2005/8/layout/pList1"/>
    <dgm:cxn modelId="{185E5590-153E-1A49-BF8A-4FBCBB57063B}" type="presParOf" srcId="{72E6ED8C-DB4A-AC49-AFBD-1B91A4A7E0F6}" destId="{78E19FF4-755B-9E41-B017-D3B34B9CF539}" srcOrd="1" destOrd="0" presId="urn:microsoft.com/office/officeart/2005/8/layout/pList1"/>
    <dgm:cxn modelId="{E69B8D7C-AA64-CF41-A3EA-7A620B0DD9B2}" type="presParOf" srcId="{4C5AEAD1-CDEC-F744-A064-9A2DC4F737DD}" destId="{E7E395AC-EBB1-2943-AC21-E0C1715FA1AA}" srcOrd="5" destOrd="0" presId="urn:microsoft.com/office/officeart/2005/8/layout/pList1"/>
    <dgm:cxn modelId="{3BF84CC0-F0DB-5342-804A-92035BD93B25}" type="presParOf" srcId="{4C5AEAD1-CDEC-F744-A064-9A2DC4F737DD}" destId="{B536F77F-0AED-324F-9C20-D59701581F2F}" srcOrd="6" destOrd="0" presId="urn:microsoft.com/office/officeart/2005/8/layout/pList1"/>
    <dgm:cxn modelId="{C625F385-00F1-4B49-B818-FE7EAE66415B}" type="presParOf" srcId="{B536F77F-0AED-324F-9C20-D59701581F2F}" destId="{1BEB6582-EBE1-F446-85E9-9E1B3D7EB9E4}" srcOrd="0" destOrd="0" presId="urn:microsoft.com/office/officeart/2005/8/layout/pList1"/>
    <dgm:cxn modelId="{88898332-584B-0E40-8487-9799D4A667BD}" type="presParOf" srcId="{B536F77F-0AED-324F-9C20-D59701581F2F}" destId="{2A47BC29-7DB2-7546-AE0C-9344A4F3DE3D}" srcOrd="1" destOrd="0" presId="urn:microsoft.com/office/officeart/2005/8/layout/pList1"/>
    <dgm:cxn modelId="{97646B4C-98BD-9840-99BC-63129FBBABD6}" type="presParOf" srcId="{4C5AEAD1-CDEC-F744-A064-9A2DC4F737DD}" destId="{F22C92A4-004F-DE4D-A054-40247EC77C68}" srcOrd="7" destOrd="0" presId="urn:microsoft.com/office/officeart/2005/8/layout/pList1"/>
    <dgm:cxn modelId="{E965DA8F-2FF7-794D-831B-204800F26DC7}" type="presParOf" srcId="{4C5AEAD1-CDEC-F744-A064-9A2DC4F737DD}" destId="{30A447B1-642D-BD41-9E14-C4CA81455E8C}" srcOrd="8" destOrd="0" presId="urn:microsoft.com/office/officeart/2005/8/layout/pList1"/>
    <dgm:cxn modelId="{4F6D0826-D39C-B64A-8511-761A60D581A9}" type="presParOf" srcId="{30A447B1-642D-BD41-9E14-C4CA81455E8C}" destId="{A6AEB8EA-F1AF-FC4A-A218-64F53C0B1567}" srcOrd="0" destOrd="0" presId="urn:microsoft.com/office/officeart/2005/8/layout/pList1"/>
    <dgm:cxn modelId="{784B68F7-2F9F-0649-B0DE-F8FC2A1A568F}" type="presParOf" srcId="{30A447B1-642D-BD41-9E14-C4CA81455E8C}" destId="{FA76E543-9254-3542-AAF3-0333E36C9CA2}" srcOrd="1" destOrd="0" presId="urn:microsoft.com/office/officeart/2005/8/layout/p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F52B69-C9DC-0940-AC83-A99CBB5959DF}" type="doc">
      <dgm:prSet loTypeId="urn:microsoft.com/office/officeart/2008/layout/BendingPictureCaption" loCatId="" qsTypeId="urn:microsoft.com/office/officeart/2005/8/quickstyle/simple1" qsCatId="simple" csTypeId="urn:microsoft.com/office/officeart/2005/8/colors/accent1_1" csCatId="accent1" phldr="1"/>
      <dgm:spPr/>
      <dgm:t>
        <a:bodyPr/>
        <a:lstStyle/>
        <a:p>
          <a:endParaRPr lang="zh-CN" altLang="en-US"/>
        </a:p>
      </dgm:t>
    </dgm:pt>
    <dgm:pt modelId="{1E17A60B-9F4A-994A-9FC7-D4B3048EFAD8}">
      <dgm:prSet phldrT="[文本]" custT="1"/>
      <dgm:spPr>
        <a:solidFill>
          <a:schemeClr val="accent6">
            <a:lumMod val="40000"/>
            <a:lumOff val="60000"/>
          </a:schemeClr>
        </a:solidFill>
        <a:ln>
          <a:solidFill>
            <a:schemeClr val="tx1"/>
          </a:solidFill>
        </a:ln>
      </dgm:spPr>
      <dgm:t>
        <a:bodyPr/>
        <a:lstStyle/>
        <a:p>
          <a:r>
            <a:rPr lang="en-US" altLang="zh-CN" sz="2000" b="1" dirty="0" err="1">
              <a:latin typeface="Helvetica" pitchFamily="2" charset="0"/>
            </a:rPr>
            <a:t>Num</a:t>
          </a:r>
          <a:r>
            <a:rPr lang="en-US" altLang="zh-CN" sz="2000" b="1" dirty="0">
              <a:latin typeface="Helvetica" pitchFamily="2" charset="0"/>
            </a:rPr>
            <a:t> of Threads</a:t>
          </a:r>
          <a:endParaRPr lang="zh-CN" altLang="en-US" sz="2000" b="1" dirty="0">
            <a:latin typeface="Helvetica" pitchFamily="2" charset="0"/>
          </a:endParaRPr>
        </a:p>
      </dgm:t>
    </dgm:pt>
    <dgm:pt modelId="{2D347428-5585-EF40-9E63-653994B90C46}" type="parTrans" cxnId="{FA551324-9751-C04D-91B6-1CF50290D3CF}">
      <dgm:prSet/>
      <dgm:spPr/>
      <dgm:t>
        <a:bodyPr/>
        <a:lstStyle/>
        <a:p>
          <a:endParaRPr lang="zh-CN" altLang="en-US" sz="1400"/>
        </a:p>
      </dgm:t>
    </dgm:pt>
    <dgm:pt modelId="{68259B2D-6424-3246-9F23-3895B1778C2C}" type="sibTrans" cxnId="{FA551324-9751-C04D-91B6-1CF50290D3CF}">
      <dgm:prSet/>
      <dgm:spPr/>
      <dgm:t>
        <a:bodyPr/>
        <a:lstStyle/>
        <a:p>
          <a:endParaRPr lang="zh-CN" altLang="en-US" sz="1400"/>
        </a:p>
      </dgm:t>
    </dgm:pt>
    <dgm:pt modelId="{FEB7603B-9857-BC48-96CA-4D017B6CB2AD}">
      <dgm:prSet phldrT="[文本]" custT="1"/>
      <dgm:spPr>
        <a:solidFill>
          <a:schemeClr val="accent4">
            <a:lumMod val="40000"/>
            <a:lumOff val="60000"/>
          </a:schemeClr>
        </a:solidFill>
        <a:ln>
          <a:solidFill>
            <a:schemeClr val="tx1"/>
          </a:solidFill>
          <a:round/>
        </a:ln>
      </dgm:spPr>
      <dgm:t>
        <a:bodyPr/>
        <a:lstStyle/>
        <a:p>
          <a:r>
            <a:rPr lang="en-US" altLang="zh-CN" sz="2000" b="1" dirty="0">
              <a:latin typeface="Helvetica" pitchFamily="2" charset="0"/>
            </a:rPr>
            <a:t>Sparsity of the Call Graph</a:t>
          </a:r>
          <a:endParaRPr lang="zh-CN" altLang="en-US" sz="2000" b="1" dirty="0">
            <a:latin typeface="Helvetica" pitchFamily="2" charset="0"/>
          </a:endParaRPr>
        </a:p>
      </dgm:t>
    </dgm:pt>
    <dgm:pt modelId="{0537BD31-96E8-7E48-B293-EDC25F597B2B}" type="parTrans" cxnId="{7A558A65-7290-1A40-A071-84176BF8409A}">
      <dgm:prSet/>
      <dgm:spPr/>
      <dgm:t>
        <a:bodyPr/>
        <a:lstStyle/>
        <a:p>
          <a:endParaRPr lang="zh-CN" altLang="en-US" sz="1400"/>
        </a:p>
      </dgm:t>
    </dgm:pt>
    <dgm:pt modelId="{B724912D-E33D-DC42-BB00-85967B75C8F6}" type="sibTrans" cxnId="{7A558A65-7290-1A40-A071-84176BF8409A}">
      <dgm:prSet/>
      <dgm:spPr/>
      <dgm:t>
        <a:bodyPr/>
        <a:lstStyle/>
        <a:p>
          <a:endParaRPr lang="zh-CN" altLang="en-US" sz="1400"/>
        </a:p>
      </dgm:t>
    </dgm:pt>
    <dgm:pt modelId="{42E8254E-0D7C-3E45-A5BB-F911F1E44F9F}" type="pres">
      <dgm:prSet presAssocID="{63F52B69-C9DC-0940-AC83-A99CBB5959DF}" presName="diagram" presStyleCnt="0">
        <dgm:presLayoutVars>
          <dgm:dir/>
        </dgm:presLayoutVars>
      </dgm:prSet>
      <dgm:spPr/>
    </dgm:pt>
    <dgm:pt modelId="{AB24621A-D7E7-B149-8CBC-F7DB07CC3B03}" type="pres">
      <dgm:prSet presAssocID="{1E17A60B-9F4A-994A-9FC7-D4B3048EFAD8}" presName="composite" presStyleCnt="0"/>
      <dgm:spPr/>
    </dgm:pt>
    <dgm:pt modelId="{5F348E93-3AAE-F947-AE04-7B9A167DD6F5}" type="pres">
      <dgm:prSet presAssocID="{1E17A60B-9F4A-994A-9FC7-D4B3048EFAD8}" presName="Image" presStyleLbl="bgShp" presStyleIdx="0" presStyleCnt="2" custScaleX="75132" custScaleY="75132"/>
      <dgm:spPr>
        <a:prstGeom prst="snip2DiagRect">
          <a:avLst/>
        </a:prstGeom>
        <a:blipFill>
          <a:blip xmlns:r="http://schemas.openxmlformats.org/officeDocument/2006/relationships" r:embed="rId1">
            <a:extLst>
              <a:ext uri="{28A0092B-C50C-407E-A947-70E740481C1C}">
                <a14:useLocalDpi xmlns:a14="http://schemas.microsoft.com/office/drawing/2010/main"/>
              </a:ext>
            </a:extLst>
          </a:blip>
          <a:srcRect/>
          <a:stretch>
            <a:fillRect/>
          </a:stretch>
        </a:blipFill>
        <a:ln w="12700">
          <a:solidFill>
            <a:schemeClr val="tx1"/>
          </a:solidFill>
        </a:ln>
      </dgm:spPr>
    </dgm:pt>
    <dgm:pt modelId="{306C9B74-7D1B-614E-B90A-240A8FAA19AA}" type="pres">
      <dgm:prSet presAssocID="{1E17A60B-9F4A-994A-9FC7-D4B3048EFAD8}" presName="Parent" presStyleLbl="node0" presStyleIdx="0" presStyleCnt="2">
        <dgm:presLayoutVars>
          <dgm:bulletEnabled val="1"/>
        </dgm:presLayoutVars>
      </dgm:prSet>
      <dgm:spPr>
        <a:prstGeom prst="roundRect">
          <a:avLst/>
        </a:prstGeom>
      </dgm:spPr>
    </dgm:pt>
    <dgm:pt modelId="{9CB09375-8AFC-1A4F-B611-F575E52E53A4}" type="pres">
      <dgm:prSet presAssocID="{68259B2D-6424-3246-9F23-3895B1778C2C}" presName="sibTrans" presStyleCnt="0"/>
      <dgm:spPr/>
    </dgm:pt>
    <dgm:pt modelId="{60835CE8-185A-184B-AB4F-E411C9E11816}" type="pres">
      <dgm:prSet presAssocID="{FEB7603B-9857-BC48-96CA-4D017B6CB2AD}" presName="composite" presStyleCnt="0"/>
      <dgm:spPr/>
    </dgm:pt>
    <dgm:pt modelId="{91056970-4892-D946-A914-BA9B5B9DEF8C}" type="pres">
      <dgm:prSet presAssocID="{FEB7603B-9857-BC48-96CA-4D017B6CB2AD}" presName="Image" presStyleLbl="bgShp" presStyleIdx="1" presStyleCnt="2" custScaleX="75132" custScaleY="75132"/>
      <dgm:spPr>
        <a:prstGeom prst="snip2DiagRect">
          <a:avLst/>
        </a:prstGeom>
        <a:blipFill>
          <a:blip xmlns:r="http://schemas.openxmlformats.org/officeDocument/2006/relationships" r:embed="rId2">
            <a:extLst>
              <a:ext uri="{28A0092B-C50C-407E-A947-70E740481C1C}">
                <a14:useLocalDpi xmlns:a14="http://schemas.microsoft.com/office/drawing/2010/main"/>
              </a:ext>
            </a:extLst>
          </a:blip>
          <a:srcRect/>
          <a:stretch>
            <a:fillRect/>
          </a:stretch>
        </a:blipFill>
        <a:ln>
          <a:solidFill>
            <a:schemeClr val="tx1"/>
          </a:solidFill>
        </a:ln>
      </dgm:spPr>
    </dgm:pt>
    <dgm:pt modelId="{A40B3FCD-0A86-1C40-8F30-37BB0E7F582A}" type="pres">
      <dgm:prSet presAssocID="{FEB7603B-9857-BC48-96CA-4D017B6CB2AD}" presName="Parent" presStyleLbl="node0" presStyleIdx="1" presStyleCnt="2">
        <dgm:presLayoutVars>
          <dgm:bulletEnabled val="1"/>
        </dgm:presLayoutVars>
      </dgm:prSet>
      <dgm:spPr>
        <a:prstGeom prst="roundRect">
          <a:avLst/>
        </a:prstGeom>
      </dgm:spPr>
    </dgm:pt>
  </dgm:ptLst>
  <dgm:cxnLst>
    <dgm:cxn modelId="{FA551324-9751-C04D-91B6-1CF50290D3CF}" srcId="{63F52B69-C9DC-0940-AC83-A99CBB5959DF}" destId="{1E17A60B-9F4A-994A-9FC7-D4B3048EFAD8}" srcOrd="0" destOrd="0" parTransId="{2D347428-5585-EF40-9E63-653994B90C46}" sibTransId="{68259B2D-6424-3246-9F23-3895B1778C2C}"/>
    <dgm:cxn modelId="{E4704A41-D9A3-BB40-AD0E-1F5773952B0B}" type="presOf" srcId="{FEB7603B-9857-BC48-96CA-4D017B6CB2AD}" destId="{A40B3FCD-0A86-1C40-8F30-37BB0E7F582A}" srcOrd="0" destOrd="0" presId="urn:microsoft.com/office/officeart/2008/layout/BendingPictureCaption"/>
    <dgm:cxn modelId="{47C7C353-B3D4-134F-895C-742CF3A0F05D}" type="presOf" srcId="{1E17A60B-9F4A-994A-9FC7-D4B3048EFAD8}" destId="{306C9B74-7D1B-614E-B90A-240A8FAA19AA}" srcOrd="0" destOrd="0" presId="urn:microsoft.com/office/officeart/2008/layout/BendingPictureCaption"/>
    <dgm:cxn modelId="{7A558A65-7290-1A40-A071-84176BF8409A}" srcId="{63F52B69-C9DC-0940-AC83-A99CBB5959DF}" destId="{FEB7603B-9857-BC48-96CA-4D017B6CB2AD}" srcOrd="1" destOrd="0" parTransId="{0537BD31-96E8-7E48-B293-EDC25F597B2B}" sibTransId="{B724912D-E33D-DC42-BB00-85967B75C8F6}"/>
    <dgm:cxn modelId="{22DE7DAE-C2BC-CB46-AAFF-67FAAF1A4AA5}" type="presOf" srcId="{63F52B69-C9DC-0940-AC83-A99CBB5959DF}" destId="{42E8254E-0D7C-3E45-A5BB-F911F1E44F9F}" srcOrd="0" destOrd="0" presId="urn:microsoft.com/office/officeart/2008/layout/BendingPictureCaption"/>
    <dgm:cxn modelId="{6495AA75-3EF9-3846-AFD0-9EC5292268BB}" type="presParOf" srcId="{42E8254E-0D7C-3E45-A5BB-F911F1E44F9F}" destId="{AB24621A-D7E7-B149-8CBC-F7DB07CC3B03}" srcOrd="0" destOrd="0" presId="urn:microsoft.com/office/officeart/2008/layout/BendingPictureCaption"/>
    <dgm:cxn modelId="{08831837-B402-1B42-A809-602D7BC61725}" type="presParOf" srcId="{AB24621A-D7E7-B149-8CBC-F7DB07CC3B03}" destId="{5F348E93-3AAE-F947-AE04-7B9A167DD6F5}" srcOrd="0" destOrd="0" presId="urn:microsoft.com/office/officeart/2008/layout/BendingPictureCaption"/>
    <dgm:cxn modelId="{6D16A028-C7B6-E74B-898C-08C2CECA11E3}" type="presParOf" srcId="{AB24621A-D7E7-B149-8CBC-F7DB07CC3B03}" destId="{306C9B74-7D1B-614E-B90A-240A8FAA19AA}" srcOrd="1" destOrd="0" presId="urn:microsoft.com/office/officeart/2008/layout/BendingPictureCaption"/>
    <dgm:cxn modelId="{F11844AF-CC6B-FF42-9AB6-AFFBE6497869}" type="presParOf" srcId="{42E8254E-0D7C-3E45-A5BB-F911F1E44F9F}" destId="{9CB09375-8AFC-1A4F-B611-F575E52E53A4}" srcOrd="1" destOrd="0" presId="urn:microsoft.com/office/officeart/2008/layout/BendingPictureCaption"/>
    <dgm:cxn modelId="{9F8E31A9-163F-5D4F-9057-33FC79530259}" type="presParOf" srcId="{42E8254E-0D7C-3E45-A5BB-F911F1E44F9F}" destId="{60835CE8-185A-184B-AB4F-E411C9E11816}" srcOrd="2" destOrd="0" presId="urn:microsoft.com/office/officeart/2008/layout/BendingPictureCaption"/>
    <dgm:cxn modelId="{49318054-1C36-8B45-94D3-1380D26D8963}" type="presParOf" srcId="{60835CE8-185A-184B-AB4F-E411C9E11816}" destId="{91056970-4892-D946-A914-BA9B5B9DEF8C}" srcOrd="0" destOrd="0" presId="urn:microsoft.com/office/officeart/2008/layout/BendingPictureCaption"/>
    <dgm:cxn modelId="{01595C2E-DD0C-864E-AF16-3331CD897F42}" type="presParOf" srcId="{60835CE8-185A-184B-AB4F-E411C9E11816}" destId="{A40B3FCD-0A86-1C40-8F30-37BB0E7F582A}" srcOrd="1" destOrd="0" presId="urn:microsoft.com/office/officeart/2008/layout/BendingPictureCapti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3D8739-4971-B54E-AF8D-F29574F57756}">
      <dsp:nvSpPr>
        <dsp:cNvPr id="0" name=""/>
        <dsp:cNvSpPr/>
      </dsp:nvSpPr>
      <dsp:spPr>
        <a:xfrm>
          <a:off x="5220" y="725831"/>
          <a:ext cx="1801305" cy="1241099"/>
        </a:xfrm>
        <a:prstGeom prst="roundRect">
          <a:avLst/>
        </a:prstGeom>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0E2E6B-771F-4B46-AAAA-BAEBF53C5107}">
      <dsp:nvSpPr>
        <dsp:cNvPr id="0" name=""/>
        <dsp:cNvSpPr/>
      </dsp:nvSpPr>
      <dsp:spPr>
        <a:xfrm>
          <a:off x="5220" y="2071858"/>
          <a:ext cx="1801305" cy="6682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0" numCol="1" spcCol="1270" anchor="t" anchorCtr="0">
          <a:noAutofit/>
        </a:bodyPr>
        <a:lstStyle/>
        <a:p>
          <a:pPr marL="0" lvl="0" indent="0" algn="ctr" defTabSz="711200">
            <a:lnSpc>
              <a:spcPct val="90000"/>
            </a:lnSpc>
            <a:spcBef>
              <a:spcPct val="0"/>
            </a:spcBef>
            <a:spcAft>
              <a:spcPct val="35000"/>
            </a:spcAft>
            <a:buNone/>
          </a:pPr>
          <a:r>
            <a:rPr kumimoji="1" lang="en-US" altLang="zh-CN" sz="1600" kern="1200" dirty="0">
              <a:latin typeface="Helvetica" pitchFamily="2" charset="0"/>
            </a:rPr>
            <a:t>Alias Sets</a:t>
          </a:r>
        </a:p>
        <a:p>
          <a:pPr marL="0" lvl="0" indent="0" algn="ctr" defTabSz="711200">
            <a:lnSpc>
              <a:spcPct val="90000"/>
            </a:lnSpc>
            <a:spcBef>
              <a:spcPct val="0"/>
            </a:spcBef>
            <a:spcAft>
              <a:spcPct val="35000"/>
            </a:spcAft>
            <a:buNone/>
          </a:pPr>
          <a:r>
            <a:rPr kumimoji="1" lang="en-US" altLang="zh-CN" sz="1600" kern="1200" dirty="0">
              <a:latin typeface="Helvetica" pitchFamily="2" charset="0"/>
            </a:rPr>
            <a:t> Problem</a:t>
          </a:r>
          <a:endParaRPr lang="zh-CN" altLang="en-US" sz="1600" kern="1200" dirty="0"/>
        </a:p>
      </dsp:txBody>
      <dsp:txXfrm>
        <a:off x="5220" y="2071858"/>
        <a:ext cx="1801305" cy="668284"/>
      </dsp:txXfrm>
    </dsp:sp>
    <dsp:sp modelId="{640A6DED-9557-4645-B3B4-5FAE14B2CD89}">
      <dsp:nvSpPr>
        <dsp:cNvPr id="0" name=""/>
        <dsp:cNvSpPr/>
      </dsp:nvSpPr>
      <dsp:spPr>
        <a:xfrm>
          <a:off x="1986732" y="725831"/>
          <a:ext cx="1801305" cy="1241099"/>
        </a:xfrm>
        <a:prstGeom prst="roundRect">
          <a:avLst/>
        </a:prstGeom>
        <a:blipFill>
          <a:blip xmlns:r="http://schemas.openxmlformats.org/officeDocument/2006/relationships" r:embed="rId2">
            <a:extLst>
              <a:ext uri="{28A0092B-C50C-407E-A947-70E740481C1C}">
                <a14:useLocalDpi xmlns:a14="http://schemas.microsoft.com/office/drawing/2010/main"/>
              </a:ext>
            </a:extLst>
          </a:blip>
          <a:srcRect/>
          <a:stretch>
            <a:fillRect/>
          </a:stretch>
        </a:blip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61E4AF-ED7D-8847-ABDA-C9102AB14FAD}">
      <dsp:nvSpPr>
        <dsp:cNvPr id="0" name=""/>
        <dsp:cNvSpPr/>
      </dsp:nvSpPr>
      <dsp:spPr>
        <a:xfrm>
          <a:off x="1986732" y="2071858"/>
          <a:ext cx="1801305" cy="6682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0" numCol="1" spcCol="1270" anchor="t" anchorCtr="0">
          <a:noAutofit/>
        </a:bodyPr>
        <a:lstStyle/>
        <a:p>
          <a:pPr marL="0" lvl="0" indent="0" algn="ctr" defTabSz="711200">
            <a:lnSpc>
              <a:spcPct val="90000"/>
            </a:lnSpc>
            <a:spcBef>
              <a:spcPct val="0"/>
            </a:spcBef>
            <a:spcAft>
              <a:spcPct val="35000"/>
            </a:spcAft>
            <a:buNone/>
          </a:pPr>
          <a:r>
            <a:rPr kumimoji="1" lang="en-US" altLang="zh-CN" sz="1600" kern="1200" dirty="0">
              <a:latin typeface="Helvetica" pitchFamily="2" charset="0"/>
            </a:rPr>
            <a:t>Secure</a:t>
          </a:r>
        </a:p>
        <a:p>
          <a:pPr marL="0" lvl="0" indent="0" algn="ctr" defTabSz="711200">
            <a:lnSpc>
              <a:spcPct val="90000"/>
            </a:lnSpc>
            <a:spcBef>
              <a:spcPct val="0"/>
            </a:spcBef>
            <a:spcAft>
              <a:spcPct val="35000"/>
            </a:spcAft>
            <a:buNone/>
          </a:pPr>
          <a:r>
            <a:rPr kumimoji="1" lang="en-US" altLang="zh-CN" sz="1600" kern="1200" dirty="0">
              <a:latin typeface="Helvetica" pitchFamily="2" charset="0"/>
            </a:rPr>
            <a:t> Information Flow</a:t>
          </a:r>
          <a:endParaRPr lang="zh-CN" altLang="en-US" sz="1600" kern="1200" dirty="0"/>
        </a:p>
      </dsp:txBody>
      <dsp:txXfrm>
        <a:off x="1986732" y="2071858"/>
        <a:ext cx="1801305" cy="668284"/>
      </dsp:txXfrm>
    </dsp:sp>
    <dsp:sp modelId="{47E52638-2229-FE4F-9ADD-8FC3ABA11B4B}">
      <dsp:nvSpPr>
        <dsp:cNvPr id="0" name=""/>
        <dsp:cNvSpPr/>
      </dsp:nvSpPr>
      <dsp:spPr>
        <a:xfrm>
          <a:off x="3968244" y="725831"/>
          <a:ext cx="1801305" cy="1241099"/>
        </a:xfrm>
        <a:prstGeom prst="roundRect">
          <a:avLst/>
        </a:prstGeom>
        <a:blipFill>
          <a:blip xmlns:r="http://schemas.openxmlformats.org/officeDocument/2006/relationships" r:embed="rId3" cstate="screen">
            <a:extLst>
              <a:ext uri="{28A0092B-C50C-407E-A947-70E740481C1C}">
                <a14:useLocalDpi xmlns:a14="http://schemas.microsoft.com/office/drawing/2010/main"/>
              </a:ext>
            </a:extLst>
          </a:blip>
          <a:srcRect/>
          <a:stretch>
            <a:fillRect/>
          </a:stretch>
        </a:blip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E19FF4-755B-9E41-B017-D3B34B9CF539}">
      <dsp:nvSpPr>
        <dsp:cNvPr id="0" name=""/>
        <dsp:cNvSpPr/>
      </dsp:nvSpPr>
      <dsp:spPr>
        <a:xfrm>
          <a:off x="3968244" y="2071858"/>
          <a:ext cx="1801305" cy="6682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0" numCol="1" spcCol="1270" anchor="t" anchorCtr="0">
          <a:noAutofit/>
        </a:bodyPr>
        <a:lstStyle/>
        <a:p>
          <a:pPr marL="0" lvl="0" indent="0" algn="ctr" defTabSz="711200">
            <a:lnSpc>
              <a:spcPct val="90000"/>
            </a:lnSpc>
            <a:spcBef>
              <a:spcPct val="0"/>
            </a:spcBef>
            <a:spcAft>
              <a:spcPct val="35000"/>
            </a:spcAft>
            <a:buNone/>
          </a:pPr>
          <a:r>
            <a:rPr kumimoji="1" lang="en-US" altLang="zh-CN" sz="1600" kern="1200" dirty="0">
              <a:latin typeface="Helvetica" pitchFamily="2" charset="0"/>
            </a:rPr>
            <a:t>Type State</a:t>
          </a:r>
        </a:p>
        <a:p>
          <a:pPr marL="0" lvl="0" indent="0" algn="ctr" defTabSz="711200">
            <a:lnSpc>
              <a:spcPct val="90000"/>
            </a:lnSpc>
            <a:spcBef>
              <a:spcPct val="0"/>
            </a:spcBef>
            <a:spcAft>
              <a:spcPct val="35000"/>
            </a:spcAft>
            <a:buNone/>
          </a:pPr>
          <a:r>
            <a:rPr kumimoji="1" lang="en-US" altLang="zh-CN" sz="1600" kern="1200" dirty="0">
              <a:latin typeface="Helvetica" pitchFamily="2" charset="0"/>
            </a:rPr>
            <a:t> Analysis</a:t>
          </a:r>
          <a:endParaRPr lang="zh-CN" altLang="en-US" sz="1600" kern="1200" dirty="0"/>
        </a:p>
      </dsp:txBody>
      <dsp:txXfrm>
        <a:off x="3968244" y="2071858"/>
        <a:ext cx="1801305" cy="668284"/>
      </dsp:txXfrm>
    </dsp:sp>
    <dsp:sp modelId="{1BEB6582-EBE1-F446-85E9-9E1B3D7EB9E4}">
      <dsp:nvSpPr>
        <dsp:cNvPr id="0" name=""/>
        <dsp:cNvSpPr/>
      </dsp:nvSpPr>
      <dsp:spPr>
        <a:xfrm>
          <a:off x="5949756" y="725831"/>
          <a:ext cx="1801305" cy="1241099"/>
        </a:xfrm>
        <a:prstGeom prst="roundRect">
          <a:avLst/>
        </a:prstGeom>
        <a:blipFill>
          <a:blip xmlns:r="http://schemas.openxmlformats.org/officeDocument/2006/relationships" r:embed="rId4" cstate="screen">
            <a:extLst>
              <a:ext uri="{28A0092B-C50C-407E-A947-70E740481C1C}">
                <a14:useLocalDpi xmlns:a14="http://schemas.microsoft.com/office/drawing/2010/main"/>
              </a:ext>
            </a:extLst>
          </a:blip>
          <a:srcRect/>
          <a:stretch>
            <a:fillRect/>
          </a:stretch>
        </a:blip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47BC29-7DB2-7546-AE0C-9344A4F3DE3D}">
      <dsp:nvSpPr>
        <dsp:cNvPr id="0" name=""/>
        <dsp:cNvSpPr/>
      </dsp:nvSpPr>
      <dsp:spPr>
        <a:xfrm>
          <a:off x="5949756" y="2071858"/>
          <a:ext cx="1801305" cy="6682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0" numCol="1" spcCol="1270" anchor="t" anchorCtr="0">
          <a:noAutofit/>
        </a:bodyPr>
        <a:lstStyle/>
        <a:p>
          <a:pPr marL="0" lvl="0" indent="0" algn="ctr" defTabSz="711200">
            <a:lnSpc>
              <a:spcPct val="90000"/>
            </a:lnSpc>
            <a:spcBef>
              <a:spcPct val="0"/>
            </a:spcBef>
            <a:spcAft>
              <a:spcPct val="35000"/>
            </a:spcAft>
            <a:buNone/>
          </a:pPr>
          <a:r>
            <a:rPr kumimoji="1" lang="en-US" altLang="zh-CN" sz="1600" kern="1200" dirty="0">
              <a:latin typeface="Helvetica" pitchFamily="2" charset="0"/>
            </a:rPr>
            <a:t>Shape </a:t>
          </a:r>
        </a:p>
        <a:p>
          <a:pPr marL="0" lvl="0" indent="0" algn="ctr" defTabSz="711200">
            <a:lnSpc>
              <a:spcPct val="90000"/>
            </a:lnSpc>
            <a:spcBef>
              <a:spcPct val="0"/>
            </a:spcBef>
            <a:spcAft>
              <a:spcPct val="35000"/>
            </a:spcAft>
            <a:buNone/>
          </a:pPr>
          <a:r>
            <a:rPr kumimoji="1" lang="en-US" altLang="zh-CN" sz="1600" kern="1200" dirty="0">
              <a:latin typeface="Helvetica" pitchFamily="2" charset="0"/>
            </a:rPr>
            <a:t>Analysis</a:t>
          </a:r>
          <a:endParaRPr lang="zh-CN" altLang="en-US" sz="1600" kern="1200" dirty="0"/>
        </a:p>
      </dsp:txBody>
      <dsp:txXfrm>
        <a:off x="5949756" y="2071858"/>
        <a:ext cx="1801305" cy="668284"/>
      </dsp:txXfrm>
    </dsp:sp>
    <dsp:sp modelId="{A6AEB8EA-F1AF-FC4A-A218-64F53C0B1567}">
      <dsp:nvSpPr>
        <dsp:cNvPr id="0" name=""/>
        <dsp:cNvSpPr/>
      </dsp:nvSpPr>
      <dsp:spPr>
        <a:xfrm>
          <a:off x="7931268" y="725831"/>
          <a:ext cx="1801305" cy="1241099"/>
        </a:xfrm>
        <a:prstGeom prst="roundRect">
          <a:avLst/>
        </a:prstGeom>
        <a:blipFill>
          <a:blip xmlns:r="http://schemas.openxmlformats.org/officeDocument/2006/relationships" r:embed="rId5" cstate="screen">
            <a:extLst>
              <a:ext uri="{28A0092B-C50C-407E-A947-70E740481C1C}">
                <a14:useLocalDpi xmlns:a14="http://schemas.microsoft.com/office/drawing/2010/main"/>
              </a:ext>
            </a:extLst>
          </a:blip>
          <a:srcRect/>
          <a:stretch>
            <a:fillRect/>
          </a:stretch>
        </a:blip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76E543-9254-3542-AAF3-0333E36C9CA2}">
      <dsp:nvSpPr>
        <dsp:cNvPr id="0" name=""/>
        <dsp:cNvSpPr/>
      </dsp:nvSpPr>
      <dsp:spPr>
        <a:xfrm>
          <a:off x="7931268" y="2071858"/>
          <a:ext cx="1801305" cy="6682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0" numCol="1" spcCol="1270" anchor="t" anchorCtr="0">
          <a:noAutofit/>
        </a:bodyPr>
        <a:lstStyle/>
        <a:p>
          <a:pPr marL="0" lvl="0" indent="0" algn="ctr" defTabSz="711200">
            <a:lnSpc>
              <a:spcPct val="90000"/>
            </a:lnSpc>
            <a:spcBef>
              <a:spcPct val="0"/>
            </a:spcBef>
            <a:spcAft>
              <a:spcPct val="35000"/>
            </a:spcAft>
            <a:buNone/>
          </a:pPr>
          <a:r>
            <a:rPr kumimoji="1" lang="en-US" altLang="zh-CN" sz="1600" kern="1200" dirty="0">
              <a:latin typeface="Helvetica" pitchFamily="2" charset="0"/>
            </a:rPr>
            <a:t>Specification</a:t>
          </a:r>
        </a:p>
        <a:p>
          <a:pPr marL="0" lvl="0" indent="0" algn="ctr" defTabSz="711200">
            <a:lnSpc>
              <a:spcPct val="90000"/>
            </a:lnSpc>
            <a:spcBef>
              <a:spcPct val="0"/>
            </a:spcBef>
            <a:spcAft>
              <a:spcPct val="35000"/>
            </a:spcAft>
            <a:buNone/>
          </a:pPr>
          <a:r>
            <a:rPr kumimoji="1" lang="en-US" altLang="zh-CN" sz="1600" kern="1200" dirty="0">
              <a:latin typeface="Helvetica" pitchFamily="2" charset="0"/>
            </a:rPr>
            <a:t>Inference</a:t>
          </a:r>
          <a:endParaRPr lang="zh-CN" altLang="en-US" sz="1600" kern="1200" dirty="0"/>
        </a:p>
      </dsp:txBody>
      <dsp:txXfrm>
        <a:off x="7931268" y="2071858"/>
        <a:ext cx="1801305" cy="6682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348E93-3AAE-F947-AE04-7B9A167DD6F5}">
      <dsp:nvSpPr>
        <dsp:cNvPr id="0" name=""/>
        <dsp:cNvSpPr/>
      </dsp:nvSpPr>
      <dsp:spPr>
        <a:xfrm>
          <a:off x="286" y="431416"/>
          <a:ext cx="2968592" cy="2193778"/>
        </a:xfrm>
        <a:prstGeom prst="snip2DiagRect">
          <a:avLst/>
        </a:prstGeom>
        <a:blipFill>
          <a:blip xmlns:r="http://schemas.openxmlformats.org/officeDocument/2006/relationships" r:embed="rId1">
            <a:extLst>
              <a:ext uri="{28A0092B-C50C-407E-A947-70E740481C1C}">
                <a14:useLocalDpi xmlns:a14="http://schemas.microsoft.com/office/drawing/2010/main"/>
              </a:ext>
            </a:extLst>
          </a:blip>
          <a:srcRect/>
          <a:stretch>
            <a:fillRect/>
          </a:stretch>
        </a:blipFill>
        <a:ln w="12700">
          <a:solidFill>
            <a:schemeClr val="tx1"/>
          </a:solidFill>
        </a:ln>
        <a:effectLst/>
      </dsp:spPr>
      <dsp:style>
        <a:lnRef idx="0">
          <a:scrgbClr r="0" g="0" b="0"/>
        </a:lnRef>
        <a:fillRef idx="1">
          <a:scrgbClr r="0" g="0" b="0"/>
        </a:fillRef>
        <a:effectRef idx="0">
          <a:scrgbClr r="0" g="0" b="0"/>
        </a:effectRef>
        <a:fontRef idx="minor"/>
      </dsp:style>
    </dsp:sp>
    <dsp:sp modelId="{306C9B74-7D1B-614E-B90A-240A8FAA19AA}">
      <dsp:nvSpPr>
        <dsp:cNvPr id="0" name=""/>
        <dsp:cNvSpPr/>
      </dsp:nvSpPr>
      <dsp:spPr>
        <a:xfrm>
          <a:off x="307638" y="2458822"/>
          <a:ext cx="3404730" cy="818213"/>
        </a:xfrm>
        <a:prstGeom prst="roundRect">
          <a:avLst/>
        </a:prstGeom>
        <a:solidFill>
          <a:schemeClr val="accent6">
            <a:lumMod val="40000"/>
            <a:lumOff val="6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en-US" altLang="zh-CN" sz="2000" b="1" kern="1200" dirty="0" err="1">
              <a:latin typeface="Helvetica" pitchFamily="2" charset="0"/>
            </a:rPr>
            <a:t>Num</a:t>
          </a:r>
          <a:r>
            <a:rPr lang="en-US" altLang="zh-CN" sz="2000" b="1" kern="1200" dirty="0">
              <a:latin typeface="Helvetica" pitchFamily="2" charset="0"/>
            </a:rPr>
            <a:t> of Threads</a:t>
          </a:r>
          <a:endParaRPr lang="zh-CN" altLang="en-US" sz="2000" b="1" kern="1200" dirty="0">
            <a:latin typeface="Helvetica" pitchFamily="2" charset="0"/>
          </a:endParaRPr>
        </a:p>
      </dsp:txBody>
      <dsp:txXfrm>
        <a:off x="347580" y="2498764"/>
        <a:ext cx="3324846" cy="738329"/>
      </dsp:txXfrm>
    </dsp:sp>
    <dsp:sp modelId="{91056970-4892-D946-A914-BA9B5B9DEF8C}">
      <dsp:nvSpPr>
        <dsp:cNvPr id="0" name=""/>
        <dsp:cNvSpPr/>
      </dsp:nvSpPr>
      <dsp:spPr>
        <a:xfrm>
          <a:off x="4415631" y="431416"/>
          <a:ext cx="2968592" cy="2193778"/>
        </a:xfrm>
        <a:prstGeom prst="snip2DiagRect">
          <a:avLst/>
        </a:prstGeom>
        <a:blipFill>
          <a:blip xmlns:r="http://schemas.openxmlformats.org/officeDocument/2006/relationships" r:embed="rId2">
            <a:extLst>
              <a:ext uri="{28A0092B-C50C-407E-A947-70E740481C1C}">
                <a14:useLocalDpi xmlns:a14="http://schemas.microsoft.com/office/drawing/2010/main"/>
              </a:ext>
            </a:extLst>
          </a:blip>
          <a:srcRect/>
          <a:stretch>
            <a:fillRect/>
          </a:stretch>
        </a:blipFill>
        <a:ln>
          <a:solidFill>
            <a:schemeClr val="tx1"/>
          </a:solidFill>
        </a:ln>
        <a:effectLst/>
      </dsp:spPr>
      <dsp:style>
        <a:lnRef idx="0">
          <a:scrgbClr r="0" g="0" b="0"/>
        </a:lnRef>
        <a:fillRef idx="1">
          <a:scrgbClr r="0" g="0" b="0"/>
        </a:fillRef>
        <a:effectRef idx="0">
          <a:scrgbClr r="0" g="0" b="0"/>
        </a:effectRef>
        <a:fontRef idx="minor"/>
      </dsp:style>
    </dsp:sp>
    <dsp:sp modelId="{A40B3FCD-0A86-1C40-8F30-37BB0E7F582A}">
      <dsp:nvSpPr>
        <dsp:cNvPr id="0" name=""/>
        <dsp:cNvSpPr/>
      </dsp:nvSpPr>
      <dsp:spPr>
        <a:xfrm>
          <a:off x="4722983" y="2458822"/>
          <a:ext cx="3404730" cy="818213"/>
        </a:xfrm>
        <a:prstGeom prst="roundRect">
          <a:avLst/>
        </a:prstGeom>
        <a:solidFill>
          <a:schemeClr val="accent4">
            <a:lumMod val="40000"/>
            <a:lumOff val="60000"/>
          </a:schemeClr>
        </a:solidFill>
        <a:ln w="12700" cap="flat" cmpd="sng" algn="ctr">
          <a:solidFill>
            <a:schemeClr val="tx1"/>
          </a:solidFill>
          <a:prstDash val="solid"/>
          <a:roun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en-US" altLang="zh-CN" sz="2000" b="1" kern="1200" dirty="0">
              <a:latin typeface="Helvetica" pitchFamily="2" charset="0"/>
            </a:rPr>
            <a:t>Sparsity of the Call Graph</a:t>
          </a:r>
          <a:endParaRPr lang="zh-CN" altLang="en-US" sz="2000" b="1" kern="1200" dirty="0">
            <a:latin typeface="Helvetica" pitchFamily="2" charset="0"/>
          </a:endParaRPr>
        </a:p>
      </dsp:txBody>
      <dsp:txXfrm>
        <a:off x="4762925" y="2498764"/>
        <a:ext cx="3324846" cy="738329"/>
      </dsp:txXfrm>
    </dsp:sp>
  </dsp:spTree>
</dsp:drawing>
</file>

<file path=ppt/diagrams/layout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txAnchorVertCh" val="mid"/>
            <dgm:param type="shpTxRTLAlignCh" val="r"/>
            <dgm:param type="lnSpAfParP" val="5"/>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CE2CB1-F30F-D24E-A58A-4334480D1B0A}" type="datetimeFigureOut">
              <a:rPr kumimoji="1" lang="zh-CN" altLang="en-US" smtClean="0"/>
              <a:t>2020/6/27</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CN" altLang="en-US"/>
              <a:t>编辑母版文本样式
第二级
第三级
第四级
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A776D7-DB70-2044-AA8B-A02B84598794}" type="slidenum">
              <a:rPr kumimoji="1" lang="zh-CN" altLang="en-US" smtClean="0"/>
              <a:t>‹#›</a:t>
            </a:fld>
            <a:endParaRPr kumimoji="1" lang="zh-CN" altLang="en-US"/>
          </a:p>
        </p:txBody>
      </p:sp>
    </p:spTree>
    <p:extLst>
      <p:ext uri="{BB962C8B-B14F-4D97-AF65-F5344CB8AC3E}">
        <p14:creationId xmlns:p14="http://schemas.microsoft.com/office/powerpoint/2010/main" val="2189442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In the second talk, I would like to introduce how we parallelize our static bug detector via a pipelining technique. The title of this paper is “pipelining bottom up data flow analysis”.</a:t>
            </a:r>
            <a:endParaRPr kumimoji="1" lang="zh-CN" altLang="en-US" dirty="0"/>
          </a:p>
        </p:txBody>
      </p:sp>
      <p:sp>
        <p:nvSpPr>
          <p:cNvPr id="4" name="灯片编号占位符 3"/>
          <p:cNvSpPr>
            <a:spLocks noGrp="1"/>
          </p:cNvSpPr>
          <p:nvPr>
            <p:ph type="sldNum" sz="quarter" idx="5"/>
          </p:nvPr>
        </p:nvSpPr>
        <p:spPr/>
        <p:txBody>
          <a:bodyPr/>
          <a:lstStyle/>
          <a:p>
            <a:fld id="{42A776D7-DB70-2044-AA8B-A02B84598794}" type="slidenum">
              <a:rPr kumimoji="1" lang="zh-CN" altLang="en-US" smtClean="0"/>
              <a:t>1</a:t>
            </a:fld>
            <a:endParaRPr kumimoji="1" lang="zh-CN" altLang="en-US"/>
          </a:p>
        </p:txBody>
      </p:sp>
    </p:spTree>
    <p:extLst>
      <p:ext uri="{BB962C8B-B14F-4D97-AF65-F5344CB8AC3E}">
        <p14:creationId xmlns:p14="http://schemas.microsoft.com/office/powerpoint/2010/main" val="1969657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This talk also consists of four parts, the background, approach, evaluation, and a brief summary.</a:t>
            </a:r>
            <a:endParaRPr kumimoji="1" lang="zh-CN" altLang="en-US" dirty="0"/>
          </a:p>
        </p:txBody>
      </p:sp>
      <p:sp>
        <p:nvSpPr>
          <p:cNvPr id="4" name="灯片编号占位符 3"/>
          <p:cNvSpPr>
            <a:spLocks noGrp="1"/>
          </p:cNvSpPr>
          <p:nvPr>
            <p:ph type="sldNum" sz="quarter" idx="5"/>
          </p:nvPr>
        </p:nvSpPr>
        <p:spPr/>
        <p:txBody>
          <a:bodyPr/>
          <a:lstStyle/>
          <a:p>
            <a:fld id="{42A776D7-DB70-2044-AA8B-A02B84598794}" type="slidenum">
              <a:rPr kumimoji="1" lang="zh-CN" altLang="en-US" smtClean="0"/>
              <a:t>2</a:t>
            </a:fld>
            <a:endParaRPr kumimoji="1" lang="zh-CN" altLang="en-US"/>
          </a:p>
        </p:txBody>
      </p:sp>
    </p:spTree>
    <p:extLst>
      <p:ext uri="{BB962C8B-B14F-4D97-AF65-F5344CB8AC3E}">
        <p14:creationId xmlns:p14="http://schemas.microsoft.com/office/powerpoint/2010/main" val="1080326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a:p>
            <a:r>
              <a:rPr kumimoji="1" lang="en-US" altLang="zh-CN" dirty="0"/>
              <a:t>In practice, to run in parallel, conventional approaches are often implemented in a bottom up manner.</a:t>
            </a:r>
          </a:p>
          <a:p>
            <a:endParaRPr kumimoji="1" lang="en-US" altLang="zh-CN" dirty="0"/>
          </a:p>
          <a:p>
            <a:r>
              <a:rPr kumimoji="1" lang="en-US" altLang="zh-CN" dirty="0"/>
              <a:t>In a bottom up analysis, </a:t>
            </a:r>
            <a:r>
              <a:rPr kumimoji="1" lang="en-US" altLang="zh-CN" dirty="0" err="1"/>
              <a:t>callees</a:t>
            </a:r>
            <a:r>
              <a:rPr kumimoji="1" lang="en-US" altLang="zh-CN" dirty="0"/>
              <a:t> are analyzed before callers and the analysis results of a </a:t>
            </a:r>
            <a:r>
              <a:rPr kumimoji="1" lang="en-US" altLang="zh-CN" dirty="0" err="1"/>
              <a:t>callee</a:t>
            </a:r>
            <a:r>
              <a:rPr kumimoji="1" lang="en-US" altLang="zh-CN" dirty="0"/>
              <a:t> function are recorded as function summaries, which summarize the function </a:t>
            </a:r>
            <a:r>
              <a:rPr kumimoji="1" lang="en-US" altLang="zh-CN" dirty="0" err="1"/>
              <a:t>hehavior</a:t>
            </a:r>
            <a:r>
              <a:rPr kumimoji="1" lang="en-US" altLang="zh-CN" dirty="0"/>
              <a:t>.</a:t>
            </a:r>
          </a:p>
          <a:p>
            <a:endParaRPr kumimoji="1" lang="en-US" altLang="zh-CN" dirty="0"/>
          </a:p>
          <a:p>
            <a:r>
              <a:rPr kumimoji="1" lang="en-US" altLang="zh-CN" dirty="0"/>
              <a:t>For example, we have three functions where f calls g and h. So we firstly analyze g and h, generating function summaries by recording whether they will return invalid pointers. With these summaries, we then analyze the caller function f to check whether the invalid pointer may be improperly used.</a:t>
            </a:r>
          </a:p>
          <a:p>
            <a:endParaRPr kumimoji="1" lang="en-US" altLang="zh-CN" dirty="0"/>
          </a:p>
          <a:p>
            <a:r>
              <a:rPr kumimoji="1" lang="en-US" altLang="zh-CN" dirty="0"/>
              <a:t>Bottom up analysis is easy to parallelize. This is because functions without calling dep can be analyzed in parallel. so in the example, we can analyze g h at the same time and then analyze f.</a:t>
            </a:r>
          </a:p>
          <a:p>
            <a:endParaRPr kumimoji="1" lang="en-US" altLang="zh-CN" dirty="0"/>
          </a:p>
          <a:p>
            <a:r>
              <a:rPr kumimoji="1" lang="en-US" altLang="zh-CN" dirty="0"/>
              <a:t>31m30</a:t>
            </a:r>
          </a:p>
          <a:p>
            <a:endParaRPr kumimoji="1" lang="en-US" altLang="zh-CN" dirty="0"/>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3</a:t>
            </a:fld>
            <a:endParaRPr kumimoji="1" lang="zh-CN" altLang="en-US"/>
          </a:p>
        </p:txBody>
      </p:sp>
    </p:spTree>
    <p:extLst>
      <p:ext uri="{BB962C8B-B14F-4D97-AF65-F5344CB8AC3E}">
        <p14:creationId xmlns:p14="http://schemas.microsoft.com/office/powerpoint/2010/main" val="1203967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However, as pointed out by recent studies, the parallelism is limited. </a:t>
            </a:r>
          </a:p>
          <a:p>
            <a:endParaRPr kumimoji="1" lang="en-US" altLang="zh-CN" dirty="0"/>
          </a:p>
          <a:p>
            <a:r>
              <a:rPr kumimoji="1" lang="en-US" altLang="zh-CN" dirty="0"/>
              <a:t>As shown by the graph, the x-axis is the running time, and the y-axis is the CPU utilization rate. We can observe that the CPU utilization rate drops off at the second half of the analysis.</a:t>
            </a:r>
          </a:p>
          <a:p>
            <a:endParaRPr kumimoji="1" lang="en-US" altLang="zh-CN" dirty="0"/>
          </a:p>
          <a:p>
            <a:r>
              <a:rPr kumimoji="1" lang="en-US" altLang="zh-CN" dirty="0"/>
              <a:t>This is mainly because the call graph is usually a tree-like graph, the bottom-half of a call graph is usually very sparse and thus has sufficient parallelism.  The top half of a call graph is usually very dense. Thus, the parallelism is limited by the calling dependence.</a:t>
            </a:r>
          </a:p>
          <a:p>
            <a:endParaRPr kumimoji="1" lang="en-US" altLang="zh-CN" dirty="0"/>
          </a:p>
          <a:p>
            <a:r>
              <a:rPr kumimoji="1" lang="en-US" altLang="zh-CN" dirty="0"/>
              <a:t>A nature question here is that is there any chance to improve the parallelism so that the analysis can finish earlier.</a:t>
            </a:r>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4</a:t>
            </a:fld>
            <a:endParaRPr kumimoji="1" lang="zh-CN" altLang="en-US"/>
          </a:p>
        </p:txBody>
      </p:sp>
    </p:spTree>
    <p:extLst>
      <p:ext uri="{BB962C8B-B14F-4D97-AF65-F5344CB8AC3E}">
        <p14:creationId xmlns:p14="http://schemas.microsoft.com/office/powerpoint/2010/main" val="743717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Intuitively, it is not necessary to start the analysis of a function until we get all the analysis results of its </a:t>
            </a:r>
            <a:r>
              <a:rPr kumimoji="1" lang="en-US" altLang="zh-CN" dirty="0" err="1"/>
              <a:t>callees</a:t>
            </a:r>
            <a:r>
              <a:rPr kumimoji="1" lang="en-US" altLang="zh-CN" dirty="0"/>
              <a:t>.</a:t>
            </a:r>
          </a:p>
          <a:p>
            <a:endParaRPr kumimoji="1" lang="en-US" altLang="zh-CN" dirty="0"/>
          </a:p>
          <a:p>
            <a:r>
              <a:rPr kumimoji="1" lang="en-US" altLang="zh-CN" dirty="0"/>
              <a:t>Thus, our basic idea is to relax the calling dependence between functions. Ideally, we can partition the analysis task into multiple parts, so that they can be pipelined as shown by the graph.</a:t>
            </a:r>
          </a:p>
          <a:p>
            <a:endParaRPr kumimoji="1" lang="en-US" altLang="zh-CN" dirty="0"/>
          </a:p>
          <a:p>
            <a:r>
              <a:rPr kumimoji="1" lang="en-US" altLang="zh-CN" dirty="0"/>
              <a:t>The remaining problem to solve is how to partition the analysis of a function</a:t>
            </a:r>
            <a:endParaRPr kumimoji="1" lang="zh-CN" altLang="en-US" dirty="0"/>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5</a:t>
            </a:fld>
            <a:endParaRPr kumimoji="1" lang="zh-CN" altLang="en-US"/>
          </a:p>
        </p:txBody>
      </p:sp>
    </p:spTree>
    <p:extLst>
      <p:ext uri="{BB962C8B-B14F-4D97-AF65-F5344CB8AC3E}">
        <p14:creationId xmlns:p14="http://schemas.microsoft.com/office/powerpoint/2010/main" val="774315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Before introducing the partition method, let us look at what kind of function summaries we need to generate for a value flow analysis.</a:t>
            </a:r>
          </a:p>
          <a:p>
            <a:endParaRPr kumimoji="1" lang="en-US" altLang="zh-CN" dirty="0"/>
          </a:p>
          <a:p>
            <a:r>
              <a:rPr kumimoji="1" lang="en-US" altLang="zh-CN" dirty="0"/>
              <a:t>Here, we use the null pointer analysis as an example.</a:t>
            </a:r>
          </a:p>
          <a:p>
            <a:endParaRPr kumimoji="1" lang="en-US" altLang="zh-CN" dirty="0"/>
          </a:p>
          <a:p>
            <a:r>
              <a:rPr kumimoji="1" lang="en-US" altLang="zh-CN" dirty="0"/>
              <a:t>Given a function, null pointer may come from three places, from a caller function via the function parameter, from the current function, or from </a:t>
            </a:r>
            <a:r>
              <a:rPr kumimoji="1" lang="en-US" altLang="zh-CN" dirty="0" err="1"/>
              <a:t>callees</a:t>
            </a:r>
            <a:r>
              <a:rPr kumimoji="1" lang="en-US" altLang="zh-CN" dirty="0"/>
              <a:t> via the function return value.</a:t>
            </a:r>
          </a:p>
          <a:p>
            <a:endParaRPr kumimoji="1" lang="en-US" altLang="zh-CN" dirty="0"/>
          </a:p>
          <a:p>
            <a:r>
              <a:rPr kumimoji="1" lang="en-US" altLang="zh-CN" dirty="0"/>
              <a:t>According to where a null pointer may come from, we generate three types of function summaries:</a:t>
            </a:r>
          </a:p>
          <a:p>
            <a:endParaRPr kumimoji="1" lang="en-US" altLang="zh-CN" dirty="0"/>
          </a:p>
          <a:p>
            <a:r>
              <a:rPr kumimoji="1" lang="en-US" altLang="zh-CN" dirty="0"/>
              <a:t>Type 1 summary is the value flow from the function parameters</a:t>
            </a:r>
          </a:p>
          <a:p>
            <a:endParaRPr kumimoji="1" lang="en-US" altLang="zh-CN" dirty="0"/>
          </a:p>
          <a:p>
            <a:r>
              <a:rPr kumimoji="1" lang="en-US" altLang="zh-CN" dirty="0"/>
              <a:t>Type 2 summary is the value flow from the null pointer in the current function</a:t>
            </a:r>
          </a:p>
          <a:p>
            <a:endParaRPr kumimoji="1" lang="en-US" altLang="zh-CN" dirty="0"/>
          </a:p>
          <a:p>
            <a:r>
              <a:rPr kumimoji="1" lang="en-US" altLang="zh-CN" dirty="0"/>
              <a:t>type 3 summary is the value flow from a null pointer returned by </a:t>
            </a:r>
            <a:r>
              <a:rPr kumimoji="1" lang="en-US" altLang="zh-CN" dirty="0" err="1"/>
              <a:t>callee</a:t>
            </a:r>
            <a:r>
              <a:rPr kumimoji="1" lang="en-US" altLang="zh-CN" dirty="0"/>
              <a:t> functions.</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6</a:t>
            </a:fld>
            <a:endParaRPr kumimoji="1" lang="zh-CN" altLang="en-US"/>
          </a:p>
        </p:txBody>
      </p:sp>
    </p:spTree>
    <p:extLst>
      <p:ext uri="{BB962C8B-B14F-4D97-AF65-F5344CB8AC3E}">
        <p14:creationId xmlns:p14="http://schemas.microsoft.com/office/powerpoint/2010/main" val="4214137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Here is an example where function foo calls the function bar. The red part is the DDG of the function bar, and the black part is DDG of the function foo.</a:t>
            </a:r>
          </a:p>
          <a:p>
            <a:endParaRPr kumimoji="1" lang="en-US" altLang="zh-CN" dirty="0"/>
          </a:p>
          <a:p>
            <a:r>
              <a:rPr kumimoji="1" lang="en-US" altLang="zh-CN" dirty="0"/>
              <a:t>Following a conventional bottom-up analysis, we first analyze the </a:t>
            </a:r>
            <a:r>
              <a:rPr kumimoji="1" lang="en-US" altLang="zh-CN" dirty="0" err="1"/>
              <a:t>callee</a:t>
            </a:r>
            <a:r>
              <a:rPr kumimoji="1" lang="en-US" altLang="zh-CN" dirty="0"/>
              <a:t> function, and generate two summaries. the type-1 summary which is the value flow from the function parameter a to the return statement. the type 2 summary, which is the value flow from a null pointer to the return statement</a:t>
            </a:r>
          </a:p>
          <a:p>
            <a:endParaRPr kumimoji="1" lang="en-US" altLang="zh-CN" dirty="0"/>
          </a:p>
          <a:p>
            <a:r>
              <a:rPr kumimoji="1" lang="en-US" altLang="zh-CN" dirty="0"/>
              <a:t>Second, we analyze the function foo, using the function summaries, we generate a type 2 summary, and a type 3 summary. One is the value flow from the null pointer in the current function to ret p and the other is from the null pointer in the </a:t>
            </a:r>
            <a:r>
              <a:rPr kumimoji="1" lang="en-US" altLang="zh-CN" dirty="0" err="1"/>
              <a:t>callee</a:t>
            </a:r>
            <a:r>
              <a:rPr kumimoji="1" lang="en-US" altLang="zh-CN" dirty="0"/>
              <a:t> function to ret p</a:t>
            </a:r>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7</a:t>
            </a:fld>
            <a:endParaRPr kumimoji="1" lang="zh-CN" altLang="en-US"/>
          </a:p>
        </p:txBody>
      </p:sp>
    </p:spTree>
    <p:extLst>
      <p:ext uri="{BB962C8B-B14F-4D97-AF65-F5344CB8AC3E}">
        <p14:creationId xmlns:p14="http://schemas.microsoft.com/office/powerpoint/2010/main" val="992111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In our approach, we partition the analysis task of a function into three parts, each part generates a type of function summaries.</a:t>
            </a:r>
          </a:p>
          <a:p>
            <a:endParaRPr kumimoji="1" lang="en-US" altLang="zh-CN" dirty="0"/>
          </a:p>
          <a:p>
            <a:r>
              <a:rPr kumimoji="1" lang="en-US" altLang="zh-CN" dirty="0"/>
              <a:t>Given a pair of functions where foo calls bar, a conventional approach conservatively assume that all the analysis tasks in the caller function depend on all analysis tasks of the </a:t>
            </a:r>
            <a:r>
              <a:rPr kumimoji="1" lang="en-US" altLang="zh-CN" dirty="0" err="1"/>
              <a:t>callee</a:t>
            </a:r>
            <a:r>
              <a:rPr kumimoji="1" lang="en-US" altLang="zh-CN" dirty="0"/>
              <a:t> function.</a:t>
            </a:r>
          </a:p>
          <a:p>
            <a:endParaRPr kumimoji="1" lang="en-US" altLang="zh-CN" dirty="0"/>
          </a:p>
          <a:p>
            <a:r>
              <a:rPr kumimoji="1" lang="en-US" altLang="zh-CN" dirty="0"/>
              <a:t>So, we need to finish all tasks in the </a:t>
            </a:r>
            <a:r>
              <a:rPr kumimoji="1" lang="en-US" altLang="zh-CN" dirty="0" err="1"/>
              <a:t>callees</a:t>
            </a:r>
            <a:r>
              <a:rPr kumimoji="1" lang="en-US" altLang="zh-CN" dirty="0"/>
              <a:t> and then start to analyze the callers.</a:t>
            </a:r>
          </a:p>
          <a:p>
            <a:endParaRPr kumimoji="1" lang="en-US" altLang="zh-CN" dirty="0"/>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8</a:t>
            </a:fld>
            <a:endParaRPr kumimoji="1" lang="zh-CN" altLang="en-US"/>
          </a:p>
        </p:txBody>
      </p:sp>
    </p:spTree>
    <p:extLst>
      <p:ext uri="{BB962C8B-B14F-4D97-AF65-F5344CB8AC3E}">
        <p14:creationId xmlns:p14="http://schemas.microsoft.com/office/powerpoint/2010/main" val="2570881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However, we observe that not all such deps are necessary, as the red dependence relations actually can be removed.</a:t>
            </a:r>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Thus, we have opportunities to improve the parallelism.</a:t>
            </a:r>
          </a:p>
          <a:p>
            <a:endParaRPr kumimoji="1" lang="en-US" altLang="zh-CN" dirty="0"/>
          </a:p>
          <a:p>
            <a:r>
              <a:rPr kumimoji="1" lang="en-US" altLang="zh-CN" dirty="0"/>
              <a:t>35min</a:t>
            </a:r>
          </a:p>
          <a:p>
            <a:endParaRPr kumimoji="1" lang="zh-CN" altLang="en-US" dirty="0"/>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9</a:t>
            </a:fld>
            <a:endParaRPr kumimoji="1" lang="zh-CN" altLang="en-US"/>
          </a:p>
        </p:txBody>
      </p:sp>
    </p:spTree>
    <p:extLst>
      <p:ext uri="{BB962C8B-B14F-4D97-AF65-F5344CB8AC3E}">
        <p14:creationId xmlns:p14="http://schemas.microsoft.com/office/powerpoint/2010/main" val="3232953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Let us look at the example. </a:t>
            </a:r>
          </a:p>
          <a:p>
            <a:endParaRPr kumimoji="1" lang="en-US" altLang="zh-CN" dirty="0"/>
          </a:p>
          <a:p>
            <a:r>
              <a:rPr kumimoji="1" lang="en-US" altLang="zh-CN" dirty="0"/>
              <a:t>We can observe that the type2 summary of foo depends on the summary of bar.</a:t>
            </a:r>
          </a:p>
          <a:p>
            <a:endParaRPr kumimoji="1" lang="en-US" altLang="zh-CN" dirty="0"/>
          </a:p>
          <a:p>
            <a:r>
              <a:rPr kumimoji="1" lang="en-US" altLang="zh-CN" dirty="0"/>
              <a:t>That is, the blue path in the figure goes through the yellow path from the function bar.</a:t>
            </a:r>
          </a:p>
          <a:p>
            <a:endParaRPr kumimoji="1" lang="en-US" altLang="zh-CN" dirty="0"/>
          </a:p>
          <a:p>
            <a:r>
              <a:rPr kumimoji="1" lang="en-US" altLang="zh-CN" dirty="0"/>
              <a:t>So the black dep is necessary.</a:t>
            </a:r>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10</a:t>
            </a:fld>
            <a:endParaRPr kumimoji="1" lang="zh-CN" altLang="en-US"/>
          </a:p>
        </p:txBody>
      </p:sp>
    </p:spTree>
    <p:extLst>
      <p:ext uri="{BB962C8B-B14F-4D97-AF65-F5344CB8AC3E}">
        <p14:creationId xmlns:p14="http://schemas.microsoft.com/office/powerpoint/2010/main" val="99265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The blue path does not go through the type2 summary, the yellow path, of the function bar</a:t>
            </a:r>
          </a:p>
          <a:p>
            <a:endParaRPr kumimoji="1" lang="en-US" altLang="zh-CN" dirty="0"/>
          </a:p>
          <a:p>
            <a:r>
              <a:rPr kumimoji="1" lang="en-US" altLang="zh-CN" dirty="0"/>
              <a:t>so the red dep is not necessary and can be removed.</a:t>
            </a:r>
          </a:p>
          <a:p>
            <a:endParaRPr kumimoji="1" lang="en-US" altLang="zh-CN" dirty="0"/>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11</a:t>
            </a:fld>
            <a:endParaRPr kumimoji="1" lang="zh-CN" altLang="en-US"/>
          </a:p>
        </p:txBody>
      </p:sp>
    </p:spTree>
    <p:extLst>
      <p:ext uri="{BB962C8B-B14F-4D97-AF65-F5344CB8AC3E}">
        <p14:creationId xmlns:p14="http://schemas.microsoft.com/office/powerpoint/2010/main" val="34835354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After removing the red deps, we can schedule them in a pipeline manner </a:t>
            </a:r>
          </a:p>
          <a:p>
            <a:endParaRPr kumimoji="1" lang="en-US" altLang="zh-CN" dirty="0"/>
          </a:p>
          <a:p>
            <a:r>
              <a:rPr kumimoji="1" lang="en-US" altLang="zh-CN" dirty="0"/>
              <a:t>after generating the type 1 summary of bar, we can generate the type 1 and type2 summary of foo.</a:t>
            </a:r>
          </a:p>
          <a:p>
            <a:endParaRPr kumimoji="1" lang="en-US" altLang="zh-CN" dirty="0"/>
          </a:p>
          <a:p>
            <a:r>
              <a:rPr kumimoji="1" lang="en-US" altLang="zh-CN" dirty="0"/>
              <a:t>finally, we can generate the type 3 summary of foo after generating all summaries of bar</a:t>
            </a:r>
            <a:endParaRPr kumimoji="1" lang="zh-CN" altLang="en-US" dirty="0"/>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12</a:t>
            </a:fld>
            <a:endParaRPr kumimoji="1" lang="zh-CN" altLang="en-US"/>
          </a:p>
        </p:txBody>
      </p:sp>
    </p:spTree>
    <p:extLst>
      <p:ext uri="{BB962C8B-B14F-4D97-AF65-F5344CB8AC3E}">
        <p14:creationId xmlns:p14="http://schemas.microsoft.com/office/powerpoint/2010/main" val="27762728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Thus, for this example, our approach does not need to wait the analysis of bar to start the analysis of foo.</a:t>
            </a:r>
            <a:endParaRPr kumimoji="1" lang="zh-CN" altLang="en-US" dirty="0"/>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13</a:t>
            </a:fld>
            <a:endParaRPr kumimoji="1" lang="zh-CN" altLang="en-US"/>
          </a:p>
        </p:txBody>
      </p:sp>
    </p:spTree>
    <p:extLst>
      <p:ext uri="{BB962C8B-B14F-4D97-AF65-F5344CB8AC3E}">
        <p14:creationId xmlns:p14="http://schemas.microsoft.com/office/powerpoint/2010/main" val="33392735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In the paper, we formalize the pipeline idea in the IFDS/IDE framework for a wide range of problems, such as the alias sets problem, the problem of securing information flow and so on.</a:t>
            </a:r>
          </a:p>
          <a:p>
            <a:endParaRPr kumimoji="1" lang="en-US" altLang="zh-CN" dirty="0"/>
          </a:p>
          <a:p>
            <a:r>
              <a:rPr kumimoji="1" lang="en-US" altLang="zh-CN" dirty="0"/>
              <a:t>These problems have a common feature that, they can be reduced to graph reachability problems, just like our value flow analysis.</a:t>
            </a:r>
          </a:p>
          <a:p>
            <a:endParaRPr kumimoji="1" lang="en-US" altLang="zh-CN" dirty="0"/>
          </a:p>
          <a:p>
            <a:r>
              <a:rPr kumimoji="1" lang="en-US" altLang="zh-CN" dirty="0"/>
              <a:t>36m30in</a:t>
            </a:r>
            <a:endParaRPr kumimoji="1" lang="zh-CN" altLang="en-US" dirty="0"/>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14</a:t>
            </a:fld>
            <a:endParaRPr kumimoji="1" lang="zh-CN" altLang="en-US"/>
          </a:p>
        </p:txBody>
      </p:sp>
    </p:spTree>
    <p:extLst>
      <p:ext uri="{BB962C8B-B14F-4D97-AF65-F5344CB8AC3E}">
        <p14:creationId xmlns:p14="http://schemas.microsoft.com/office/powerpoint/2010/main" val="6260611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As for evaluation, we use similar benchmark programs as before</a:t>
            </a:r>
          </a:p>
          <a:p>
            <a:endParaRPr kumimoji="1" lang="en-US" altLang="zh-CN" dirty="0"/>
          </a:p>
          <a:p>
            <a:r>
              <a:rPr kumimoji="1" lang="en-US" altLang="zh-CN" dirty="0"/>
              <a:t>and compare the pipeline method to the conventional parallel design in terms of </a:t>
            </a:r>
            <a:r>
              <a:rPr kumimoji="1" lang="en-US" altLang="zh-CN" dirty="0" err="1"/>
              <a:t>cpu</a:t>
            </a:r>
            <a:r>
              <a:rPr kumimoji="1" lang="en-US" altLang="zh-CN" dirty="0"/>
              <a:t> utilization rate and the speedup.</a:t>
            </a:r>
            <a:endParaRPr kumimoji="1" lang="zh-CN" altLang="en-US" dirty="0"/>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15</a:t>
            </a:fld>
            <a:endParaRPr kumimoji="1" lang="zh-CN" altLang="en-US"/>
          </a:p>
        </p:txBody>
      </p:sp>
    </p:spTree>
    <p:extLst>
      <p:ext uri="{BB962C8B-B14F-4D97-AF65-F5344CB8AC3E}">
        <p14:creationId xmlns:p14="http://schemas.microsoft.com/office/powerpoint/2010/main" val="42325935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These figures show the </a:t>
            </a:r>
            <a:r>
              <a:rPr kumimoji="1" lang="en-US" altLang="zh-CN" dirty="0" err="1"/>
              <a:t>cpu</a:t>
            </a:r>
            <a:r>
              <a:rPr kumimoji="1" lang="en-US" altLang="zh-CN" dirty="0"/>
              <a:t> utilization rate for analyzing some of our benchmark programs.</a:t>
            </a:r>
          </a:p>
          <a:p>
            <a:endParaRPr kumimoji="1" lang="en-US" altLang="zh-CN" dirty="0"/>
          </a:p>
          <a:p>
            <a:r>
              <a:rPr kumimoji="1" lang="en-US" altLang="zh-CN" dirty="0"/>
              <a:t>The red curves are the </a:t>
            </a:r>
            <a:r>
              <a:rPr kumimoji="1" lang="en-US" altLang="zh-CN" dirty="0" err="1"/>
              <a:t>cpu</a:t>
            </a:r>
            <a:r>
              <a:rPr kumimoji="1" lang="en-US" altLang="zh-CN" dirty="0"/>
              <a:t> utilization rate  of our pipeline approach. The blue ones are that of the conventional approach.</a:t>
            </a:r>
          </a:p>
          <a:p>
            <a:endParaRPr kumimoji="1" lang="en-US" altLang="zh-CN" dirty="0"/>
          </a:p>
          <a:p>
            <a:r>
              <a:rPr kumimoji="1" lang="en-US" altLang="zh-CN" dirty="0"/>
              <a:t>It is clear that our approach has higher </a:t>
            </a:r>
            <a:r>
              <a:rPr kumimoji="1" lang="en-US" altLang="zh-CN" dirty="0" err="1"/>
              <a:t>cpu</a:t>
            </a:r>
            <a:r>
              <a:rPr kumimoji="1" lang="en-US" altLang="zh-CN" dirty="0"/>
              <a:t> utilization rate than the conventional one and thus can finish the analysis earlier.</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42A776D7-DB70-2044-AA8B-A02B84598794}" type="slidenum">
              <a:rPr kumimoji="1" lang="zh-CN" altLang="en-US" smtClean="0"/>
              <a:t>16</a:t>
            </a:fld>
            <a:endParaRPr kumimoji="1" lang="zh-CN" altLang="en-US"/>
          </a:p>
        </p:txBody>
      </p:sp>
    </p:spTree>
    <p:extLst>
      <p:ext uri="{BB962C8B-B14F-4D97-AF65-F5344CB8AC3E}">
        <p14:creationId xmlns:p14="http://schemas.microsoft.com/office/powerpoint/2010/main" val="7538854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This figure shows the speedup against the number of threads. Different lines represent the speedup of different benchmark programs</a:t>
            </a:r>
          </a:p>
          <a:p>
            <a:endParaRPr kumimoji="1" lang="en-US" altLang="zh-CN" dirty="0"/>
          </a:p>
          <a:p>
            <a:r>
              <a:rPr kumimoji="1" lang="en-US" altLang="zh-CN" dirty="0"/>
              <a:t>With more threads, the benefits of our approach is more apparent, leading to 2 times to 3 times speedup. Such a speedup is not trivial, in practice, it is enough to make an originally impractical analysis practical. </a:t>
            </a:r>
          </a:p>
          <a:p>
            <a:endParaRPr kumimoji="1" lang="en-US" altLang="zh-CN" dirty="0"/>
          </a:p>
          <a:p>
            <a:r>
              <a:rPr kumimoji="1" lang="en-US" altLang="zh-CN" dirty="0"/>
              <a:t>For instance, originally an analysis may need 12 hours, with our approach, it may only need 4 hours to finish. This means that originally, the analysis cannot finish in a nightly building, but it can finish after adopting our approach.</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42A776D7-DB70-2044-AA8B-A02B84598794}" type="slidenum">
              <a:rPr kumimoji="1" lang="zh-CN" altLang="en-US" smtClean="0"/>
              <a:t>17</a:t>
            </a:fld>
            <a:endParaRPr kumimoji="1" lang="zh-CN" altLang="en-US"/>
          </a:p>
        </p:txBody>
      </p:sp>
    </p:spTree>
    <p:extLst>
      <p:ext uri="{BB962C8B-B14F-4D97-AF65-F5344CB8AC3E}">
        <p14:creationId xmlns:p14="http://schemas.microsoft.com/office/powerpoint/2010/main" val="21359372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For the pipeline approach, there are two factors that may affect its performance.</a:t>
            </a:r>
          </a:p>
          <a:p>
            <a:endParaRPr kumimoji="1" lang="en-US" altLang="zh-CN" dirty="0"/>
          </a:p>
          <a:p>
            <a:r>
              <a:rPr kumimoji="1" lang="en-US" altLang="zh-CN" dirty="0"/>
              <a:t>First, we have shown that with more threads , our approach is more effective. If we only have one thread available, neither of our approach and the conventional parallel design can perform parallel analysis. So they will have similar performance.</a:t>
            </a:r>
          </a:p>
          <a:p>
            <a:endParaRPr kumimoji="1" lang="en-US" altLang="zh-CN" dirty="0"/>
          </a:p>
          <a:p>
            <a:r>
              <a:rPr kumimoji="1" lang="en-US" altLang="zh-CN" dirty="0"/>
              <a:t>Second, the effectiveness of our approach is also affected by the sparsity of the call graph. Recall that our pipeline approach relax calling dependence to improve the parallelism. So if a call graph is very sparse and has little call dependence, then the benefits of our approach will not that apparent.</a:t>
            </a:r>
          </a:p>
        </p:txBody>
      </p:sp>
      <p:sp>
        <p:nvSpPr>
          <p:cNvPr id="4" name="灯片编号占位符 3"/>
          <p:cNvSpPr>
            <a:spLocks noGrp="1"/>
          </p:cNvSpPr>
          <p:nvPr>
            <p:ph type="sldNum" sz="quarter" idx="5"/>
          </p:nvPr>
        </p:nvSpPr>
        <p:spPr/>
        <p:txBody>
          <a:bodyPr/>
          <a:lstStyle/>
          <a:p>
            <a:fld id="{36520AB5-D4B9-C44C-BDCD-AAFCE93516A7}" type="slidenum">
              <a:rPr kumimoji="1" lang="zh-CN" altLang="en-US" smtClean="0"/>
              <a:t>18</a:t>
            </a:fld>
            <a:endParaRPr kumimoji="1" lang="zh-CN" altLang="en-US"/>
          </a:p>
        </p:txBody>
      </p:sp>
    </p:spTree>
    <p:extLst>
      <p:ext uri="{BB962C8B-B14F-4D97-AF65-F5344CB8AC3E}">
        <p14:creationId xmlns:p14="http://schemas.microsoft.com/office/powerpoint/2010/main" val="21996560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As a brief summary, our approach relaxes the calling dependence to improve the parallelism of bottom-up data flow analysis.</a:t>
            </a:r>
          </a:p>
          <a:p>
            <a:endParaRPr kumimoji="1" lang="en-US" altLang="zh-CN" dirty="0"/>
          </a:p>
          <a:p>
            <a:r>
              <a:rPr kumimoji="1" lang="en-US" altLang="zh-CN" dirty="0"/>
              <a:t>So, to take advantage multi cores, let us pipeline not simply parallelize your data flow analysis</a:t>
            </a:r>
            <a:endParaRPr kumimoji="1" lang="zh-CN" altLang="en-US" dirty="0"/>
          </a:p>
        </p:txBody>
      </p:sp>
      <p:sp>
        <p:nvSpPr>
          <p:cNvPr id="4" name="灯片编号占位符 3"/>
          <p:cNvSpPr>
            <a:spLocks noGrp="1"/>
          </p:cNvSpPr>
          <p:nvPr>
            <p:ph type="sldNum" sz="quarter" idx="5"/>
          </p:nvPr>
        </p:nvSpPr>
        <p:spPr/>
        <p:txBody>
          <a:bodyPr/>
          <a:lstStyle/>
          <a:p>
            <a:fld id="{42A776D7-DB70-2044-AA8B-A02B84598794}" type="slidenum">
              <a:rPr kumimoji="1" lang="zh-CN" altLang="en-US" smtClean="0"/>
              <a:t>19</a:t>
            </a:fld>
            <a:endParaRPr kumimoji="1" lang="zh-CN" altLang="en-US"/>
          </a:p>
        </p:txBody>
      </p:sp>
    </p:spTree>
    <p:extLst>
      <p:ext uri="{BB962C8B-B14F-4D97-AF65-F5344CB8AC3E}">
        <p14:creationId xmlns:p14="http://schemas.microsoft.com/office/powerpoint/2010/main" val="14371511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Thanks very much!</a:t>
            </a:r>
            <a:endParaRPr kumimoji="1" lang="zh-CN" altLang="en-US" dirty="0"/>
          </a:p>
        </p:txBody>
      </p:sp>
      <p:sp>
        <p:nvSpPr>
          <p:cNvPr id="4" name="灯片编号占位符 3"/>
          <p:cNvSpPr>
            <a:spLocks noGrp="1"/>
          </p:cNvSpPr>
          <p:nvPr>
            <p:ph type="sldNum" sz="quarter" idx="5"/>
          </p:nvPr>
        </p:nvSpPr>
        <p:spPr/>
        <p:txBody>
          <a:bodyPr/>
          <a:lstStyle/>
          <a:p>
            <a:fld id="{42A776D7-DB70-2044-AA8B-A02B84598794}" type="slidenum">
              <a:rPr kumimoji="1" lang="zh-CN" altLang="en-US" smtClean="0"/>
              <a:t>20</a:t>
            </a:fld>
            <a:endParaRPr kumimoji="1" lang="zh-CN" altLang="en-US"/>
          </a:p>
        </p:txBody>
      </p:sp>
    </p:spTree>
    <p:extLst>
      <p:ext uri="{BB962C8B-B14F-4D97-AF65-F5344CB8AC3E}">
        <p14:creationId xmlns:p14="http://schemas.microsoft.com/office/powerpoint/2010/main" val="2250113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3CFB6B-F59D-2649-95A5-B4F0E14171B1}"/>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670918D9-FDCC-8541-95CE-3C8DC226F8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1988DBB-46AC-B246-A3D6-69BFAAE427EF}"/>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5" name="页脚占位符 4">
            <a:extLst>
              <a:ext uri="{FF2B5EF4-FFF2-40B4-BE49-F238E27FC236}">
                <a16:creationId xmlns:a16="http://schemas.microsoft.com/office/drawing/2014/main" id="{DDFB0F94-D1E1-6C4F-92B3-91CABFAD54B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F13B2AD-CE0B-7642-AD94-EA746D85B63D}"/>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2736927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887EDB-5F16-6147-8CFD-F9BC728E5E3D}"/>
              </a:ext>
            </a:extLst>
          </p:cNvPr>
          <p:cNvSpPr>
            <a:spLocks noGrp="1"/>
          </p:cNvSpPr>
          <p:nvPr>
            <p:ph type="title" hasCustomPrompt="1"/>
          </p:nvPr>
        </p:nvSpPr>
        <p:spPr/>
        <p:txBody>
          <a:bodyPr>
            <a:normAutofit/>
          </a:bodyPr>
          <a:lstStyle>
            <a:lvl1pPr algn="l" defTabSz="914400" rtl="0" eaLnBrk="1" latinLnBrk="0" hangingPunct="1">
              <a:lnSpc>
                <a:spcPct val="90000"/>
              </a:lnSpc>
              <a:spcBef>
                <a:spcPct val="0"/>
              </a:spcBef>
              <a:buNone/>
              <a:defRPr kumimoji="1" lang="zh-CN" altLang="en-US" sz="3600" kern="1200" dirty="0">
                <a:solidFill>
                  <a:schemeClr val="accent1">
                    <a:lumMod val="75000"/>
                  </a:schemeClr>
                </a:solidFill>
                <a:latin typeface="Helvetica" pitchFamily="2" charset="0"/>
                <a:ea typeface="+mj-ea"/>
                <a:cs typeface="+mj-cs"/>
              </a:defRPr>
            </a:lvl1pPr>
          </a:lstStyle>
          <a:p>
            <a:r>
              <a:rPr kumimoji="1" lang="en-US" altLang="zh-CN" dirty="0"/>
              <a:t>Title</a:t>
            </a:r>
            <a:endParaRPr kumimoji="1" lang="zh-CN" altLang="en-US" dirty="0"/>
          </a:p>
        </p:txBody>
      </p:sp>
      <p:sp>
        <p:nvSpPr>
          <p:cNvPr id="3" name="内容占位符 2">
            <a:extLst>
              <a:ext uri="{FF2B5EF4-FFF2-40B4-BE49-F238E27FC236}">
                <a16:creationId xmlns:a16="http://schemas.microsoft.com/office/drawing/2014/main" id="{D9564C31-C66B-4544-B934-CEE13C92BF76}"/>
              </a:ext>
            </a:extLst>
          </p:cNvPr>
          <p:cNvSpPr>
            <a:spLocks noGrp="1"/>
          </p:cNvSpPr>
          <p:nvPr>
            <p:ph idx="1"/>
          </p:nvPr>
        </p:nvSpPr>
        <p:spPr/>
        <p:txBody>
          <a:bodyPr/>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34E9208C-0EC6-5A42-B979-11253531BB16}"/>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5" name="页脚占位符 4">
            <a:extLst>
              <a:ext uri="{FF2B5EF4-FFF2-40B4-BE49-F238E27FC236}">
                <a16:creationId xmlns:a16="http://schemas.microsoft.com/office/drawing/2014/main" id="{D0129A1D-7330-D74C-AFC2-CBF161EA5B9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468B634-D793-F948-BBA1-56E3DD4EF87B}"/>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3136794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64832-E25C-6E43-AC69-B2B42DD4C51E}"/>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D2477BA3-19E5-2B4C-9CB8-B5D968B72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1698CACA-4152-D643-AC02-9F6E427CD3FD}"/>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5" name="页脚占位符 4">
            <a:extLst>
              <a:ext uri="{FF2B5EF4-FFF2-40B4-BE49-F238E27FC236}">
                <a16:creationId xmlns:a16="http://schemas.microsoft.com/office/drawing/2014/main" id="{B1AC7BB7-153F-5948-BF34-A82633BEA34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90B8E3F-C8EC-004F-B9C6-28A127F14941}"/>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1070833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6D175-0907-0045-BB40-4F4853194C6A}"/>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58C9751-1AE9-964E-9999-9EC2AC01231F}"/>
              </a:ext>
            </a:extLst>
          </p:cNvPr>
          <p:cNvSpPr>
            <a:spLocks noGrp="1"/>
          </p:cNvSpPr>
          <p:nvPr>
            <p:ph sz="half" idx="1"/>
          </p:nvPr>
        </p:nvSpPr>
        <p:spPr>
          <a:xfrm>
            <a:off x="838200" y="1825625"/>
            <a:ext cx="5181600" cy="4351338"/>
          </a:xfrm>
        </p:spPr>
        <p:txBody>
          <a:bodyPr/>
          <a:lstStyle/>
          <a:p>
            <a:r>
              <a:rPr kumimoji="1" lang="zh-CN" altLang="en-US"/>
              <a:t>编辑母版文本样式
第二级
第三级
第四级
第五级</a:t>
            </a:r>
          </a:p>
        </p:txBody>
      </p:sp>
      <p:sp>
        <p:nvSpPr>
          <p:cNvPr id="4" name="内容占位符 3">
            <a:extLst>
              <a:ext uri="{FF2B5EF4-FFF2-40B4-BE49-F238E27FC236}">
                <a16:creationId xmlns:a16="http://schemas.microsoft.com/office/drawing/2014/main" id="{7F5C7061-EE9D-4047-974E-91BC22779A46}"/>
              </a:ext>
            </a:extLst>
          </p:cNvPr>
          <p:cNvSpPr>
            <a:spLocks noGrp="1"/>
          </p:cNvSpPr>
          <p:nvPr>
            <p:ph sz="half" idx="2"/>
          </p:nvPr>
        </p:nvSpPr>
        <p:spPr>
          <a:xfrm>
            <a:off x="6172200" y="1825625"/>
            <a:ext cx="5181600" cy="4351338"/>
          </a:xfrm>
        </p:spPr>
        <p:txBody>
          <a:bodyPr/>
          <a:lstStyle/>
          <a:p>
            <a:r>
              <a:rPr kumimoji="1" lang="zh-CN" altLang="en-US"/>
              <a:t>编辑母版文本样式
第二级
第三级
第四级
第五级</a:t>
            </a:r>
          </a:p>
        </p:txBody>
      </p:sp>
      <p:sp>
        <p:nvSpPr>
          <p:cNvPr id="5" name="日期占位符 4">
            <a:extLst>
              <a:ext uri="{FF2B5EF4-FFF2-40B4-BE49-F238E27FC236}">
                <a16:creationId xmlns:a16="http://schemas.microsoft.com/office/drawing/2014/main" id="{C8135D9E-C133-A24C-BCC0-380E2A2AC6EA}"/>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6" name="页脚占位符 5">
            <a:extLst>
              <a:ext uri="{FF2B5EF4-FFF2-40B4-BE49-F238E27FC236}">
                <a16:creationId xmlns:a16="http://schemas.microsoft.com/office/drawing/2014/main" id="{5E50AEC8-BA41-DE4C-A425-19815145476D}"/>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2EA159F-8734-3E40-8D3E-3CABA4EF2746}"/>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2484583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B60B2E-22EC-484C-8288-576DBEF80C12}"/>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1ED21D2-19C9-F440-B8D3-FC82EC5DC2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CN" altLang="en-US"/>
              <a:t>编辑母版文本样式
第二级
第三级
第四级
第五级</a:t>
            </a:r>
          </a:p>
        </p:txBody>
      </p:sp>
      <p:sp>
        <p:nvSpPr>
          <p:cNvPr id="4" name="内容占位符 3">
            <a:extLst>
              <a:ext uri="{FF2B5EF4-FFF2-40B4-BE49-F238E27FC236}">
                <a16:creationId xmlns:a16="http://schemas.microsoft.com/office/drawing/2014/main" id="{94547390-B514-E247-9D94-D5CBEFB264E6}"/>
              </a:ext>
            </a:extLst>
          </p:cNvPr>
          <p:cNvSpPr>
            <a:spLocks noGrp="1"/>
          </p:cNvSpPr>
          <p:nvPr>
            <p:ph sz="half" idx="2"/>
          </p:nvPr>
        </p:nvSpPr>
        <p:spPr>
          <a:xfrm>
            <a:off x="839788" y="2505075"/>
            <a:ext cx="5157787" cy="3684588"/>
          </a:xfrm>
        </p:spPr>
        <p:txBody>
          <a:bodyPr/>
          <a:lstStyle/>
          <a:p>
            <a:r>
              <a:rPr kumimoji="1" lang="zh-CN" altLang="en-US"/>
              <a:t>编辑母版文本样式
第二级
第三级
第四级
第五级</a:t>
            </a:r>
          </a:p>
        </p:txBody>
      </p:sp>
      <p:sp>
        <p:nvSpPr>
          <p:cNvPr id="5" name="文本占位符 4">
            <a:extLst>
              <a:ext uri="{FF2B5EF4-FFF2-40B4-BE49-F238E27FC236}">
                <a16:creationId xmlns:a16="http://schemas.microsoft.com/office/drawing/2014/main" id="{31C1B6E0-1CA2-954D-A19A-708C683B0C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kumimoji="1" lang="zh-CN" altLang="en-US"/>
              <a:t>编辑母版文本样式
第二级
第三级
第四级
第五级</a:t>
            </a:r>
          </a:p>
        </p:txBody>
      </p:sp>
      <p:sp>
        <p:nvSpPr>
          <p:cNvPr id="6" name="内容占位符 5">
            <a:extLst>
              <a:ext uri="{FF2B5EF4-FFF2-40B4-BE49-F238E27FC236}">
                <a16:creationId xmlns:a16="http://schemas.microsoft.com/office/drawing/2014/main" id="{066C2FF8-DB95-644A-A0D5-07B39A8B8E97}"/>
              </a:ext>
            </a:extLst>
          </p:cNvPr>
          <p:cNvSpPr>
            <a:spLocks noGrp="1"/>
          </p:cNvSpPr>
          <p:nvPr>
            <p:ph sz="quarter" idx="4"/>
          </p:nvPr>
        </p:nvSpPr>
        <p:spPr>
          <a:xfrm>
            <a:off x="6172200" y="2505075"/>
            <a:ext cx="5183188" cy="3684588"/>
          </a:xfrm>
        </p:spPr>
        <p:txBody>
          <a:bodyPr/>
          <a:lstStyle/>
          <a:p>
            <a:r>
              <a:rPr kumimoji="1" lang="zh-CN" altLang="en-US"/>
              <a:t>编辑母版文本样式
第二级
第三级
第四级
第五级</a:t>
            </a:r>
          </a:p>
        </p:txBody>
      </p:sp>
      <p:sp>
        <p:nvSpPr>
          <p:cNvPr id="7" name="日期占位符 6">
            <a:extLst>
              <a:ext uri="{FF2B5EF4-FFF2-40B4-BE49-F238E27FC236}">
                <a16:creationId xmlns:a16="http://schemas.microsoft.com/office/drawing/2014/main" id="{37A4E8D9-02BA-2243-A385-F47916FA29FF}"/>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8" name="页脚占位符 7">
            <a:extLst>
              <a:ext uri="{FF2B5EF4-FFF2-40B4-BE49-F238E27FC236}">
                <a16:creationId xmlns:a16="http://schemas.microsoft.com/office/drawing/2014/main" id="{3445BD42-9B88-6649-95BE-67CBFD2D547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C4EFAF6F-5AFC-BE4F-B312-2993217DAC32}"/>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852262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19331D-DC5E-F842-92C1-AF6675E50932}"/>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2D03A56-3EE7-0442-A1F2-7972491EFFEE}"/>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4" name="页脚占位符 3">
            <a:extLst>
              <a:ext uri="{FF2B5EF4-FFF2-40B4-BE49-F238E27FC236}">
                <a16:creationId xmlns:a16="http://schemas.microsoft.com/office/drawing/2014/main" id="{78DF5D7A-39C2-BA4D-B53B-00878594753E}"/>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F4A079F3-A266-1B42-A82B-335519C9458A}"/>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838365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CBFDEC6-C4BF-2340-9606-1A938D63A1C0}"/>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3" name="页脚占位符 2">
            <a:extLst>
              <a:ext uri="{FF2B5EF4-FFF2-40B4-BE49-F238E27FC236}">
                <a16:creationId xmlns:a16="http://schemas.microsoft.com/office/drawing/2014/main" id="{6BBD115B-18EA-F64E-84DF-D705F422F6AE}"/>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116E56C7-1709-294E-88DD-4681BBB3F12A}"/>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3625998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7D1BD0-43D7-5B42-AB3F-47329E24520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7A468DAD-B9EE-A047-B3F7-A932FB88C8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kumimoji="1" lang="zh-CN" altLang="en-US"/>
              <a:t>编辑母版文本样式
第二级
第三级
第四级
第五级</a:t>
            </a:r>
          </a:p>
        </p:txBody>
      </p:sp>
      <p:sp>
        <p:nvSpPr>
          <p:cNvPr id="4" name="文本占位符 3">
            <a:extLst>
              <a:ext uri="{FF2B5EF4-FFF2-40B4-BE49-F238E27FC236}">
                <a16:creationId xmlns:a16="http://schemas.microsoft.com/office/drawing/2014/main" id="{6D4A6D64-0E64-3048-BB42-092DD257CC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CN" altLang="en-US"/>
              <a:t>编辑母版文本样式
第二级
第三级
第四级
第五级</a:t>
            </a:r>
          </a:p>
        </p:txBody>
      </p:sp>
      <p:sp>
        <p:nvSpPr>
          <p:cNvPr id="5" name="日期占位符 4">
            <a:extLst>
              <a:ext uri="{FF2B5EF4-FFF2-40B4-BE49-F238E27FC236}">
                <a16:creationId xmlns:a16="http://schemas.microsoft.com/office/drawing/2014/main" id="{17D92836-42F5-9B4E-A6E8-9E21FA9BDAF7}"/>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6" name="页脚占位符 5">
            <a:extLst>
              <a:ext uri="{FF2B5EF4-FFF2-40B4-BE49-F238E27FC236}">
                <a16:creationId xmlns:a16="http://schemas.microsoft.com/office/drawing/2014/main" id="{578F14D0-75E7-1C47-9264-A3A6DC41E69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247890C-CBA0-C949-AA55-6704F0A3A6AA}"/>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630495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24CFE8-60B7-E04F-A9E4-C57CAECC95E0}"/>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96C80AC5-678E-D140-B5FA-7E777FD7BD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628381A4-7F9F-6341-9BEE-7BDD3D21AD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zh-CN" altLang="en-US"/>
              <a:t>编辑母版文本样式
第二级
第三级
第四级
第五级</a:t>
            </a:r>
          </a:p>
        </p:txBody>
      </p:sp>
      <p:sp>
        <p:nvSpPr>
          <p:cNvPr id="5" name="日期占位符 4">
            <a:extLst>
              <a:ext uri="{FF2B5EF4-FFF2-40B4-BE49-F238E27FC236}">
                <a16:creationId xmlns:a16="http://schemas.microsoft.com/office/drawing/2014/main" id="{FF205173-BFEB-0442-B094-9FF97E647125}"/>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6" name="页脚占位符 5">
            <a:extLst>
              <a:ext uri="{FF2B5EF4-FFF2-40B4-BE49-F238E27FC236}">
                <a16:creationId xmlns:a16="http://schemas.microsoft.com/office/drawing/2014/main" id="{923A376F-D86E-3B41-BF74-7F1F369648D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19532DE-DBBC-B641-BB2B-5F42F2D8AB24}"/>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534815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B48BDC-CB64-AC4A-B612-47FBD0C2EA24}"/>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85E76CE-AF04-F549-9FF0-1A2828926D23}"/>
              </a:ext>
            </a:extLst>
          </p:cNvPr>
          <p:cNvSpPr>
            <a:spLocks noGrp="1"/>
          </p:cNvSpPr>
          <p:nvPr>
            <p:ph type="body" orient="vert" idx="1"/>
          </p:nvPr>
        </p:nvSpPr>
        <p:spPr/>
        <p:txBody>
          <a:bodyPr vert="eaVert"/>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37E6C0B6-81F6-1F42-9211-204A7C58009D}"/>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5" name="页脚占位符 4">
            <a:extLst>
              <a:ext uri="{FF2B5EF4-FFF2-40B4-BE49-F238E27FC236}">
                <a16:creationId xmlns:a16="http://schemas.microsoft.com/office/drawing/2014/main" id="{6C7C2B0F-CED6-104F-8617-18AA745E5EE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33C9D63-821E-6F4C-9AA1-D8289B84F9C0}"/>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2021764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146ADF6-F48C-0042-853B-48737375C874}"/>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24EDAD5-E087-1846-B9CA-D489A315CCF7}"/>
              </a:ext>
            </a:extLst>
          </p:cNvPr>
          <p:cNvSpPr>
            <a:spLocks noGrp="1"/>
          </p:cNvSpPr>
          <p:nvPr>
            <p:ph type="body" orient="vert" idx="1"/>
          </p:nvPr>
        </p:nvSpPr>
        <p:spPr>
          <a:xfrm>
            <a:off x="838200" y="365125"/>
            <a:ext cx="7734300" cy="5811838"/>
          </a:xfrm>
        </p:spPr>
        <p:txBody>
          <a:bodyPr vert="eaVert"/>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1D22D87E-E0FF-B144-8365-9CB57FA2E47B}"/>
              </a:ext>
            </a:extLst>
          </p:cNvPr>
          <p:cNvSpPr>
            <a:spLocks noGrp="1"/>
          </p:cNvSpPr>
          <p:nvPr>
            <p:ph type="dt" sz="half" idx="10"/>
          </p:nvPr>
        </p:nvSpPr>
        <p:spPr/>
        <p:txBody>
          <a:bodyPr/>
          <a:lstStyle/>
          <a:p>
            <a:fld id="{25E49A1B-3E1F-4E47-8F27-E050D88DB926}" type="datetimeFigureOut">
              <a:rPr kumimoji="1" lang="zh-CN" altLang="en-US" smtClean="0"/>
              <a:t>2020/6/27</a:t>
            </a:fld>
            <a:endParaRPr kumimoji="1" lang="zh-CN" altLang="en-US"/>
          </a:p>
        </p:txBody>
      </p:sp>
      <p:sp>
        <p:nvSpPr>
          <p:cNvPr id="5" name="页脚占位符 4">
            <a:extLst>
              <a:ext uri="{FF2B5EF4-FFF2-40B4-BE49-F238E27FC236}">
                <a16:creationId xmlns:a16="http://schemas.microsoft.com/office/drawing/2014/main" id="{057DD06B-A5F7-0F42-A852-66686F1A17F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E48A0D5-08BE-5443-A8C2-77C253ADB27C}"/>
              </a:ext>
            </a:extLst>
          </p:cNvPr>
          <p:cNvSpPr>
            <a:spLocks noGrp="1"/>
          </p:cNvSpPr>
          <p:nvPr>
            <p:ph type="sldNum" sz="quarter" idx="12"/>
          </p:nvPr>
        </p:nvSpPr>
        <p:spPr/>
        <p:txBody>
          <a:body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2176009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DB92C76-96CD-7143-85C7-976A261A28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8E997A1-BAF8-5049-8A8C-CA9090D4D1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kumimoji="1" lang="zh-CN" altLang="en-US"/>
              <a:t>编辑母版文本样式
第二级
第三级
第四级
第五级</a:t>
            </a:r>
          </a:p>
        </p:txBody>
      </p:sp>
      <p:sp>
        <p:nvSpPr>
          <p:cNvPr id="4" name="日期占位符 3">
            <a:extLst>
              <a:ext uri="{FF2B5EF4-FFF2-40B4-BE49-F238E27FC236}">
                <a16:creationId xmlns:a16="http://schemas.microsoft.com/office/drawing/2014/main" id="{7574D2DB-39FD-1449-A6E6-82EC721460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E49A1B-3E1F-4E47-8F27-E050D88DB926}" type="datetimeFigureOut">
              <a:rPr kumimoji="1" lang="zh-CN" altLang="en-US" smtClean="0"/>
              <a:t>2020/6/27</a:t>
            </a:fld>
            <a:endParaRPr kumimoji="1" lang="zh-CN" altLang="en-US"/>
          </a:p>
        </p:txBody>
      </p:sp>
      <p:sp>
        <p:nvSpPr>
          <p:cNvPr id="5" name="页脚占位符 4">
            <a:extLst>
              <a:ext uri="{FF2B5EF4-FFF2-40B4-BE49-F238E27FC236}">
                <a16:creationId xmlns:a16="http://schemas.microsoft.com/office/drawing/2014/main" id="{F365F2DC-F14F-6545-A3C3-B278FC2517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3E594FE2-0CA9-8E4A-A2DE-46A5ADC1A7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8F9A27-C839-0240-A93D-8F3ADA1B4605}" type="slidenum">
              <a:rPr kumimoji="1" lang="zh-CN" altLang="en-US" smtClean="0"/>
              <a:t>‹#›</a:t>
            </a:fld>
            <a:endParaRPr kumimoji="1" lang="zh-CN" altLang="en-US"/>
          </a:p>
        </p:txBody>
      </p:sp>
    </p:spTree>
    <p:extLst>
      <p:ext uri="{BB962C8B-B14F-4D97-AF65-F5344CB8AC3E}">
        <p14:creationId xmlns:p14="http://schemas.microsoft.com/office/powerpoint/2010/main" val="251088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tiff"/><Relationship Id="rId3" Type="http://schemas.openxmlformats.org/officeDocument/2006/relationships/notesSlide" Target="../notesSlides/notesSlide3.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4.tiff"/><Relationship Id="rId5" Type="http://schemas.openxmlformats.org/officeDocument/2006/relationships/image" Target="../media/image3.tiff"/><Relationship Id="rId4" Type="http://schemas.openxmlformats.org/officeDocument/2006/relationships/image" Target="../media/image2.emf"/><Relationship Id="rId9" Type="http://schemas.openxmlformats.org/officeDocument/2006/relationships/image" Target="../media/image7.tif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9.tiff"/><Relationship Id="rId5" Type="http://schemas.openxmlformats.org/officeDocument/2006/relationships/image" Target="../media/image6.tiff"/><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2.emf"/><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emf"/><Relationship Id="rId5" Type="http://schemas.openxmlformats.org/officeDocument/2006/relationships/image" Target="../media/image10.emf"/><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A8677E-A652-BC49-B008-84A3FCD06355}"/>
              </a:ext>
            </a:extLst>
          </p:cNvPr>
          <p:cNvSpPr>
            <a:spLocks noGrp="1"/>
          </p:cNvSpPr>
          <p:nvPr>
            <p:ph type="ctrTitle"/>
          </p:nvPr>
        </p:nvSpPr>
        <p:spPr>
          <a:xfrm>
            <a:off x="709808" y="1578281"/>
            <a:ext cx="10772383" cy="1393064"/>
          </a:xfrm>
        </p:spPr>
        <p:txBody>
          <a:bodyPr>
            <a:normAutofit/>
          </a:bodyPr>
          <a:lstStyle/>
          <a:p>
            <a:r>
              <a:rPr kumimoji="1" lang="en-US" altLang="zh-CN" sz="3600" dirty="0">
                <a:solidFill>
                  <a:schemeClr val="accent1">
                    <a:lumMod val="75000"/>
                  </a:schemeClr>
                </a:solidFill>
                <a:latin typeface="Helvetica" pitchFamily="2" charset="0"/>
              </a:rPr>
              <a:t>Pipelining Bottom-up Data Flow Analysis</a:t>
            </a:r>
            <a:endParaRPr kumimoji="1" lang="zh-CN" altLang="en-US" sz="3600" dirty="0">
              <a:solidFill>
                <a:schemeClr val="accent1">
                  <a:lumMod val="75000"/>
                </a:schemeClr>
              </a:solidFill>
              <a:latin typeface="Helvetica" pitchFamily="2" charset="0"/>
            </a:endParaRPr>
          </a:p>
        </p:txBody>
      </p:sp>
      <p:sp>
        <p:nvSpPr>
          <p:cNvPr id="3" name="副标题 2">
            <a:extLst>
              <a:ext uri="{FF2B5EF4-FFF2-40B4-BE49-F238E27FC236}">
                <a16:creationId xmlns:a16="http://schemas.microsoft.com/office/drawing/2014/main" id="{97C437BB-C761-4B45-97BD-0A9E79D04C0C}"/>
              </a:ext>
            </a:extLst>
          </p:cNvPr>
          <p:cNvSpPr>
            <a:spLocks noGrp="1"/>
          </p:cNvSpPr>
          <p:nvPr>
            <p:ph type="subTitle" idx="1"/>
          </p:nvPr>
        </p:nvSpPr>
        <p:spPr>
          <a:xfrm>
            <a:off x="1524000" y="3201205"/>
            <a:ext cx="9144000" cy="1867183"/>
          </a:xfrm>
        </p:spPr>
        <p:txBody>
          <a:bodyPr>
            <a:normAutofit/>
          </a:bodyPr>
          <a:lstStyle/>
          <a:p>
            <a:endParaRPr kumimoji="1" lang="en-US" altLang="zh-CN" dirty="0">
              <a:latin typeface="Gill Sans MT" panose="020B0502020104020203" pitchFamily="34" charset="0"/>
            </a:endParaRPr>
          </a:p>
          <a:p>
            <a:r>
              <a:rPr kumimoji="1" lang="en-US" altLang="zh-CN" dirty="0">
                <a:latin typeface="Gill Sans MT" panose="020B0502020104020203" pitchFamily="34" charset="0"/>
              </a:rPr>
              <a:t>Qingkai Shi and Charles Zhang</a:t>
            </a:r>
          </a:p>
          <a:p>
            <a:r>
              <a:rPr kumimoji="1" lang="en-US" altLang="zh-CN" dirty="0">
                <a:latin typeface="Gill Sans MT" panose="020B0502020104020203" pitchFamily="34" charset="0"/>
              </a:rPr>
              <a:t>The Hong Kong University of Science and Technology, China</a:t>
            </a:r>
            <a:endParaRPr kumimoji="1" lang="zh-CN" altLang="en-US" dirty="0">
              <a:latin typeface="Gill Sans MT" panose="020B0502020104020203" pitchFamily="34" charset="0"/>
            </a:endParaRPr>
          </a:p>
        </p:txBody>
      </p:sp>
      <p:pic>
        <p:nvPicPr>
          <p:cNvPr id="4" name="图片 3">
            <a:extLst>
              <a:ext uri="{FF2B5EF4-FFF2-40B4-BE49-F238E27FC236}">
                <a16:creationId xmlns:a16="http://schemas.microsoft.com/office/drawing/2014/main" id="{CDEBBBAB-2381-D64A-9B81-71E780B0EFF7}"/>
              </a:ext>
            </a:extLst>
          </p:cNvPr>
          <p:cNvPicPr>
            <a:picLocks noChangeAspect="1"/>
          </p:cNvPicPr>
          <p:nvPr/>
        </p:nvPicPr>
        <p:blipFill>
          <a:blip r:embed="rId3"/>
          <a:stretch>
            <a:fillRect/>
          </a:stretch>
        </p:blipFill>
        <p:spPr>
          <a:xfrm>
            <a:off x="205316" y="0"/>
            <a:ext cx="7327900" cy="1117600"/>
          </a:xfrm>
          <a:prstGeom prst="rect">
            <a:avLst/>
          </a:prstGeom>
        </p:spPr>
      </p:pic>
      <p:sp>
        <p:nvSpPr>
          <p:cNvPr id="6" name="矩形 5">
            <a:extLst>
              <a:ext uri="{FF2B5EF4-FFF2-40B4-BE49-F238E27FC236}">
                <a16:creationId xmlns:a16="http://schemas.microsoft.com/office/drawing/2014/main" id="{36FD5116-A7FD-9C40-AC95-61CB9DEFFAFF}"/>
              </a:ext>
            </a:extLst>
          </p:cNvPr>
          <p:cNvSpPr/>
          <p:nvPr/>
        </p:nvSpPr>
        <p:spPr>
          <a:xfrm>
            <a:off x="2392004" y="5857262"/>
            <a:ext cx="7407989" cy="646331"/>
          </a:xfrm>
          <a:prstGeom prst="rect">
            <a:avLst/>
          </a:prstGeom>
        </p:spPr>
        <p:txBody>
          <a:bodyPr wrap="none">
            <a:spAutoFit/>
          </a:bodyPr>
          <a:lstStyle/>
          <a:p>
            <a:pPr algn="ctr"/>
            <a:r>
              <a:rPr kumimoji="1" lang="en-US" altLang="zh-CN" dirty="0">
                <a:solidFill>
                  <a:schemeClr val="tx1">
                    <a:lumMod val="50000"/>
                    <a:lumOff val="50000"/>
                  </a:schemeClr>
                </a:solidFill>
                <a:latin typeface="Helvetica" pitchFamily="2" charset="0"/>
              </a:rPr>
              <a:t>July 10</a:t>
            </a:r>
            <a:r>
              <a:rPr kumimoji="1" lang="en-US" altLang="zh-CN" baseline="30000" dirty="0">
                <a:solidFill>
                  <a:schemeClr val="tx1">
                    <a:lumMod val="50000"/>
                    <a:lumOff val="50000"/>
                  </a:schemeClr>
                </a:solidFill>
                <a:latin typeface="Helvetica" pitchFamily="2" charset="0"/>
              </a:rPr>
              <a:t>th</a:t>
            </a:r>
            <a:r>
              <a:rPr kumimoji="1" lang="en-US" altLang="zh-CN" dirty="0">
                <a:solidFill>
                  <a:schemeClr val="tx1">
                    <a:lumMod val="50000"/>
                    <a:lumOff val="50000"/>
                  </a:schemeClr>
                </a:solidFill>
                <a:latin typeface="Helvetica" pitchFamily="2" charset="0"/>
              </a:rPr>
              <a:t> 2020</a:t>
            </a:r>
          </a:p>
          <a:p>
            <a:pPr algn="ctr"/>
            <a:r>
              <a:rPr kumimoji="1" lang="en-US" altLang="zh-CN" dirty="0">
                <a:solidFill>
                  <a:schemeClr val="tx1">
                    <a:lumMod val="50000"/>
                    <a:lumOff val="50000"/>
                  </a:schemeClr>
                </a:solidFill>
                <a:latin typeface="Helvetica" pitchFamily="2" charset="0"/>
              </a:rPr>
              <a:t>The 42</a:t>
            </a:r>
            <a:r>
              <a:rPr kumimoji="1" lang="en-US" altLang="zh-CN" baseline="30000" dirty="0">
                <a:solidFill>
                  <a:schemeClr val="tx1">
                    <a:lumMod val="50000"/>
                    <a:lumOff val="50000"/>
                  </a:schemeClr>
                </a:solidFill>
                <a:latin typeface="Helvetica" pitchFamily="2" charset="0"/>
              </a:rPr>
              <a:t>nd</a:t>
            </a:r>
            <a:r>
              <a:rPr kumimoji="1" lang="en-US" altLang="zh-CN" dirty="0">
                <a:solidFill>
                  <a:schemeClr val="tx1">
                    <a:lumMod val="50000"/>
                    <a:lumOff val="50000"/>
                  </a:schemeClr>
                </a:solidFill>
                <a:latin typeface="Helvetica" pitchFamily="2" charset="0"/>
              </a:rPr>
              <a:t> ACM/IEEE International Conference on Software Engineering</a:t>
            </a:r>
          </a:p>
        </p:txBody>
      </p:sp>
    </p:spTree>
    <p:extLst>
      <p:ext uri="{BB962C8B-B14F-4D97-AF65-F5344CB8AC3E}">
        <p14:creationId xmlns:p14="http://schemas.microsoft.com/office/powerpoint/2010/main" val="211852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6F70AA-36DC-4C44-97F7-EF0F0EC45A68}"/>
              </a:ext>
            </a:extLst>
          </p:cNvPr>
          <p:cNvSpPr>
            <a:spLocks noGrp="1"/>
          </p:cNvSpPr>
          <p:nvPr>
            <p:ph type="title"/>
          </p:nvPr>
        </p:nvSpPr>
        <p:spPr/>
        <p:txBody>
          <a:bodyPr/>
          <a:lstStyle/>
          <a:p>
            <a:r>
              <a:rPr kumimoji="1" lang="en-US" altLang="zh-CN" dirty="0"/>
              <a:t>Outline</a:t>
            </a:r>
            <a:endParaRPr kumimoji="1" lang="zh-CN" altLang="en-US" dirty="0"/>
          </a:p>
        </p:txBody>
      </p:sp>
      <p:sp>
        <p:nvSpPr>
          <p:cNvPr id="3" name="内容占位符 2">
            <a:extLst>
              <a:ext uri="{FF2B5EF4-FFF2-40B4-BE49-F238E27FC236}">
                <a16:creationId xmlns:a16="http://schemas.microsoft.com/office/drawing/2014/main" id="{1989E502-7CC8-5B47-81FD-93F1D87EAEA2}"/>
              </a:ext>
            </a:extLst>
          </p:cNvPr>
          <p:cNvSpPr>
            <a:spLocks noGrp="1"/>
          </p:cNvSpPr>
          <p:nvPr>
            <p:ph idx="1"/>
          </p:nvPr>
        </p:nvSpPr>
        <p:spPr/>
        <p:txBody>
          <a:bodyPr/>
          <a:lstStyle/>
          <a:p>
            <a:r>
              <a:rPr kumimoji="1" lang="en-US" altLang="zh-CN" dirty="0">
                <a:latin typeface="Helvetica" pitchFamily="2" charset="0"/>
              </a:rPr>
              <a:t>Background</a:t>
            </a:r>
          </a:p>
          <a:p>
            <a:endParaRPr kumimoji="1" lang="en-US" altLang="zh-CN" dirty="0">
              <a:latin typeface="Helvetica" pitchFamily="2" charset="0"/>
            </a:endParaRPr>
          </a:p>
          <a:p>
            <a:r>
              <a:rPr kumimoji="1" lang="en-US" altLang="zh-CN" dirty="0">
                <a:latin typeface="Helvetica" pitchFamily="2" charset="0"/>
              </a:rPr>
              <a:t>Approach</a:t>
            </a:r>
          </a:p>
          <a:p>
            <a:endParaRPr kumimoji="1" lang="en-US" altLang="zh-CN" dirty="0">
              <a:latin typeface="Helvetica" pitchFamily="2" charset="0"/>
            </a:endParaRPr>
          </a:p>
          <a:p>
            <a:r>
              <a:rPr kumimoji="1" lang="en-US" altLang="zh-CN" dirty="0">
                <a:latin typeface="Helvetica" pitchFamily="2" charset="0"/>
              </a:rPr>
              <a:t>Evaluation</a:t>
            </a:r>
          </a:p>
          <a:p>
            <a:endParaRPr kumimoji="1" lang="en-US" altLang="zh-CN" dirty="0">
              <a:latin typeface="Helvetica" pitchFamily="2" charset="0"/>
            </a:endParaRPr>
          </a:p>
          <a:p>
            <a:r>
              <a:rPr kumimoji="1" lang="en-US" altLang="zh-CN" dirty="0">
                <a:latin typeface="Helvetica" pitchFamily="2" charset="0"/>
              </a:rPr>
              <a:t>Summary</a:t>
            </a:r>
            <a:endParaRPr kumimoji="1" lang="zh-CN" altLang="en-US" dirty="0">
              <a:latin typeface="Helvetica" pitchFamily="2" charset="0"/>
            </a:endParaRPr>
          </a:p>
        </p:txBody>
      </p:sp>
      <p:sp>
        <p:nvSpPr>
          <p:cNvPr id="4" name="灯片编号占位符 3">
            <a:extLst>
              <a:ext uri="{FF2B5EF4-FFF2-40B4-BE49-F238E27FC236}">
                <a16:creationId xmlns:a16="http://schemas.microsoft.com/office/drawing/2014/main" id="{17840F43-A5CB-DC4B-8E7E-884509B16E4E}"/>
              </a:ext>
            </a:extLst>
          </p:cNvPr>
          <p:cNvSpPr>
            <a:spLocks noGrp="1"/>
          </p:cNvSpPr>
          <p:nvPr>
            <p:ph type="sldNum" sz="quarter" idx="12"/>
          </p:nvPr>
        </p:nvSpPr>
        <p:spPr>
          <a:xfrm>
            <a:off x="8610600" y="6356350"/>
            <a:ext cx="2743200" cy="365125"/>
          </a:xfrm>
        </p:spPr>
        <p:txBody>
          <a:bodyPr/>
          <a:lstStyle/>
          <a:p>
            <a:fld id="{C53D9380-AD50-0C4E-BD20-74B8F0FD34CE}" type="slidenum">
              <a:rPr kumimoji="1" lang="zh-CN" altLang="en-US" smtClean="0"/>
              <a:t>2</a:t>
            </a:fld>
            <a:endParaRPr kumimoji="1" lang="zh-CN" altLang="en-US"/>
          </a:p>
        </p:txBody>
      </p:sp>
    </p:spTree>
    <p:extLst>
      <p:ext uri="{BB962C8B-B14F-4D97-AF65-F5344CB8AC3E}">
        <p14:creationId xmlns:p14="http://schemas.microsoft.com/office/powerpoint/2010/main" val="3029074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099CCA-0F5C-5348-BC12-2D7129335EA7}"/>
              </a:ext>
            </a:extLst>
          </p:cNvPr>
          <p:cNvSpPr>
            <a:spLocks noGrp="1"/>
          </p:cNvSpPr>
          <p:nvPr>
            <p:ph type="title"/>
          </p:nvPr>
        </p:nvSpPr>
        <p:spPr/>
        <p:txBody>
          <a:bodyPr/>
          <a:lstStyle/>
          <a:p>
            <a:r>
              <a:rPr kumimoji="1" lang="en-US" altLang="zh-CN" dirty="0"/>
              <a:t>Bottom-up Analysis</a:t>
            </a:r>
            <a:endParaRPr kumimoji="1" lang="zh-CN" altLang="en-US" dirty="0"/>
          </a:p>
        </p:txBody>
      </p:sp>
      <p:sp>
        <p:nvSpPr>
          <p:cNvPr id="3" name="内容占位符 2">
            <a:extLst>
              <a:ext uri="{FF2B5EF4-FFF2-40B4-BE49-F238E27FC236}">
                <a16:creationId xmlns:a16="http://schemas.microsoft.com/office/drawing/2014/main" id="{689558C8-9CE3-9A41-B6AD-60936B7337A9}"/>
              </a:ext>
            </a:extLst>
          </p:cNvPr>
          <p:cNvSpPr>
            <a:spLocks noGrp="1"/>
          </p:cNvSpPr>
          <p:nvPr>
            <p:ph idx="1"/>
          </p:nvPr>
        </p:nvSpPr>
        <p:spPr/>
        <p:txBody>
          <a:bodyPr>
            <a:normAutofit/>
          </a:bodyPr>
          <a:lstStyle/>
          <a:p>
            <a:r>
              <a:rPr kumimoji="1" lang="en-US" altLang="zh-CN" sz="2400" dirty="0" err="1">
                <a:latin typeface="Helvetica" pitchFamily="2" charset="0"/>
              </a:rPr>
              <a:t>Callees</a:t>
            </a:r>
            <a:r>
              <a:rPr kumimoji="1" lang="en-US" altLang="zh-CN" sz="2400" dirty="0">
                <a:latin typeface="Helvetica" pitchFamily="2" charset="0"/>
              </a:rPr>
              <a:t> are analyzed before callers</a:t>
            </a:r>
          </a:p>
          <a:p>
            <a:pPr lvl="1"/>
            <a:r>
              <a:rPr kumimoji="1" lang="en-US" altLang="zh-CN" sz="2000" dirty="0" err="1">
                <a:latin typeface="Helvetica" pitchFamily="2" charset="0"/>
              </a:rPr>
              <a:t>Callees</a:t>
            </a:r>
            <a:r>
              <a:rPr kumimoji="1" lang="en-US" altLang="zh-CN" sz="2000" dirty="0">
                <a:latin typeface="Helvetica" pitchFamily="2" charset="0"/>
              </a:rPr>
              <a:t>’ behaviors are recorded as function summaries</a:t>
            </a:r>
          </a:p>
          <a:p>
            <a:pPr lvl="1"/>
            <a:r>
              <a:rPr kumimoji="1" lang="en-US" altLang="zh-CN" sz="2000" dirty="0">
                <a:latin typeface="Helvetica" pitchFamily="2" charset="0"/>
              </a:rPr>
              <a:t>Callers use the summaries to analyze call sites</a:t>
            </a:r>
          </a:p>
          <a:p>
            <a:pPr lvl="1"/>
            <a:endParaRPr kumimoji="1" lang="en-US" altLang="zh-CN" sz="2000" dirty="0">
              <a:latin typeface="Helvetica" pitchFamily="2" charset="0"/>
            </a:endParaRPr>
          </a:p>
          <a:p>
            <a:r>
              <a:rPr kumimoji="1" lang="en-US" altLang="zh-CN" sz="2400" dirty="0">
                <a:latin typeface="Helvetica" pitchFamily="2" charset="0"/>
              </a:rPr>
              <a:t>Easy to parallelize</a:t>
            </a:r>
          </a:p>
          <a:p>
            <a:pPr lvl="1"/>
            <a:r>
              <a:rPr kumimoji="1" lang="en-US" altLang="zh-CN" sz="2000" dirty="0">
                <a:latin typeface="Helvetica" pitchFamily="2" charset="0"/>
              </a:rPr>
              <a:t>Functions </a:t>
            </a:r>
            <a:r>
              <a:rPr kumimoji="1" lang="en-US" altLang="zh-CN" sz="2000" b="1" dirty="0">
                <a:latin typeface="Helvetica" pitchFamily="2" charset="0"/>
              </a:rPr>
              <a:t>without</a:t>
            </a:r>
            <a:r>
              <a:rPr kumimoji="1" lang="en-US" altLang="zh-CN" sz="2000" dirty="0">
                <a:latin typeface="Helvetica" pitchFamily="2" charset="0"/>
              </a:rPr>
              <a:t> calling dependence </a:t>
            </a:r>
            <a:r>
              <a:rPr kumimoji="1" lang="en-US" altLang="zh-CN" sz="2000" b="1" dirty="0">
                <a:latin typeface="Helvetica" pitchFamily="2" charset="0"/>
              </a:rPr>
              <a:t>can</a:t>
            </a:r>
            <a:r>
              <a:rPr kumimoji="1" lang="en-US" altLang="zh-CN" sz="2000" dirty="0">
                <a:latin typeface="Helvetica" pitchFamily="2" charset="0"/>
              </a:rPr>
              <a:t> be analyzed in parallel</a:t>
            </a:r>
          </a:p>
          <a:p>
            <a:pPr lvl="1"/>
            <a:r>
              <a:rPr kumimoji="1" lang="en-US" altLang="zh-CN" sz="2000" dirty="0">
                <a:latin typeface="Helvetica" pitchFamily="2" charset="0"/>
              </a:rPr>
              <a:t>Functions </a:t>
            </a:r>
            <a:r>
              <a:rPr kumimoji="1" lang="en-US" altLang="zh-CN" sz="2000" b="1" dirty="0">
                <a:latin typeface="Helvetica" pitchFamily="2" charset="0"/>
              </a:rPr>
              <a:t>with</a:t>
            </a:r>
            <a:r>
              <a:rPr kumimoji="1" lang="en-US" altLang="zh-CN" sz="2000" dirty="0">
                <a:latin typeface="Helvetica" pitchFamily="2" charset="0"/>
              </a:rPr>
              <a:t> calling dependence </a:t>
            </a:r>
            <a:r>
              <a:rPr kumimoji="1" lang="en-US" altLang="zh-CN" sz="2000" b="1" dirty="0">
                <a:latin typeface="Helvetica" pitchFamily="2" charset="0"/>
              </a:rPr>
              <a:t>cannot</a:t>
            </a:r>
            <a:r>
              <a:rPr kumimoji="1" lang="en-US" altLang="zh-CN" sz="2000" dirty="0">
                <a:latin typeface="Helvetica" pitchFamily="2" charset="0"/>
              </a:rPr>
              <a:t> be analyzed in parallel</a:t>
            </a:r>
          </a:p>
        </p:txBody>
      </p:sp>
      <p:sp>
        <p:nvSpPr>
          <p:cNvPr id="4" name="灯片编号占位符 3">
            <a:extLst>
              <a:ext uri="{FF2B5EF4-FFF2-40B4-BE49-F238E27FC236}">
                <a16:creationId xmlns:a16="http://schemas.microsoft.com/office/drawing/2014/main" id="{B18931DE-0FD4-A74F-968A-F1D156991C89}"/>
              </a:ext>
            </a:extLst>
          </p:cNvPr>
          <p:cNvSpPr>
            <a:spLocks noGrp="1"/>
          </p:cNvSpPr>
          <p:nvPr>
            <p:ph type="sldNum" sz="quarter" idx="12"/>
          </p:nvPr>
        </p:nvSpPr>
        <p:spPr/>
        <p:txBody>
          <a:bodyPr/>
          <a:lstStyle/>
          <a:p>
            <a:fld id="{C53D9380-AD50-0C4E-BD20-74B8F0FD34CE}" type="slidenum">
              <a:rPr kumimoji="1" lang="zh-CN" altLang="en-US" smtClean="0"/>
              <a:t>3</a:t>
            </a:fld>
            <a:endParaRPr kumimoji="1" lang="zh-CN" altLang="en-US"/>
          </a:p>
        </p:txBody>
      </p:sp>
      <p:pic>
        <p:nvPicPr>
          <p:cNvPr id="11" name="图片 10">
            <a:extLst>
              <a:ext uri="{FF2B5EF4-FFF2-40B4-BE49-F238E27FC236}">
                <a16:creationId xmlns:a16="http://schemas.microsoft.com/office/drawing/2014/main" id="{A03B3AD0-EDAE-4D45-B16D-7EC660AC7DC0}"/>
              </a:ext>
            </a:extLst>
          </p:cNvPr>
          <p:cNvPicPr>
            <a:picLocks noChangeAspect="1"/>
          </p:cNvPicPr>
          <p:nvPr/>
        </p:nvPicPr>
        <p:blipFill>
          <a:blip r:embed="rId4"/>
          <a:stretch>
            <a:fillRect/>
          </a:stretch>
        </p:blipFill>
        <p:spPr>
          <a:xfrm>
            <a:off x="4952413" y="4857020"/>
            <a:ext cx="5325534" cy="1553281"/>
          </a:xfrm>
          <a:prstGeom prst="rect">
            <a:avLst/>
          </a:prstGeom>
        </p:spPr>
      </p:pic>
      <p:sp>
        <p:nvSpPr>
          <p:cNvPr id="13" name="文本框 12">
            <a:extLst>
              <a:ext uri="{FF2B5EF4-FFF2-40B4-BE49-F238E27FC236}">
                <a16:creationId xmlns:a16="http://schemas.microsoft.com/office/drawing/2014/main" id="{F718AE4A-8E60-1C44-B395-03B360526FA7}"/>
              </a:ext>
            </a:extLst>
          </p:cNvPr>
          <p:cNvSpPr txBox="1"/>
          <p:nvPr/>
        </p:nvSpPr>
        <p:spPr>
          <a:xfrm>
            <a:off x="1439253" y="4558394"/>
            <a:ext cx="2413161" cy="2031325"/>
          </a:xfrm>
          <a:prstGeom prst="rect">
            <a:avLst/>
          </a:prstGeom>
          <a:noFill/>
        </p:spPr>
        <p:txBody>
          <a:bodyPr wrap="none" rtlCol="0">
            <a:spAutoFit/>
          </a:bodyPr>
          <a:lstStyle/>
          <a:p>
            <a:pPr algn="dist"/>
            <a:r>
              <a:rPr kumimoji="1" lang="en-US" altLang="zh-CN" spc="300" dirty="0">
                <a:ln w="0"/>
                <a:solidFill>
                  <a:srgbClr val="0432FF"/>
                </a:solidFill>
                <a:effectLst>
                  <a:outerShdw blurRad="38100" dist="19050" dir="2700000" algn="tl" rotWithShape="0">
                    <a:schemeClr val="dk1">
                      <a:alpha val="40000"/>
                    </a:schemeClr>
                  </a:outerShdw>
                </a:effectLst>
                <a:latin typeface="Gill Sans MT" panose="020B0502020104020203" pitchFamily="34" charset="0"/>
                <a:ea typeface="Arial Hebrew" charset="-79"/>
                <a:cs typeface="Arial Hebrew" charset="-79"/>
              </a:rPr>
              <a:t>void</a:t>
            </a:r>
            <a:r>
              <a:rPr kumimoji="1" lang="en-US" altLang="zh-CN" spc="300" dirty="0">
                <a:ln w="0"/>
                <a:effectLst>
                  <a:outerShdw blurRad="38100" dist="19050" dir="2700000" algn="tl" rotWithShape="0">
                    <a:schemeClr val="dk1">
                      <a:alpha val="40000"/>
                    </a:schemeClr>
                  </a:outerShdw>
                </a:effectLst>
                <a:latin typeface="Gill Sans MT" panose="020B0502020104020203" pitchFamily="34" charset="0"/>
                <a:ea typeface="Arial Hebrew" charset="-79"/>
                <a:cs typeface="Arial Hebrew" charset="-79"/>
              </a:rPr>
              <a:t> f() {</a:t>
            </a:r>
          </a:p>
          <a:p>
            <a:pPr algn="dist"/>
            <a:r>
              <a:rPr kumimoji="1" lang="en-US" altLang="zh-CN" spc="300" dirty="0">
                <a:ln w="0"/>
                <a:effectLst>
                  <a:outerShdw blurRad="38100" dist="19050" dir="2700000" algn="tl" rotWithShape="0">
                    <a:schemeClr val="dk1">
                      <a:alpha val="40000"/>
                    </a:schemeClr>
                  </a:outerShdw>
                </a:effectLst>
                <a:latin typeface="Gill Sans MT" panose="020B0502020104020203" pitchFamily="34" charset="0"/>
                <a:ea typeface="Arial Hebrew" charset="-79"/>
                <a:cs typeface="Arial Hebrew" charset="-79"/>
              </a:rPr>
              <a:t>    …</a:t>
            </a:r>
          </a:p>
          <a:p>
            <a:pPr algn="dist"/>
            <a:r>
              <a:rPr kumimoji="1" lang="en-US" altLang="zh-CN" spc="300" dirty="0">
                <a:ln w="0"/>
                <a:effectLst>
                  <a:outerShdw blurRad="38100" dist="19050" dir="2700000" algn="tl" rotWithShape="0">
                    <a:schemeClr val="dk1">
                      <a:alpha val="40000"/>
                    </a:schemeClr>
                  </a:outerShdw>
                </a:effectLst>
                <a:latin typeface="Gill Sans MT" panose="020B0502020104020203" pitchFamily="34" charset="0"/>
                <a:ea typeface="Arial Hebrew" charset="-79"/>
                <a:cs typeface="Arial Hebrew" charset="-79"/>
              </a:rPr>
              <a:t>    </a:t>
            </a:r>
            <a:r>
              <a:rPr kumimoji="1" lang="en-US" altLang="zh-CN" spc="300" dirty="0" err="1">
                <a:ln w="0"/>
                <a:solidFill>
                  <a:srgbClr val="0432FF"/>
                </a:solidFill>
                <a:effectLst>
                  <a:outerShdw blurRad="38100" dist="19050" dir="2700000" algn="tl" rotWithShape="0">
                    <a:schemeClr val="dk1">
                      <a:alpha val="40000"/>
                    </a:schemeClr>
                  </a:outerShdw>
                </a:effectLst>
                <a:latin typeface="Gill Sans MT" panose="020B0502020104020203" pitchFamily="34" charset="0"/>
                <a:cs typeface="Arial Hebrew" charset="-79"/>
              </a:rPr>
              <a:t>int</a:t>
            </a:r>
            <a:r>
              <a:rPr kumimoji="1" lang="en-US" altLang="zh-CN" spc="300" dirty="0">
                <a:ln w="0"/>
                <a:effectLst>
                  <a:outerShdw blurRad="38100" dist="19050" dir="2700000" algn="tl" rotWithShape="0">
                    <a:schemeClr val="dk1">
                      <a:alpha val="40000"/>
                    </a:schemeClr>
                  </a:outerShdw>
                </a:effectLst>
                <a:latin typeface="Gill Sans MT" panose="020B0502020104020203" pitchFamily="34" charset="0"/>
                <a:ea typeface="Arial Hebrew" charset="-79"/>
                <a:cs typeface="Arial Hebrew" charset="-79"/>
              </a:rPr>
              <a:t> * a = g();</a:t>
            </a:r>
          </a:p>
          <a:p>
            <a:pPr algn="dist"/>
            <a:r>
              <a:rPr kumimoji="1" lang="en-US" altLang="zh-CN" spc="300" dirty="0">
                <a:ln w="0"/>
                <a:effectLst>
                  <a:outerShdw blurRad="38100" dist="19050" dir="2700000" algn="tl" rotWithShape="0">
                    <a:schemeClr val="dk1">
                      <a:alpha val="40000"/>
                    </a:schemeClr>
                  </a:outerShdw>
                </a:effectLst>
                <a:latin typeface="Gill Sans MT" panose="020B0502020104020203" pitchFamily="34" charset="0"/>
                <a:ea typeface="Arial Hebrew" charset="-79"/>
                <a:cs typeface="Arial Hebrew" charset="-79"/>
              </a:rPr>
              <a:t>    *a = 1; </a:t>
            </a:r>
            <a:r>
              <a:rPr kumimoji="1" lang="en-US" altLang="zh-CN" spc="300" dirty="0">
                <a:ln w="0"/>
                <a:solidFill>
                  <a:srgbClr val="FF0000"/>
                </a:solidFill>
                <a:effectLst>
                  <a:outerShdw blurRad="38100" dist="19050" dir="2700000" algn="tl" rotWithShape="0">
                    <a:schemeClr val="dk1">
                      <a:alpha val="40000"/>
                    </a:schemeClr>
                  </a:outerShdw>
                </a:effectLst>
                <a:latin typeface="Gill Sans MT" panose="020B0502020104020203" pitchFamily="34" charset="0"/>
                <a:ea typeface="Arial Hebrew" charset="-79"/>
                <a:cs typeface="Arial Hebrew" charset="-79"/>
              </a:rPr>
              <a:t>//safe?</a:t>
            </a:r>
          </a:p>
          <a:p>
            <a:pPr algn="dist"/>
            <a:r>
              <a:rPr kumimoji="1" lang="en-US" altLang="zh-CN" spc="300" dirty="0">
                <a:ln w="0"/>
                <a:effectLst>
                  <a:outerShdw blurRad="38100" dist="19050" dir="2700000" algn="tl" rotWithShape="0">
                    <a:schemeClr val="dk1">
                      <a:alpha val="40000"/>
                    </a:schemeClr>
                  </a:outerShdw>
                </a:effectLst>
                <a:latin typeface="Gill Sans MT" panose="020B0502020104020203" pitchFamily="34" charset="0"/>
                <a:ea typeface="Arial Hebrew" charset="-79"/>
                <a:cs typeface="Arial Hebrew" charset="-79"/>
              </a:rPr>
              <a:t>    </a:t>
            </a:r>
            <a:r>
              <a:rPr kumimoji="1" lang="en-US" altLang="zh-CN" spc="300" dirty="0" err="1">
                <a:ln w="0"/>
                <a:solidFill>
                  <a:srgbClr val="0432FF"/>
                </a:solidFill>
                <a:effectLst>
                  <a:outerShdw blurRad="38100" dist="19050" dir="2700000" algn="tl" rotWithShape="0">
                    <a:schemeClr val="dk1">
                      <a:alpha val="40000"/>
                    </a:schemeClr>
                  </a:outerShdw>
                </a:effectLst>
                <a:latin typeface="Gill Sans MT" panose="020B0502020104020203" pitchFamily="34" charset="0"/>
                <a:cs typeface="Arial Hebrew" charset="-79"/>
              </a:rPr>
              <a:t>int</a:t>
            </a:r>
            <a:r>
              <a:rPr kumimoji="1" lang="en-US" altLang="zh-CN" spc="300" dirty="0">
                <a:ln w="0"/>
                <a:effectLst>
                  <a:outerShdw blurRad="38100" dist="19050" dir="2700000" algn="tl" rotWithShape="0">
                    <a:schemeClr val="dk1">
                      <a:alpha val="40000"/>
                    </a:schemeClr>
                  </a:outerShdw>
                </a:effectLst>
                <a:latin typeface="Gill Sans MT" panose="020B0502020104020203" pitchFamily="34" charset="0"/>
                <a:ea typeface="Arial Hebrew" charset="-79"/>
                <a:cs typeface="Arial Hebrew" charset="-79"/>
              </a:rPr>
              <a:t> * b = h();</a:t>
            </a:r>
          </a:p>
          <a:p>
            <a:pPr algn="dist"/>
            <a:r>
              <a:rPr kumimoji="1" lang="en-US" altLang="zh-CN" spc="300" dirty="0">
                <a:ln w="0"/>
                <a:effectLst>
                  <a:outerShdw blurRad="38100" dist="19050" dir="2700000" algn="tl" rotWithShape="0">
                    <a:schemeClr val="dk1">
                      <a:alpha val="40000"/>
                    </a:schemeClr>
                  </a:outerShdw>
                </a:effectLst>
                <a:latin typeface="Gill Sans MT" panose="020B0502020104020203" pitchFamily="34" charset="0"/>
                <a:ea typeface="Arial Hebrew" charset="-79"/>
                <a:cs typeface="Arial Hebrew" charset="-79"/>
              </a:rPr>
              <a:t>    *b = 1; </a:t>
            </a:r>
            <a:r>
              <a:rPr kumimoji="1" lang="en-US" altLang="zh-CN" spc="300" dirty="0">
                <a:ln w="0"/>
                <a:solidFill>
                  <a:srgbClr val="FF0000"/>
                </a:solidFill>
                <a:effectLst>
                  <a:outerShdw blurRad="38100" dist="19050" dir="2700000" algn="tl" rotWithShape="0">
                    <a:schemeClr val="dk1">
                      <a:alpha val="40000"/>
                    </a:schemeClr>
                  </a:outerShdw>
                </a:effectLst>
                <a:latin typeface="Gill Sans MT" panose="020B0502020104020203" pitchFamily="34" charset="0"/>
                <a:ea typeface="Arial Hebrew" charset="-79"/>
                <a:cs typeface="Arial Hebrew" charset="-79"/>
              </a:rPr>
              <a:t>//safe?</a:t>
            </a:r>
          </a:p>
          <a:p>
            <a:pPr algn="dist"/>
            <a:r>
              <a:rPr kumimoji="1" lang="en-US" altLang="zh-CN" spc="300" dirty="0">
                <a:ln w="0"/>
                <a:effectLst>
                  <a:outerShdw blurRad="38100" dist="19050" dir="2700000" algn="tl" rotWithShape="0">
                    <a:schemeClr val="dk1">
                      <a:alpha val="40000"/>
                    </a:schemeClr>
                  </a:outerShdw>
                </a:effectLst>
                <a:latin typeface="Gill Sans MT" panose="020B0502020104020203" pitchFamily="34" charset="0"/>
                <a:ea typeface="Arial Hebrew" charset="-79"/>
                <a:cs typeface="Arial Hebrew" charset="-79"/>
              </a:rPr>
              <a:t>}</a:t>
            </a:r>
            <a:endParaRPr kumimoji="1" lang="zh-CN" altLang="en-US" spc="300" dirty="0">
              <a:ln w="0"/>
              <a:effectLst>
                <a:outerShdw blurRad="38100" dist="19050" dir="2700000" algn="tl" rotWithShape="0">
                  <a:schemeClr val="dk1">
                    <a:alpha val="40000"/>
                  </a:schemeClr>
                </a:outerShdw>
              </a:effectLst>
              <a:latin typeface="Gill Sans MT" panose="020B0502020104020203" pitchFamily="34" charset="0"/>
              <a:ea typeface="Arial Hebrew" charset="-79"/>
              <a:cs typeface="Arial Hebrew" charset="-79"/>
            </a:endParaRPr>
          </a:p>
        </p:txBody>
      </p:sp>
      <p:grpSp>
        <p:nvGrpSpPr>
          <p:cNvPr id="14" name="组 9">
            <a:extLst>
              <a:ext uri="{FF2B5EF4-FFF2-40B4-BE49-F238E27FC236}">
                <a16:creationId xmlns:a16="http://schemas.microsoft.com/office/drawing/2014/main" id="{527982C5-C6D5-4E43-9749-4D00A1E39DF7}"/>
              </a:ext>
            </a:extLst>
          </p:cNvPr>
          <p:cNvGrpSpPr/>
          <p:nvPr/>
        </p:nvGrpSpPr>
        <p:grpSpPr>
          <a:xfrm>
            <a:off x="9483818" y="1097419"/>
            <a:ext cx="1058704" cy="1132405"/>
            <a:chOff x="4687673" y="3920868"/>
            <a:chExt cx="1498600" cy="1602924"/>
          </a:xfrm>
        </p:grpSpPr>
        <p:pic>
          <p:nvPicPr>
            <p:cNvPr id="15" name="图片 14">
              <a:extLst>
                <a:ext uri="{FF2B5EF4-FFF2-40B4-BE49-F238E27FC236}">
                  <a16:creationId xmlns:a16="http://schemas.microsoft.com/office/drawing/2014/main" id="{E37C426A-6CCA-F645-A87B-900265B57957}"/>
                </a:ext>
              </a:extLst>
            </p:cNvPr>
            <p:cNvPicPr>
              <a:picLocks noChangeAspect="1"/>
            </p:cNvPicPr>
            <p:nvPr/>
          </p:nvPicPr>
          <p:blipFill>
            <a:blip r:embed="rId5"/>
            <a:stretch>
              <a:fillRect/>
            </a:stretch>
          </p:blipFill>
          <p:spPr>
            <a:xfrm>
              <a:off x="4687673" y="3920868"/>
              <a:ext cx="1498600" cy="1397000"/>
            </a:xfrm>
            <a:prstGeom prst="rect">
              <a:avLst/>
            </a:prstGeom>
          </p:spPr>
        </p:pic>
        <p:sp>
          <p:nvSpPr>
            <p:cNvPr id="16" name="文本框 15">
              <a:extLst>
                <a:ext uri="{FF2B5EF4-FFF2-40B4-BE49-F238E27FC236}">
                  <a16:creationId xmlns:a16="http://schemas.microsoft.com/office/drawing/2014/main" id="{12C1DDAD-4290-5D4F-885D-37908775DBAD}"/>
                </a:ext>
              </a:extLst>
            </p:cNvPr>
            <p:cNvSpPr txBox="1"/>
            <p:nvPr/>
          </p:nvSpPr>
          <p:spPr>
            <a:xfrm>
              <a:off x="4993582" y="5154460"/>
              <a:ext cx="886781" cy="369332"/>
            </a:xfrm>
            <a:prstGeom prst="rect">
              <a:avLst/>
            </a:prstGeom>
            <a:noFill/>
          </p:spPr>
          <p:txBody>
            <a:bodyPr wrap="none" rtlCol="0">
              <a:spAutoFit/>
            </a:bodyPr>
            <a:lstStyle/>
            <a:p>
              <a:r>
                <a:rPr kumimoji="1" lang="en-US" altLang="zh-CN" b="1" dirty="0">
                  <a:solidFill>
                    <a:srgbClr val="0070C0"/>
                  </a:solidFill>
                </a:rPr>
                <a:t>Saturn</a:t>
              </a:r>
              <a:endParaRPr kumimoji="1" lang="zh-CN" altLang="en-US" b="1" dirty="0">
                <a:solidFill>
                  <a:srgbClr val="0070C0"/>
                </a:solidFill>
              </a:endParaRPr>
            </a:p>
          </p:txBody>
        </p:sp>
      </p:grpSp>
      <p:pic>
        <p:nvPicPr>
          <p:cNvPr id="17" name="图片 16">
            <a:extLst>
              <a:ext uri="{FF2B5EF4-FFF2-40B4-BE49-F238E27FC236}">
                <a16:creationId xmlns:a16="http://schemas.microsoft.com/office/drawing/2014/main" id="{76117C30-81BA-4240-A943-BD33B9C4A1D3}"/>
              </a:ext>
            </a:extLst>
          </p:cNvPr>
          <p:cNvPicPr>
            <a:picLocks noChangeAspect="1"/>
          </p:cNvPicPr>
          <p:nvPr/>
        </p:nvPicPr>
        <p:blipFill>
          <a:blip r:embed="rId6"/>
          <a:stretch>
            <a:fillRect/>
          </a:stretch>
        </p:blipFill>
        <p:spPr>
          <a:xfrm>
            <a:off x="10916702" y="1251061"/>
            <a:ext cx="706308" cy="970405"/>
          </a:xfrm>
          <a:prstGeom prst="rect">
            <a:avLst/>
          </a:prstGeom>
        </p:spPr>
      </p:pic>
      <p:pic>
        <p:nvPicPr>
          <p:cNvPr id="18" name="图片 17">
            <a:extLst>
              <a:ext uri="{FF2B5EF4-FFF2-40B4-BE49-F238E27FC236}">
                <a16:creationId xmlns:a16="http://schemas.microsoft.com/office/drawing/2014/main" id="{F2B7A27B-9029-3E48-97BC-76BB211CFAB9}"/>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0326408" y="2615096"/>
            <a:ext cx="1345026" cy="595213"/>
          </a:xfrm>
          <a:prstGeom prst="rect">
            <a:avLst/>
          </a:prstGeom>
        </p:spPr>
      </p:pic>
      <p:pic>
        <p:nvPicPr>
          <p:cNvPr id="19" name="图片 18">
            <a:extLst>
              <a:ext uri="{FF2B5EF4-FFF2-40B4-BE49-F238E27FC236}">
                <a16:creationId xmlns:a16="http://schemas.microsoft.com/office/drawing/2014/main" id="{935BF711-2839-B240-998E-DF49F76E856E}"/>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8346654" y="2755006"/>
            <a:ext cx="1461719" cy="315391"/>
          </a:xfrm>
          <a:prstGeom prst="rect">
            <a:avLst/>
          </a:prstGeom>
        </p:spPr>
      </p:pic>
      <p:pic>
        <p:nvPicPr>
          <p:cNvPr id="20" name="图片 19">
            <a:extLst>
              <a:ext uri="{FF2B5EF4-FFF2-40B4-BE49-F238E27FC236}">
                <a16:creationId xmlns:a16="http://schemas.microsoft.com/office/drawing/2014/main" id="{54E39007-8041-0D40-881B-D06E32D0ED10}"/>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238700" y="1507017"/>
            <a:ext cx="1031904" cy="541750"/>
          </a:xfrm>
          <a:prstGeom prst="rect">
            <a:avLst/>
          </a:prstGeom>
        </p:spPr>
      </p:pic>
      <p:sp>
        <p:nvSpPr>
          <p:cNvPr id="5" name="矩形 4">
            <a:extLst>
              <a:ext uri="{FF2B5EF4-FFF2-40B4-BE49-F238E27FC236}">
                <a16:creationId xmlns:a16="http://schemas.microsoft.com/office/drawing/2014/main" id="{CD6C67A0-E0E6-3A49-AD4E-45A63876D933}"/>
              </a:ext>
            </a:extLst>
          </p:cNvPr>
          <p:cNvSpPr/>
          <p:nvPr/>
        </p:nvSpPr>
        <p:spPr>
          <a:xfrm>
            <a:off x="6716108" y="4730196"/>
            <a:ext cx="3762703" cy="18595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custDataLst>
      <p:tags r:id="rId1"/>
    </p:custDataLst>
    <p:extLst>
      <p:ext uri="{BB962C8B-B14F-4D97-AF65-F5344CB8AC3E}">
        <p14:creationId xmlns:p14="http://schemas.microsoft.com/office/powerpoint/2010/main" val="959784900"/>
      </p:ext>
    </p:extLst>
  </p:cSld>
  <p:clrMapOvr>
    <a:masterClrMapping/>
  </p:clrMapOvr>
  <mc:AlternateContent xmlns:mc="http://schemas.openxmlformats.org/markup-compatibility/2006" xmlns:p14="http://schemas.microsoft.com/office/powerpoint/2010/main">
    <mc:Choice Requires="p14">
      <p:transition spd="slow" p14:dur="2000" advTm="117281"/>
    </mc:Choice>
    <mc:Fallback xmlns="">
      <p:transition spd="slow" advTm="11728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1B44A6-782A-E748-ACDF-CF9634E85D06}"/>
              </a:ext>
            </a:extLst>
          </p:cNvPr>
          <p:cNvSpPr>
            <a:spLocks noGrp="1"/>
          </p:cNvSpPr>
          <p:nvPr>
            <p:ph type="title"/>
          </p:nvPr>
        </p:nvSpPr>
        <p:spPr/>
        <p:txBody>
          <a:bodyPr/>
          <a:lstStyle/>
          <a:p>
            <a:r>
              <a:rPr kumimoji="1" lang="en-US" altLang="zh-CN" dirty="0"/>
              <a:t>Parallelism is Limited</a:t>
            </a:r>
            <a:endParaRPr kumimoji="1" lang="zh-CN" altLang="en-US" dirty="0"/>
          </a:p>
        </p:txBody>
      </p:sp>
      <p:sp>
        <p:nvSpPr>
          <p:cNvPr id="4" name="灯片编号占位符 3">
            <a:extLst>
              <a:ext uri="{FF2B5EF4-FFF2-40B4-BE49-F238E27FC236}">
                <a16:creationId xmlns:a16="http://schemas.microsoft.com/office/drawing/2014/main" id="{01C0FBD3-C6A6-6940-9985-7C412D0F8F08}"/>
              </a:ext>
            </a:extLst>
          </p:cNvPr>
          <p:cNvSpPr>
            <a:spLocks noGrp="1"/>
          </p:cNvSpPr>
          <p:nvPr>
            <p:ph type="sldNum" sz="quarter" idx="12"/>
          </p:nvPr>
        </p:nvSpPr>
        <p:spPr/>
        <p:txBody>
          <a:bodyPr/>
          <a:lstStyle/>
          <a:p>
            <a:fld id="{C53D9380-AD50-0C4E-BD20-74B8F0FD34CE}" type="slidenum">
              <a:rPr kumimoji="1" lang="zh-CN" altLang="en-US" smtClean="0"/>
              <a:t>4</a:t>
            </a:fld>
            <a:endParaRPr kumimoji="1" lang="zh-CN" altLang="en-US"/>
          </a:p>
        </p:txBody>
      </p:sp>
      <p:pic>
        <p:nvPicPr>
          <p:cNvPr id="5" name="内容占位符 4">
            <a:extLst>
              <a:ext uri="{FF2B5EF4-FFF2-40B4-BE49-F238E27FC236}">
                <a16:creationId xmlns:a16="http://schemas.microsoft.com/office/drawing/2014/main" id="{65BCA3C5-2C28-044D-9FBB-1E6ED2055B92}"/>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563091" y="1929026"/>
            <a:ext cx="6346825" cy="3397917"/>
          </a:xfrm>
          <a:prstGeom prst="rect">
            <a:avLst/>
          </a:prstGeom>
        </p:spPr>
      </p:pic>
      <p:sp>
        <p:nvSpPr>
          <p:cNvPr id="6" name="矩形 5">
            <a:extLst>
              <a:ext uri="{FF2B5EF4-FFF2-40B4-BE49-F238E27FC236}">
                <a16:creationId xmlns:a16="http://schemas.microsoft.com/office/drawing/2014/main" id="{CA9F015E-2BC5-1F4F-9259-EDCD7B41145F}"/>
              </a:ext>
            </a:extLst>
          </p:cNvPr>
          <p:cNvSpPr/>
          <p:nvPr/>
        </p:nvSpPr>
        <p:spPr>
          <a:xfrm>
            <a:off x="3661295" y="3704416"/>
            <a:ext cx="1895301" cy="4821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6">
            <a:extLst>
              <a:ext uri="{FF2B5EF4-FFF2-40B4-BE49-F238E27FC236}">
                <a16:creationId xmlns:a16="http://schemas.microsoft.com/office/drawing/2014/main" id="{2DCB93AC-44CA-4B4C-B55A-351666CDFE5F}"/>
              </a:ext>
            </a:extLst>
          </p:cNvPr>
          <p:cNvSpPr/>
          <p:nvPr/>
        </p:nvSpPr>
        <p:spPr>
          <a:xfrm>
            <a:off x="4345709" y="1870075"/>
            <a:ext cx="1895301" cy="4821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73086EC0-57D9-CC48-8D3C-0FD6E16BAAE2}"/>
              </a:ext>
            </a:extLst>
          </p:cNvPr>
          <p:cNvSpPr txBox="1"/>
          <p:nvPr/>
        </p:nvSpPr>
        <p:spPr>
          <a:xfrm>
            <a:off x="5033450" y="5611808"/>
            <a:ext cx="3038011" cy="338554"/>
          </a:xfrm>
          <a:prstGeom prst="rect">
            <a:avLst/>
          </a:prstGeom>
          <a:noFill/>
        </p:spPr>
        <p:txBody>
          <a:bodyPr wrap="none" rtlCol="0">
            <a:spAutoFit/>
          </a:bodyPr>
          <a:lstStyle/>
          <a:p>
            <a:r>
              <a:rPr kumimoji="1" lang="en-US" altLang="zh-CN" sz="1600" dirty="0">
                <a:solidFill>
                  <a:schemeClr val="bg1">
                    <a:lumMod val="50000"/>
                  </a:schemeClr>
                </a:solidFill>
                <a:latin typeface="Helvetica" pitchFamily="2" charset="0"/>
              </a:rPr>
              <a:t>[Scott McPeak et al. FSE 2013]</a:t>
            </a:r>
            <a:endParaRPr kumimoji="1" lang="zh-CN" altLang="en-US" sz="1600" dirty="0">
              <a:solidFill>
                <a:schemeClr val="bg1">
                  <a:lumMod val="50000"/>
                </a:schemeClr>
              </a:solidFill>
              <a:latin typeface="Helvetica" pitchFamily="2" charset="0"/>
            </a:endParaRPr>
          </a:p>
        </p:txBody>
      </p:sp>
      <p:sp>
        <p:nvSpPr>
          <p:cNvPr id="9" name="文本框 8">
            <a:extLst>
              <a:ext uri="{FF2B5EF4-FFF2-40B4-BE49-F238E27FC236}">
                <a16:creationId xmlns:a16="http://schemas.microsoft.com/office/drawing/2014/main" id="{CA5E88E8-6AB4-5B46-8790-04BF9D208F99}"/>
              </a:ext>
            </a:extLst>
          </p:cNvPr>
          <p:cNvSpPr txBox="1"/>
          <p:nvPr/>
        </p:nvSpPr>
        <p:spPr>
          <a:xfrm>
            <a:off x="7315201" y="3258652"/>
            <a:ext cx="4262705" cy="369332"/>
          </a:xfrm>
          <a:prstGeom prst="rect">
            <a:avLst/>
          </a:prstGeom>
          <a:solidFill>
            <a:schemeClr val="bg1">
              <a:lumMod val="85000"/>
            </a:schemeClr>
          </a:solidFill>
        </p:spPr>
        <p:txBody>
          <a:bodyPr wrap="none" rtlCol="0">
            <a:spAutoFit/>
          </a:bodyPr>
          <a:lstStyle/>
          <a:p>
            <a:r>
              <a:rPr kumimoji="1" lang="en-US" altLang="zh-CN" dirty="0">
                <a:latin typeface="Helvetica" pitchFamily="2" charset="0"/>
              </a:rPr>
              <a:t>Any chance to increase the parallelism?</a:t>
            </a:r>
            <a:endParaRPr kumimoji="1" lang="zh-CN" altLang="en-US" dirty="0">
              <a:latin typeface="Helvetica" pitchFamily="2" charset="0"/>
            </a:endParaRPr>
          </a:p>
        </p:txBody>
      </p:sp>
      <p:pic>
        <p:nvPicPr>
          <p:cNvPr id="10" name="图片 9">
            <a:extLst>
              <a:ext uri="{FF2B5EF4-FFF2-40B4-BE49-F238E27FC236}">
                <a16:creationId xmlns:a16="http://schemas.microsoft.com/office/drawing/2014/main" id="{1D78958D-ECC1-B345-905F-2E0853BC5596}"/>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71731" y="5634971"/>
            <a:ext cx="1461719" cy="315391"/>
          </a:xfrm>
          <a:prstGeom prst="rect">
            <a:avLst/>
          </a:prstGeom>
        </p:spPr>
      </p:pic>
      <p:pic>
        <p:nvPicPr>
          <p:cNvPr id="3" name="图片 2">
            <a:extLst>
              <a:ext uri="{FF2B5EF4-FFF2-40B4-BE49-F238E27FC236}">
                <a16:creationId xmlns:a16="http://schemas.microsoft.com/office/drawing/2014/main" id="{7B04623B-DEA6-6248-9003-8512C616024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9572887" y="365125"/>
            <a:ext cx="2076605" cy="1726178"/>
          </a:xfrm>
          <a:prstGeom prst="rect">
            <a:avLst/>
          </a:prstGeom>
        </p:spPr>
      </p:pic>
      <p:sp>
        <p:nvSpPr>
          <p:cNvPr id="11" name="矩形 10">
            <a:extLst>
              <a:ext uri="{FF2B5EF4-FFF2-40B4-BE49-F238E27FC236}">
                <a16:creationId xmlns:a16="http://schemas.microsoft.com/office/drawing/2014/main" id="{CBEADB58-1AEA-5F46-8108-8241E0594C4A}"/>
              </a:ext>
            </a:extLst>
          </p:cNvPr>
          <p:cNvSpPr/>
          <p:nvPr/>
        </p:nvSpPr>
        <p:spPr>
          <a:xfrm>
            <a:off x="9427779" y="1266875"/>
            <a:ext cx="2459421" cy="786841"/>
          </a:xfrm>
          <a:prstGeom prst="rect">
            <a:avLst/>
          </a:prstGeom>
          <a:noFill/>
          <a:ln w="158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a:extLst>
              <a:ext uri="{FF2B5EF4-FFF2-40B4-BE49-F238E27FC236}">
                <a16:creationId xmlns:a16="http://schemas.microsoft.com/office/drawing/2014/main" id="{598058C4-E918-BF4E-A295-3F437A635529}"/>
              </a:ext>
            </a:extLst>
          </p:cNvPr>
          <p:cNvSpPr/>
          <p:nvPr/>
        </p:nvSpPr>
        <p:spPr>
          <a:xfrm>
            <a:off x="9427779" y="358751"/>
            <a:ext cx="2459421" cy="786841"/>
          </a:xfrm>
          <a:prstGeom prst="rect">
            <a:avLst/>
          </a:prstGeom>
          <a:noFill/>
          <a:ln w="15875">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任意形状 13">
            <a:extLst>
              <a:ext uri="{FF2B5EF4-FFF2-40B4-BE49-F238E27FC236}">
                <a16:creationId xmlns:a16="http://schemas.microsoft.com/office/drawing/2014/main" id="{E18B2C59-5FF1-E947-BAD5-072FBC9CA46A}"/>
              </a:ext>
            </a:extLst>
          </p:cNvPr>
          <p:cNvSpPr/>
          <p:nvPr/>
        </p:nvSpPr>
        <p:spPr>
          <a:xfrm>
            <a:off x="5150069" y="2504399"/>
            <a:ext cx="1776248" cy="2488015"/>
          </a:xfrm>
          <a:custGeom>
            <a:avLst/>
            <a:gdLst>
              <a:gd name="connsiteX0" fmla="*/ 0 w 1776248"/>
              <a:gd name="connsiteY0" fmla="*/ 7573 h 2488015"/>
              <a:gd name="connsiteX1" fmla="*/ 882869 w 1776248"/>
              <a:gd name="connsiteY1" fmla="*/ 18084 h 2488015"/>
              <a:gd name="connsiteX2" fmla="*/ 1114097 w 1776248"/>
              <a:gd name="connsiteY2" fmla="*/ 165229 h 2488015"/>
              <a:gd name="connsiteX3" fmla="*/ 1229710 w 1776248"/>
              <a:gd name="connsiteY3" fmla="*/ 427987 h 2488015"/>
              <a:gd name="connsiteX4" fmla="*/ 1334814 w 1776248"/>
              <a:gd name="connsiteY4" fmla="*/ 911463 h 2488015"/>
              <a:gd name="connsiteX5" fmla="*/ 1597572 w 1776248"/>
              <a:gd name="connsiteY5" fmla="*/ 1804842 h 2488015"/>
              <a:gd name="connsiteX6" fmla="*/ 1723697 w 1776248"/>
              <a:gd name="connsiteY6" fmla="*/ 2141173 h 2488015"/>
              <a:gd name="connsiteX7" fmla="*/ 1776248 w 1776248"/>
              <a:gd name="connsiteY7" fmla="*/ 2488015 h 2488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76248" h="2488015">
                <a:moveTo>
                  <a:pt x="0" y="7573"/>
                </a:moveTo>
                <a:cubicBezTo>
                  <a:pt x="348593" y="-310"/>
                  <a:pt x="697186" y="-8192"/>
                  <a:pt x="882869" y="18084"/>
                </a:cubicBezTo>
                <a:cubicBezTo>
                  <a:pt x="1068552" y="44360"/>
                  <a:pt x="1056290" y="96912"/>
                  <a:pt x="1114097" y="165229"/>
                </a:cubicBezTo>
                <a:cubicBezTo>
                  <a:pt x="1171904" y="233546"/>
                  <a:pt x="1192924" y="303615"/>
                  <a:pt x="1229710" y="427987"/>
                </a:cubicBezTo>
                <a:cubicBezTo>
                  <a:pt x="1266496" y="552359"/>
                  <a:pt x="1273504" y="681987"/>
                  <a:pt x="1334814" y="911463"/>
                </a:cubicBezTo>
                <a:cubicBezTo>
                  <a:pt x="1396124" y="1140939"/>
                  <a:pt x="1532758" y="1599890"/>
                  <a:pt x="1597572" y="1804842"/>
                </a:cubicBezTo>
                <a:cubicBezTo>
                  <a:pt x="1662386" y="2009794"/>
                  <a:pt x="1693918" y="2027311"/>
                  <a:pt x="1723697" y="2141173"/>
                </a:cubicBezTo>
                <a:cubicBezTo>
                  <a:pt x="1753476" y="2255035"/>
                  <a:pt x="1764862" y="2371525"/>
                  <a:pt x="1776248" y="2488015"/>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custDataLst>
      <p:tags r:id="rId1"/>
    </p:custDataLst>
    <p:extLst>
      <p:ext uri="{BB962C8B-B14F-4D97-AF65-F5344CB8AC3E}">
        <p14:creationId xmlns:p14="http://schemas.microsoft.com/office/powerpoint/2010/main" val="2907896097"/>
      </p:ext>
    </p:extLst>
  </p:cSld>
  <p:clrMapOvr>
    <a:masterClrMapping/>
  </p:clrMapOvr>
  <mc:AlternateContent xmlns:mc="http://schemas.openxmlformats.org/markup-compatibility/2006" xmlns:p14="http://schemas.microsoft.com/office/powerpoint/2010/main">
    <mc:Choice Requires="p14">
      <p:transition spd="slow" p14:dur="2000" advTm="77172"/>
    </mc:Choice>
    <mc:Fallback xmlns="">
      <p:transition spd="slow" advTm="7717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88DD67-B573-F641-83B6-38F20991DB6C}"/>
              </a:ext>
            </a:extLst>
          </p:cNvPr>
          <p:cNvSpPr>
            <a:spLocks noGrp="1"/>
          </p:cNvSpPr>
          <p:nvPr>
            <p:ph type="title"/>
          </p:nvPr>
        </p:nvSpPr>
        <p:spPr/>
        <p:txBody>
          <a:bodyPr/>
          <a:lstStyle/>
          <a:p>
            <a:r>
              <a:rPr kumimoji="1" lang="en-US" altLang="zh-CN" dirty="0"/>
              <a:t>Basic Idea</a:t>
            </a:r>
            <a:endParaRPr kumimoji="1" lang="zh-CN" altLang="en-US" dirty="0"/>
          </a:p>
        </p:txBody>
      </p:sp>
      <p:sp>
        <p:nvSpPr>
          <p:cNvPr id="3" name="内容占位符 2">
            <a:extLst>
              <a:ext uri="{FF2B5EF4-FFF2-40B4-BE49-F238E27FC236}">
                <a16:creationId xmlns:a16="http://schemas.microsoft.com/office/drawing/2014/main" id="{34E9620C-EC70-C441-BE5C-068F3EBBA8ED}"/>
              </a:ext>
            </a:extLst>
          </p:cNvPr>
          <p:cNvSpPr>
            <a:spLocks noGrp="1"/>
          </p:cNvSpPr>
          <p:nvPr>
            <p:ph idx="1"/>
          </p:nvPr>
        </p:nvSpPr>
        <p:spPr/>
        <p:txBody>
          <a:bodyPr>
            <a:normAutofit fontScale="92500" lnSpcReduction="10000"/>
          </a:bodyPr>
          <a:lstStyle/>
          <a:p>
            <a:r>
              <a:rPr kumimoji="1" lang="en-US" altLang="zh-CN" sz="2600" b="1" dirty="0">
                <a:latin typeface="Helvetica" pitchFamily="2" charset="0"/>
              </a:rPr>
              <a:t>Intuition</a:t>
            </a:r>
            <a:r>
              <a:rPr kumimoji="1" lang="en-US" altLang="zh-CN" sz="2600" dirty="0">
                <a:latin typeface="Helvetica" pitchFamily="2" charset="0"/>
              </a:rPr>
              <a:t>: It is not necessary to start the analysis of a function until we get all the analysis results of its </a:t>
            </a:r>
            <a:r>
              <a:rPr kumimoji="1" lang="en-US" altLang="zh-CN" sz="2600" dirty="0" err="1">
                <a:latin typeface="Helvetica" pitchFamily="2" charset="0"/>
              </a:rPr>
              <a:t>callees</a:t>
            </a:r>
            <a:r>
              <a:rPr kumimoji="1" lang="en-US" altLang="zh-CN" sz="2600" dirty="0">
                <a:latin typeface="Helvetica" pitchFamily="2" charset="0"/>
              </a:rPr>
              <a:t>.</a:t>
            </a:r>
          </a:p>
          <a:p>
            <a:endParaRPr kumimoji="1" lang="en-US" altLang="zh-CN" dirty="0">
              <a:latin typeface="Helvetica" pitchFamily="2" charset="0"/>
            </a:endParaRPr>
          </a:p>
          <a:p>
            <a:r>
              <a:rPr kumimoji="1" lang="en-US" altLang="zh-CN" sz="2600" b="1" dirty="0">
                <a:latin typeface="Helvetica" pitchFamily="2" charset="0"/>
              </a:rPr>
              <a:t>Basic Idea</a:t>
            </a:r>
            <a:r>
              <a:rPr kumimoji="1" lang="en-US" altLang="zh-CN" sz="2600" dirty="0">
                <a:latin typeface="Helvetica" pitchFamily="2" charset="0"/>
              </a:rPr>
              <a:t>: Relaxing the calling dependence</a:t>
            </a:r>
          </a:p>
          <a:p>
            <a:endParaRPr kumimoji="1" lang="en-US" altLang="zh-CN" dirty="0">
              <a:latin typeface="Helvetica" pitchFamily="2" charset="0"/>
            </a:endParaRPr>
          </a:p>
          <a:p>
            <a:pPr marL="0" indent="0">
              <a:buNone/>
            </a:pPr>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r>
              <a:rPr kumimoji="1" lang="en-US" altLang="zh-CN" sz="2600" b="1" dirty="0">
                <a:latin typeface="Helvetica" pitchFamily="2" charset="0"/>
              </a:rPr>
              <a:t>The problem to solve</a:t>
            </a:r>
            <a:r>
              <a:rPr kumimoji="1" lang="en-US" altLang="zh-CN" sz="2600" dirty="0">
                <a:latin typeface="Helvetica" pitchFamily="2" charset="0"/>
              </a:rPr>
              <a:t>: the partition criteria.</a:t>
            </a:r>
            <a:endParaRPr kumimoji="1" lang="zh-CN" altLang="en-US" sz="2600" dirty="0">
              <a:latin typeface="Helvetica" pitchFamily="2" charset="0"/>
            </a:endParaRPr>
          </a:p>
        </p:txBody>
      </p:sp>
      <p:sp>
        <p:nvSpPr>
          <p:cNvPr id="4" name="灯片编号占位符 3">
            <a:extLst>
              <a:ext uri="{FF2B5EF4-FFF2-40B4-BE49-F238E27FC236}">
                <a16:creationId xmlns:a16="http://schemas.microsoft.com/office/drawing/2014/main" id="{F9A73EAB-8D83-C141-B0E9-6C3346040CDF}"/>
              </a:ext>
            </a:extLst>
          </p:cNvPr>
          <p:cNvSpPr>
            <a:spLocks noGrp="1"/>
          </p:cNvSpPr>
          <p:nvPr>
            <p:ph type="sldNum" sz="quarter" idx="12"/>
          </p:nvPr>
        </p:nvSpPr>
        <p:spPr/>
        <p:txBody>
          <a:bodyPr/>
          <a:lstStyle/>
          <a:p>
            <a:fld id="{C53D9380-AD50-0C4E-BD20-74B8F0FD34CE}" type="slidenum">
              <a:rPr kumimoji="1" lang="zh-CN" altLang="en-US" smtClean="0"/>
              <a:t>5</a:t>
            </a:fld>
            <a:endParaRPr kumimoji="1" lang="zh-CN" altLang="en-US"/>
          </a:p>
        </p:txBody>
      </p:sp>
      <p:pic>
        <p:nvPicPr>
          <p:cNvPr id="7" name="图片 6">
            <a:extLst>
              <a:ext uri="{FF2B5EF4-FFF2-40B4-BE49-F238E27FC236}">
                <a16:creationId xmlns:a16="http://schemas.microsoft.com/office/drawing/2014/main" id="{D56A3CA8-AFD6-C442-8A40-DF90F4048F67}"/>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l="24513" r="23691"/>
          <a:stretch/>
        </p:blipFill>
        <p:spPr>
          <a:xfrm>
            <a:off x="6773334" y="3769063"/>
            <a:ext cx="2483480" cy="1260000"/>
          </a:xfrm>
          <a:prstGeom prst="rect">
            <a:avLst/>
          </a:prstGeom>
        </p:spPr>
      </p:pic>
      <p:pic>
        <p:nvPicPr>
          <p:cNvPr id="8" name="图片 7">
            <a:extLst>
              <a:ext uri="{FF2B5EF4-FFF2-40B4-BE49-F238E27FC236}">
                <a16:creationId xmlns:a16="http://schemas.microsoft.com/office/drawing/2014/main" id="{7AFEDC01-B269-CD46-961F-5440DF28AD69}"/>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l="33068"/>
          <a:stretch/>
        </p:blipFill>
        <p:spPr>
          <a:xfrm>
            <a:off x="2675466" y="3769063"/>
            <a:ext cx="2891446" cy="1260000"/>
          </a:xfrm>
          <a:prstGeom prst="rect">
            <a:avLst/>
          </a:prstGeom>
        </p:spPr>
      </p:pic>
      <p:sp>
        <p:nvSpPr>
          <p:cNvPr id="9" name="右箭头 8">
            <a:extLst>
              <a:ext uri="{FF2B5EF4-FFF2-40B4-BE49-F238E27FC236}">
                <a16:creationId xmlns:a16="http://schemas.microsoft.com/office/drawing/2014/main" id="{1E8644EE-C535-5345-A9E2-06604CDC98D9}"/>
              </a:ext>
            </a:extLst>
          </p:cNvPr>
          <p:cNvSpPr/>
          <p:nvPr/>
        </p:nvSpPr>
        <p:spPr>
          <a:xfrm>
            <a:off x="6045202" y="4109934"/>
            <a:ext cx="228600" cy="289129"/>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ustDataLst>
      <p:tags r:id="rId1"/>
    </p:custDataLst>
    <p:extLst>
      <p:ext uri="{BB962C8B-B14F-4D97-AF65-F5344CB8AC3E}">
        <p14:creationId xmlns:p14="http://schemas.microsoft.com/office/powerpoint/2010/main" val="2628345662"/>
      </p:ext>
    </p:extLst>
  </p:cSld>
  <p:clrMapOvr>
    <a:masterClrMapping/>
  </p:clrMapOvr>
  <mc:AlternateContent xmlns:mc="http://schemas.openxmlformats.org/markup-compatibility/2006" xmlns:p14="http://schemas.microsoft.com/office/powerpoint/2010/main">
    <mc:Choice Requires="p14">
      <p:transition spd="slow" p14:dur="2000" advTm="46675"/>
    </mc:Choice>
    <mc:Fallback xmlns="">
      <p:transition spd="slow" advTm="4667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53C57B-D091-1044-BDB0-6D6857F905F8}"/>
              </a:ext>
            </a:extLst>
          </p:cNvPr>
          <p:cNvSpPr>
            <a:spLocks noGrp="1"/>
          </p:cNvSpPr>
          <p:nvPr>
            <p:ph type="title"/>
          </p:nvPr>
        </p:nvSpPr>
        <p:spPr/>
        <p:txBody>
          <a:bodyPr/>
          <a:lstStyle/>
          <a:p>
            <a:r>
              <a:rPr kumimoji="1" lang="en-US" altLang="zh-CN" dirty="0"/>
              <a:t>Function Summaries</a:t>
            </a:r>
            <a:endParaRPr kumimoji="1" lang="zh-CN" altLang="en-US" dirty="0"/>
          </a:p>
        </p:txBody>
      </p:sp>
      <p:sp>
        <p:nvSpPr>
          <p:cNvPr id="3" name="内容占位符 2">
            <a:extLst>
              <a:ext uri="{FF2B5EF4-FFF2-40B4-BE49-F238E27FC236}">
                <a16:creationId xmlns:a16="http://schemas.microsoft.com/office/drawing/2014/main" id="{E025228C-5A66-F34D-9009-95636B5AA9BD}"/>
              </a:ext>
            </a:extLst>
          </p:cNvPr>
          <p:cNvSpPr>
            <a:spLocks noGrp="1"/>
          </p:cNvSpPr>
          <p:nvPr>
            <p:ph idx="1"/>
          </p:nvPr>
        </p:nvSpPr>
        <p:spPr>
          <a:xfrm>
            <a:off x="838200" y="1825625"/>
            <a:ext cx="10515600" cy="4895850"/>
          </a:xfrm>
        </p:spPr>
        <p:txBody>
          <a:bodyPr>
            <a:normAutofit/>
          </a:bodyPr>
          <a:lstStyle/>
          <a:p>
            <a:r>
              <a:rPr kumimoji="1" lang="en-US" altLang="zh-CN" sz="2400" dirty="0">
                <a:latin typeface="Helvetica" pitchFamily="2" charset="0"/>
              </a:rPr>
              <a:t>Example: tracking value flow of null pointers</a:t>
            </a: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pPr marL="0" indent="0">
              <a:buNone/>
            </a:pPr>
            <a:endParaRPr kumimoji="1" lang="en-US" altLang="zh-CN" dirty="0">
              <a:latin typeface="Helvetica" pitchFamily="2" charset="0"/>
            </a:endParaRPr>
          </a:p>
          <a:p>
            <a:pPr lvl="1"/>
            <a:r>
              <a:rPr kumimoji="1" lang="en-US" altLang="zh-CN" sz="1900" dirty="0">
                <a:latin typeface="Helvetica" pitchFamily="2" charset="0"/>
              </a:rPr>
              <a:t>Function summaries to generate for foo:</a:t>
            </a:r>
          </a:p>
          <a:p>
            <a:pPr lvl="1"/>
            <a:endParaRPr kumimoji="1" lang="en-US" altLang="zh-CN" sz="1900" dirty="0">
              <a:latin typeface="Helvetica" pitchFamily="2" charset="0"/>
            </a:endParaRPr>
          </a:p>
          <a:p>
            <a:pPr lvl="2"/>
            <a:r>
              <a:rPr kumimoji="1" lang="en-US" altLang="zh-CN" sz="1900" dirty="0">
                <a:latin typeface="Helvetica" pitchFamily="2" charset="0"/>
              </a:rPr>
              <a:t>Type I: value flow starting from a parameter, e.g., p</a:t>
            </a:r>
          </a:p>
          <a:p>
            <a:pPr lvl="2"/>
            <a:endParaRPr kumimoji="1" lang="en-US" altLang="zh-CN" sz="1900" dirty="0">
              <a:latin typeface="Helvetica" pitchFamily="2" charset="0"/>
            </a:endParaRPr>
          </a:p>
          <a:p>
            <a:pPr lvl="2"/>
            <a:r>
              <a:rPr kumimoji="1" lang="en-US" altLang="zh-CN" sz="1900" dirty="0">
                <a:latin typeface="Helvetica" pitchFamily="2" charset="0"/>
              </a:rPr>
              <a:t>Type II: value flow starting from a </a:t>
            </a:r>
            <a:r>
              <a:rPr kumimoji="1" lang="en-US" altLang="zh-CN" sz="1900" dirty="0" err="1">
                <a:latin typeface="Helvetica" pitchFamily="2" charset="0"/>
              </a:rPr>
              <a:t>nullptr</a:t>
            </a:r>
            <a:r>
              <a:rPr kumimoji="1" lang="en-US" altLang="zh-CN" sz="1900" dirty="0">
                <a:latin typeface="Helvetica" pitchFamily="2" charset="0"/>
              </a:rPr>
              <a:t> in the current function, e.g., q</a:t>
            </a:r>
          </a:p>
          <a:p>
            <a:pPr lvl="2"/>
            <a:endParaRPr kumimoji="1" lang="en-US" altLang="zh-CN" sz="1900" dirty="0">
              <a:latin typeface="Helvetica" pitchFamily="2" charset="0"/>
            </a:endParaRPr>
          </a:p>
          <a:p>
            <a:pPr lvl="2"/>
            <a:r>
              <a:rPr kumimoji="1" lang="en-US" altLang="zh-CN" sz="1900" dirty="0">
                <a:latin typeface="Helvetica" pitchFamily="2" charset="0"/>
              </a:rPr>
              <a:t>Type III: value flow starting from a </a:t>
            </a:r>
            <a:r>
              <a:rPr kumimoji="1" lang="en-US" altLang="zh-CN" sz="1900" dirty="0" err="1">
                <a:latin typeface="Helvetica" pitchFamily="2" charset="0"/>
              </a:rPr>
              <a:t>nullptr</a:t>
            </a:r>
            <a:r>
              <a:rPr kumimoji="1" lang="en-US" altLang="zh-CN" sz="1900" dirty="0">
                <a:latin typeface="Helvetica" pitchFamily="2" charset="0"/>
              </a:rPr>
              <a:t> returned by a </a:t>
            </a:r>
            <a:r>
              <a:rPr kumimoji="1" lang="en-US" altLang="zh-CN" sz="1900" dirty="0" err="1">
                <a:latin typeface="Helvetica" pitchFamily="2" charset="0"/>
              </a:rPr>
              <a:t>callee</a:t>
            </a:r>
            <a:r>
              <a:rPr kumimoji="1" lang="en-US" altLang="zh-CN" sz="1900" dirty="0">
                <a:latin typeface="Helvetica" pitchFamily="2" charset="0"/>
              </a:rPr>
              <a:t>, e.g., r</a:t>
            </a:r>
            <a:endParaRPr kumimoji="1" lang="zh-CN" altLang="en-US" sz="1800" dirty="0">
              <a:latin typeface="Helvetica" pitchFamily="2" charset="0"/>
            </a:endParaRPr>
          </a:p>
        </p:txBody>
      </p:sp>
      <p:sp>
        <p:nvSpPr>
          <p:cNvPr id="4" name="灯片编号占位符 3">
            <a:extLst>
              <a:ext uri="{FF2B5EF4-FFF2-40B4-BE49-F238E27FC236}">
                <a16:creationId xmlns:a16="http://schemas.microsoft.com/office/drawing/2014/main" id="{BBED17F6-9D90-EA41-80FA-71B92B21E0CE}"/>
              </a:ext>
            </a:extLst>
          </p:cNvPr>
          <p:cNvSpPr>
            <a:spLocks noGrp="1"/>
          </p:cNvSpPr>
          <p:nvPr>
            <p:ph type="sldNum" sz="quarter" idx="12"/>
          </p:nvPr>
        </p:nvSpPr>
        <p:spPr/>
        <p:txBody>
          <a:bodyPr/>
          <a:lstStyle/>
          <a:p>
            <a:fld id="{C53D9380-AD50-0C4E-BD20-74B8F0FD34CE}" type="slidenum">
              <a:rPr kumimoji="1" lang="zh-CN" altLang="en-US" smtClean="0"/>
              <a:t>6</a:t>
            </a:fld>
            <a:endParaRPr kumimoji="1" lang="zh-CN" altLang="en-US"/>
          </a:p>
        </p:txBody>
      </p:sp>
      <p:sp>
        <p:nvSpPr>
          <p:cNvPr id="5" name="文本框 4">
            <a:extLst>
              <a:ext uri="{FF2B5EF4-FFF2-40B4-BE49-F238E27FC236}">
                <a16:creationId xmlns:a16="http://schemas.microsoft.com/office/drawing/2014/main" id="{8D8B7CB7-E401-3849-83C1-443A3070E4B5}"/>
              </a:ext>
            </a:extLst>
          </p:cNvPr>
          <p:cNvSpPr txBox="1"/>
          <p:nvPr/>
        </p:nvSpPr>
        <p:spPr>
          <a:xfrm>
            <a:off x="2246586" y="2334751"/>
            <a:ext cx="2264659" cy="1754326"/>
          </a:xfrm>
          <a:prstGeom prst="rect">
            <a:avLst/>
          </a:prstGeom>
          <a:noFill/>
        </p:spPr>
        <p:txBody>
          <a:bodyPr wrap="none" rtlCol="0">
            <a:spAutoFit/>
          </a:bodyPr>
          <a:lstStyle/>
          <a:p>
            <a:pPr>
              <a:buClr>
                <a:schemeClr val="tx1"/>
              </a:buClr>
            </a:pPr>
            <a:r>
              <a:rPr kumimoji="1" lang="en-US" altLang="zh-CN" spc="80" dirty="0">
                <a:solidFill>
                  <a:srgbClr val="0432FF"/>
                </a:solidFill>
                <a:latin typeface="Gill Sans MT" panose="020B0502020104020203" pitchFamily="34" charset="0"/>
                <a:ea typeface="Arial Hebrew" charset="-79"/>
                <a:cs typeface="Arial Hebrew" charset="-79"/>
              </a:rPr>
              <a:t>void</a:t>
            </a:r>
            <a:r>
              <a:rPr kumimoji="1" lang="en-US" altLang="zh-CN" spc="80" dirty="0">
                <a:latin typeface="Gill Sans MT" panose="020B0502020104020203" pitchFamily="34" charset="0"/>
                <a:ea typeface="Arial Hebrew" charset="-79"/>
                <a:cs typeface="Arial Hebrew" charset="-79"/>
              </a:rPr>
              <a:t> foo (</a:t>
            </a:r>
            <a:r>
              <a:rPr kumimoji="1" lang="en-US" altLang="zh-CN" spc="80" dirty="0" err="1">
                <a:solidFill>
                  <a:srgbClr val="0432FF"/>
                </a:solidFill>
                <a:latin typeface="Gill Sans MT" panose="020B0502020104020203" pitchFamily="34" charset="0"/>
                <a:ea typeface="Arial Hebrew" charset="-79"/>
                <a:cs typeface="Arial Hebrew" charset="-79"/>
              </a:rPr>
              <a:t>int</a:t>
            </a:r>
            <a:r>
              <a:rPr kumimoji="1" lang="en-US" altLang="zh-CN" spc="80" dirty="0">
                <a:latin typeface="Gill Sans MT" panose="020B0502020104020203" pitchFamily="34" charset="0"/>
                <a:ea typeface="Arial Hebrew" charset="-79"/>
                <a:cs typeface="Arial Hebrew" charset="-79"/>
              </a:rPr>
              <a:t>* p) {  </a:t>
            </a:r>
            <a:endParaRPr kumimoji="1" lang="en-US" altLang="zh-CN" spc="80" dirty="0">
              <a:solidFill>
                <a:srgbClr val="FF0000"/>
              </a:solidFill>
              <a:latin typeface="Gill Sans MT" panose="020B0502020104020203" pitchFamily="34" charset="0"/>
              <a:ea typeface="Arial Hebrew" charset="-79"/>
              <a:cs typeface="Arial Hebrew" charset="-79"/>
            </a:endParaRPr>
          </a:p>
          <a:p>
            <a:pPr>
              <a:buClr>
                <a:schemeClr val="tx1"/>
              </a:buClr>
            </a:pPr>
            <a:r>
              <a:rPr kumimoji="1" lang="en-US" altLang="zh-CN" spc="80" dirty="0">
                <a:latin typeface="Gill Sans MT" panose="020B0502020104020203" pitchFamily="34" charset="0"/>
                <a:ea typeface="Arial Hebrew" charset="-79"/>
                <a:cs typeface="Arial Hebrew" charset="-79"/>
              </a:rPr>
              <a:t>      </a:t>
            </a:r>
            <a:r>
              <a:rPr kumimoji="1" lang="en-US" altLang="zh-CN" spc="80" dirty="0" err="1">
                <a:solidFill>
                  <a:srgbClr val="0432FF"/>
                </a:solidFill>
                <a:latin typeface="Gill Sans MT" panose="020B0502020104020203" pitchFamily="34" charset="0"/>
                <a:ea typeface="Arial Hebrew" charset="-79"/>
                <a:cs typeface="Arial Hebrew" charset="-79"/>
              </a:rPr>
              <a:t>int</a:t>
            </a:r>
            <a:r>
              <a:rPr kumimoji="1" lang="en-US" altLang="zh-CN" spc="80" dirty="0">
                <a:latin typeface="Gill Sans MT" panose="020B0502020104020203" pitchFamily="34" charset="0"/>
                <a:ea typeface="Arial Hebrew" charset="-79"/>
                <a:cs typeface="Arial Hebrew" charset="-79"/>
              </a:rPr>
              <a:t>* q = </a:t>
            </a:r>
            <a:r>
              <a:rPr kumimoji="1" lang="en-US" altLang="zh-CN" spc="80" dirty="0" err="1">
                <a:latin typeface="Gill Sans MT" panose="020B0502020104020203" pitchFamily="34" charset="0"/>
                <a:ea typeface="Arial Hebrew" charset="-79"/>
                <a:cs typeface="Arial Hebrew" charset="-79"/>
              </a:rPr>
              <a:t>nullptr</a:t>
            </a:r>
            <a:r>
              <a:rPr kumimoji="1" lang="en-US" altLang="zh-CN" spc="80" dirty="0">
                <a:latin typeface="Gill Sans MT" panose="020B0502020104020203" pitchFamily="34" charset="0"/>
                <a:ea typeface="Arial Hebrew" charset="-79"/>
                <a:cs typeface="Arial Hebrew" charset="-79"/>
              </a:rPr>
              <a:t>;</a:t>
            </a:r>
          </a:p>
          <a:p>
            <a:pPr>
              <a:buClr>
                <a:schemeClr val="tx1"/>
              </a:buClr>
            </a:pPr>
            <a:r>
              <a:rPr kumimoji="1" lang="en-US" altLang="zh-CN" spc="80" dirty="0">
                <a:latin typeface="Gill Sans MT" panose="020B0502020104020203" pitchFamily="34" charset="0"/>
                <a:ea typeface="Arial Hebrew" charset="-79"/>
                <a:cs typeface="Arial Hebrew" charset="-79"/>
              </a:rPr>
              <a:t>      …</a:t>
            </a:r>
          </a:p>
          <a:p>
            <a:pPr>
              <a:buClr>
                <a:schemeClr val="tx1"/>
              </a:buClr>
            </a:pPr>
            <a:r>
              <a:rPr kumimoji="1" lang="en-US" altLang="zh-CN" spc="80" dirty="0">
                <a:latin typeface="Gill Sans MT" panose="020B0502020104020203" pitchFamily="34" charset="0"/>
                <a:ea typeface="Arial Hebrew" charset="-79"/>
                <a:cs typeface="Arial Hebrew" charset="-79"/>
              </a:rPr>
              <a:t>      </a:t>
            </a:r>
            <a:r>
              <a:rPr kumimoji="1" lang="en-US" altLang="zh-CN" spc="80" dirty="0" err="1">
                <a:solidFill>
                  <a:srgbClr val="0432FF"/>
                </a:solidFill>
                <a:latin typeface="Gill Sans MT" panose="020B0502020104020203" pitchFamily="34" charset="0"/>
                <a:ea typeface="Arial Hebrew" charset="-79"/>
                <a:cs typeface="Arial Hebrew" charset="-79"/>
              </a:rPr>
              <a:t>int</a:t>
            </a:r>
            <a:r>
              <a:rPr kumimoji="1" lang="en-US" altLang="zh-CN" spc="80" dirty="0">
                <a:latin typeface="Gill Sans MT" panose="020B0502020104020203" pitchFamily="34" charset="0"/>
                <a:ea typeface="Arial Hebrew" charset="-79"/>
                <a:cs typeface="Arial Hebrew" charset="-79"/>
              </a:rPr>
              <a:t>* r = bar();</a:t>
            </a:r>
          </a:p>
          <a:p>
            <a:pPr>
              <a:buClr>
                <a:schemeClr val="tx1"/>
              </a:buClr>
            </a:pPr>
            <a:r>
              <a:rPr kumimoji="1" lang="en-US" altLang="zh-CN" spc="80" dirty="0">
                <a:latin typeface="Gill Sans MT" panose="020B0502020104020203" pitchFamily="34" charset="0"/>
                <a:ea typeface="Arial Hebrew" charset="-79"/>
                <a:cs typeface="Arial Hebrew" charset="-79"/>
              </a:rPr>
              <a:t>      …</a:t>
            </a:r>
          </a:p>
          <a:p>
            <a:pPr>
              <a:buClr>
                <a:schemeClr val="tx1"/>
              </a:buClr>
            </a:pPr>
            <a:r>
              <a:rPr kumimoji="1" lang="en-US" altLang="zh-CN" spc="80" dirty="0">
                <a:latin typeface="Gill Sans MT" panose="020B0502020104020203" pitchFamily="34" charset="0"/>
                <a:ea typeface="Arial Hebrew" charset="-79"/>
                <a:cs typeface="Arial Hebrew" charset="-79"/>
              </a:rPr>
              <a:t>}</a:t>
            </a:r>
          </a:p>
        </p:txBody>
      </p:sp>
      <p:sp>
        <p:nvSpPr>
          <p:cNvPr id="6" name="矩形 5">
            <a:extLst>
              <a:ext uri="{FF2B5EF4-FFF2-40B4-BE49-F238E27FC236}">
                <a16:creationId xmlns:a16="http://schemas.microsoft.com/office/drawing/2014/main" id="{2E143E95-F0FC-CC4B-B322-14C22A8E2722}"/>
              </a:ext>
            </a:extLst>
          </p:cNvPr>
          <p:cNvSpPr/>
          <p:nvPr/>
        </p:nvSpPr>
        <p:spPr>
          <a:xfrm>
            <a:off x="4511245" y="2334751"/>
            <a:ext cx="3273076" cy="369332"/>
          </a:xfrm>
          <a:prstGeom prst="rect">
            <a:avLst/>
          </a:prstGeom>
        </p:spPr>
        <p:txBody>
          <a:bodyPr wrap="none">
            <a:spAutoFit/>
          </a:bodyPr>
          <a:lstStyle/>
          <a:p>
            <a:r>
              <a:rPr kumimoji="1" lang="en-US" altLang="zh-CN" spc="80" dirty="0">
                <a:solidFill>
                  <a:srgbClr val="FF0000"/>
                </a:solidFill>
                <a:latin typeface="Gill Sans MT" panose="020B0502020104020203" pitchFamily="34" charset="0"/>
                <a:ea typeface="Arial Hebrew" charset="-79"/>
                <a:cs typeface="Arial Hebrew" charset="-79"/>
              </a:rPr>
              <a:t>// </a:t>
            </a:r>
            <a:r>
              <a:rPr kumimoji="1" lang="en-US" altLang="zh-CN" spc="80" dirty="0" err="1">
                <a:solidFill>
                  <a:srgbClr val="FF0000"/>
                </a:solidFill>
                <a:latin typeface="Gill Sans MT" panose="020B0502020104020203" pitchFamily="34" charset="0"/>
                <a:ea typeface="Arial Hebrew" charset="-79"/>
                <a:cs typeface="Arial Hebrew" charset="-79"/>
              </a:rPr>
              <a:t>nullptr</a:t>
            </a:r>
            <a:r>
              <a:rPr kumimoji="1" lang="en-US" altLang="zh-CN" spc="80" dirty="0">
                <a:solidFill>
                  <a:srgbClr val="FF0000"/>
                </a:solidFill>
                <a:latin typeface="Gill Sans MT" panose="020B0502020104020203" pitchFamily="34" charset="0"/>
                <a:ea typeface="Arial Hebrew" charset="-79"/>
                <a:cs typeface="Arial Hebrew" charset="-79"/>
              </a:rPr>
              <a:t> may be from a caller</a:t>
            </a:r>
            <a:endParaRPr lang="zh-CN" altLang="en-US" dirty="0"/>
          </a:p>
        </p:txBody>
      </p:sp>
      <p:sp>
        <p:nvSpPr>
          <p:cNvPr id="7" name="矩形 6">
            <a:extLst>
              <a:ext uri="{FF2B5EF4-FFF2-40B4-BE49-F238E27FC236}">
                <a16:creationId xmlns:a16="http://schemas.microsoft.com/office/drawing/2014/main" id="{75BAB4EB-8015-8840-98CE-ADBEEE896466}"/>
              </a:ext>
            </a:extLst>
          </p:cNvPr>
          <p:cNvSpPr/>
          <p:nvPr/>
        </p:nvSpPr>
        <p:spPr>
          <a:xfrm>
            <a:off x="4511245" y="2654354"/>
            <a:ext cx="4617226" cy="369332"/>
          </a:xfrm>
          <a:prstGeom prst="rect">
            <a:avLst/>
          </a:prstGeom>
        </p:spPr>
        <p:txBody>
          <a:bodyPr wrap="none">
            <a:spAutoFit/>
          </a:bodyPr>
          <a:lstStyle/>
          <a:p>
            <a:r>
              <a:rPr kumimoji="1" lang="en-US" altLang="zh-CN" spc="80" dirty="0">
                <a:solidFill>
                  <a:srgbClr val="FF0000"/>
                </a:solidFill>
                <a:latin typeface="Gill Sans MT" panose="020B0502020104020203" pitchFamily="34" charset="0"/>
                <a:ea typeface="Arial Hebrew" charset="-79"/>
                <a:cs typeface="Arial Hebrew" charset="-79"/>
              </a:rPr>
              <a:t>// </a:t>
            </a:r>
            <a:r>
              <a:rPr kumimoji="1" lang="en-US" altLang="zh-CN" spc="80" dirty="0" err="1">
                <a:solidFill>
                  <a:srgbClr val="FF0000"/>
                </a:solidFill>
                <a:latin typeface="Gill Sans MT" panose="020B0502020104020203" pitchFamily="34" charset="0"/>
                <a:ea typeface="Arial Hebrew" charset="-79"/>
                <a:cs typeface="Arial Hebrew" charset="-79"/>
              </a:rPr>
              <a:t>nullptr</a:t>
            </a:r>
            <a:r>
              <a:rPr kumimoji="1" lang="en-US" altLang="zh-CN" spc="80" dirty="0">
                <a:solidFill>
                  <a:srgbClr val="FF0000"/>
                </a:solidFill>
                <a:latin typeface="Gill Sans MT" panose="020B0502020104020203" pitchFamily="34" charset="0"/>
                <a:ea typeface="Arial Hebrew" charset="-79"/>
                <a:cs typeface="Arial Hebrew" charset="-79"/>
              </a:rPr>
              <a:t> may be from the current function</a:t>
            </a:r>
            <a:endParaRPr lang="zh-CN" altLang="en-US" dirty="0"/>
          </a:p>
        </p:txBody>
      </p:sp>
      <p:sp>
        <p:nvSpPr>
          <p:cNvPr id="8" name="矩形 7">
            <a:extLst>
              <a:ext uri="{FF2B5EF4-FFF2-40B4-BE49-F238E27FC236}">
                <a16:creationId xmlns:a16="http://schemas.microsoft.com/office/drawing/2014/main" id="{2ECC3073-508E-6243-9CF0-09CF71686047}"/>
              </a:ext>
            </a:extLst>
          </p:cNvPr>
          <p:cNvSpPr/>
          <p:nvPr/>
        </p:nvSpPr>
        <p:spPr>
          <a:xfrm>
            <a:off x="4511245" y="3187049"/>
            <a:ext cx="3292312" cy="369332"/>
          </a:xfrm>
          <a:prstGeom prst="rect">
            <a:avLst/>
          </a:prstGeom>
        </p:spPr>
        <p:txBody>
          <a:bodyPr wrap="none">
            <a:spAutoFit/>
          </a:bodyPr>
          <a:lstStyle/>
          <a:p>
            <a:r>
              <a:rPr kumimoji="1" lang="en-US" altLang="zh-CN" spc="80" dirty="0">
                <a:solidFill>
                  <a:srgbClr val="FF0000"/>
                </a:solidFill>
                <a:latin typeface="Gill Sans MT" panose="020B0502020104020203" pitchFamily="34" charset="0"/>
                <a:ea typeface="Arial Hebrew" charset="-79"/>
                <a:cs typeface="Arial Hebrew" charset="-79"/>
              </a:rPr>
              <a:t>// </a:t>
            </a:r>
            <a:r>
              <a:rPr kumimoji="1" lang="en-US" altLang="zh-CN" spc="80" dirty="0" err="1">
                <a:solidFill>
                  <a:srgbClr val="FF0000"/>
                </a:solidFill>
                <a:latin typeface="Gill Sans MT" panose="020B0502020104020203" pitchFamily="34" charset="0"/>
                <a:ea typeface="Arial Hebrew" charset="-79"/>
                <a:cs typeface="Arial Hebrew" charset="-79"/>
              </a:rPr>
              <a:t>nullptr</a:t>
            </a:r>
            <a:r>
              <a:rPr kumimoji="1" lang="en-US" altLang="zh-CN" spc="80" dirty="0">
                <a:solidFill>
                  <a:srgbClr val="FF0000"/>
                </a:solidFill>
                <a:latin typeface="Gill Sans MT" panose="020B0502020104020203" pitchFamily="34" charset="0"/>
                <a:ea typeface="Arial Hebrew" charset="-79"/>
                <a:cs typeface="Arial Hebrew" charset="-79"/>
              </a:rPr>
              <a:t> may be from a </a:t>
            </a:r>
            <a:r>
              <a:rPr kumimoji="1" lang="en-US" altLang="zh-CN" spc="80" dirty="0" err="1">
                <a:solidFill>
                  <a:srgbClr val="FF0000"/>
                </a:solidFill>
                <a:latin typeface="Gill Sans MT" panose="020B0502020104020203" pitchFamily="34" charset="0"/>
                <a:ea typeface="Arial Hebrew" charset="-79"/>
                <a:cs typeface="Arial Hebrew" charset="-79"/>
              </a:rPr>
              <a:t>callee</a:t>
            </a:r>
            <a:endParaRPr lang="zh-CN" altLang="en-US" dirty="0"/>
          </a:p>
        </p:txBody>
      </p:sp>
    </p:spTree>
    <p:custDataLst>
      <p:tags r:id="rId1"/>
    </p:custDataLst>
    <p:extLst>
      <p:ext uri="{BB962C8B-B14F-4D97-AF65-F5344CB8AC3E}">
        <p14:creationId xmlns:p14="http://schemas.microsoft.com/office/powerpoint/2010/main" val="1595985830"/>
      </p:ext>
    </p:extLst>
  </p:cSld>
  <p:clrMapOvr>
    <a:masterClrMapping/>
  </p:clrMapOvr>
  <mc:AlternateContent xmlns:mc="http://schemas.openxmlformats.org/markup-compatibility/2006" xmlns:p14="http://schemas.microsoft.com/office/powerpoint/2010/main">
    <mc:Choice Requires="p14">
      <p:transition spd="slow" p14:dur="2000" advTm="81390"/>
    </mc:Choice>
    <mc:Fallback xmlns="">
      <p:transition spd="slow" advTm="813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a:extLst>
              <a:ext uri="{FF2B5EF4-FFF2-40B4-BE49-F238E27FC236}">
                <a16:creationId xmlns:a16="http://schemas.microsoft.com/office/drawing/2014/main" id="{BD1A74E3-A2E0-C842-8EB9-880CA0493A6F}"/>
              </a:ext>
            </a:extLst>
          </p:cNvPr>
          <p:cNvSpPr/>
          <p:nvPr/>
        </p:nvSpPr>
        <p:spPr>
          <a:xfrm>
            <a:off x="3840623" y="2324553"/>
            <a:ext cx="280123" cy="3301285"/>
          </a:xfrm>
          <a:prstGeom prst="rect">
            <a:avLst/>
          </a:prstGeom>
          <a:solidFill>
            <a:schemeClr val="accent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 name="标题 1">
            <a:extLst>
              <a:ext uri="{FF2B5EF4-FFF2-40B4-BE49-F238E27FC236}">
                <a16:creationId xmlns:a16="http://schemas.microsoft.com/office/drawing/2014/main" id="{5CF72BD4-D407-5444-B378-2FDE25C292A7}"/>
              </a:ext>
            </a:extLst>
          </p:cNvPr>
          <p:cNvSpPr>
            <a:spLocks noGrp="1"/>
          </p:cNvSpPr>
          <p:nvPr>
            <p:ph type="title"/>
          </p:nvPr>
        </p:nvSpPr>
        <p:spPr/>
        <p:txBody>
          <a:bodyPr/>
          <a:lstStyle/>
          <a:p>
            <a:r>
              <a:rPr kumimoji="1" lang="en-US" altLang="zh-CN" dirty="0"/>
              <a:t>Function Summaries</a:t>
            </a:r>
            <a:endParaRPr kumimoji="1" lang="zh-CN" altLang="en-US" dirty="0"/>
          </a:p>
        </p:txBody>
      </p:sp>
      <p:sp>
        <p:nvSpPr>
          <p:cNvPr id="4" name="灯片编号占位符 3">
            <a:extLst>
              <a:ext uri="{FF2B5EF4-FFF2-40B4-BE49-F238E27FC236}">
                <a16:creationId xmlns:a16="http://schemas.microsoft.com/office/drawing/2014/main" id="{CDBC8AFF-A103-7746-A2CD-1AAD62D6831D}"/>
              </a:ext>
            </a:extLst>
          </p:cNvPr>
          <p:cNvSpPr>
            <a:spLocks noGrp="1"/>
          </p:cNvSpPr>
          <p:nvPr>
            <p:ph type="sldNum" sz="quarter" idx="12"/>
          </p:nvPr>
        </p:nvSpPr>
        <p:spPr/>
        <p:txBody>
          <a:bodyPr/>
          <a:lstStyle/>
          <a:p>
            <a:fld id="{C53D9380-AD50-0C4E-BD20-74B8F0FD34CE}" type="slidenum">
              <a:rPr kumimoji="1" lang="zh-CN" altLang="en-US" smtClean="0"/>
              <a:t>7</a:t>
            </a:fld>
            <a:endParaRPr kumimoji="1" lang="zh-CN" altLang="en-US"/>
          </a:p>
        </p:txBody>
      </p:sp>
      <p:sp>
        <p:nvSpPr>
          <p:cNvPr id="5" name="文本框 4">
            <a:extLst>
              <a:ext uri="{FF2B5EF4-FFF2-40B4-BE49-F238E27FC236}">
                <a16:creationId xmlns:a16="http://schemas.microsoft.com/office/drawing/2014/main" id="{167AEA43-46FD-414B-AF1E-72BEDFCB50D8}"/>
              </a:ext>
            </a:extLst>
          </p:cNvPr>
          <p:cNvSpPr txBox="1"/>
          <p:nvPr/>
        </p:nvSpPr>
        <p:spPr>
          <a:xfrm>
            <a:off x="298337" y="2184373"/>
            <a:ext cx="2485937" cy="2862322"/>
          </a:xfrm>
          <a:prstGeom prst="rect">
            <a:avLst/>
          </a:prstGeom>
          <a:noFill/>
        </p:spPr>
        <p:txBody>
          <a:bodyPr wrap="none" rtlCol="0">
            <a:spAutoFit/>
          </a:bodyPr>
          <a:lstStyle/>
          <a:p>
            <a:pPr marL="342900" indent="-342900">
              <a:buClr>
                <a:schemeClr val="tx1"/>
              </a:buClr>
              <a:buSzPct val="80000"/>
              <a:buFont typeface="+mj-lt"/>
              <a:buAutoNum type="arabicPeriod"/>
            </a:pPr>
            <a:r>
              <a:rPr kumimoji="1" lang="en-US" altLang="zh-CN" dirty="0">
                <a:solidFill>
                  <a:srgbClr val="0000FD"/>
                </a:solidFill>
                <a:latin typeface="Gill Sans MT" panose="020B0502020104020203" pitchFamily="34" charset="0"/>
              </a:rPr>
              <a:t>bool </a:t>
            </a:r>
            <a:r>
              <a:rPr kumimoji="1" lang="en-US" altLang="zh-CN" dirty="0">
                <a:latin typeface="Gill Sans MT" panose="020B0502020104020203" pitchFamily="34" charset="0"/>
              </a:rPr>
              <a:t>y = …;</a:t>
            </a:r>
            <a:endParaRPr kumimoji="1" lang="en-US" altLang="zh-CN" dirty="0">
              <a:solidFill>
                <a:srgbClr val="0000FD"/>
              </a:solidFill>
              <a:latin typeface="Gill Sans MT" panose="020B0502020104020203" pitchFamily="34" charset="0"/>
            </a:endParaRPr>
          </a:p>
          <a:p>
            <a:pPr marL="342900" indent="-342900">
              <a:buClr>
                <a:schemeClr val="tx1"/>
              </a:buClr>
              <a:buSzPct val="80000"/>
              <a:buFont typeface="+mj-lt"/>
              <a:buAutoNum type="arabicPeriod"/>
            </a:pPr>
            <a:r>
              <a:rPr kumimoji="1" lang="en-US" altLang="zh-CN" dirty="0" err="1">
                <a:solidFill>
                  <a:srgbClr val="0000FD"/>
                </a:solidFill>
                <a:latin typeface="Gill Sans MT" panose="020B0502020104020203" pitchFamily="34" charset="0"/>
              </a:rPr>
              <a:t>int</a:t>
            </a:r>
            <a:r>
              <a:rPr kumimoji="1" lang="en-US" altLang="zh-CN" dirty="0">
                <a:latin typeface="Gill Sans MT" panose="020B0502020104020203" pitchFamily="34" charset="0"/>
              </a:rPr>
              <a:t>* foo() {</a:t>
            </a:r>
          </a:p>
          <a:p>
            <a:pPr marL="342900" indent="-342900">
              <a:buClr>
                <a:schemeClr val="tx1"/>
              </a:buClr>
              <a:buSzPct val="80000"/>
              <a:buFont typeface="+mj-lt"/>
              <a:buAutoNum type="arabicPeriod"/>
            </a:pPr>
            <a:r>
              <a:rPr kumimoji="1" lang="en-US" altLang="zh-CN" dirty="0">
                <a:solidFill>
                  <a:srgbClr val="0000FD"/>
                </a:solidFill>
                <a:latin typeface="Gill Sans MT" panose="020B0502020104020203" pitchFamily="34" charset="0"/>
              </a:rPr>
              <a:t>    </a:t>
            </a:r>
            <a:r>
              <a:rPr kumimoji="1" lang="en-US" altLang="zh-CN" dirty="0" err="1">
                <a:solidFill>
                  <a:srgbClr val="0000FD"/>
                </a:solidFill>
                <a:latin typeface="Gill Sans MT" panose="020B0502020104020203" pitchFamily="34" charset="0"/>
              </a:rPr>
              <a:t>int</a:t>
            </a:r>
            <a:r>
              <a:rPr kumimoji="1" lang="en-US" altLang="zh-CN" dirty="0">
                <a:latin typeface="Gill Sans MT" panose="020B0502020104020203" pitchFamily="34" charset="0"/>
              </a:rPr>
              <a:t>* p = bar(null</a:t>
            </a:r>
            <a:r>
              <a:rPr kumimoji="1" lang="en-US" altLang="zh-CN" baseline="-25000" dirty="0">
                <a:latin typeface="Gill Sans MT" panose="020B0502020104020203" pitchFamily="34" charset="0"/>
              </a:rPr>
              <a:t>1</a:t>
            </a:r>
            <a:r>
              <a:rPr kumimoji="1" lang="en-US" altLang="zh-CN" dirty="0">
                <a:latin typeface="Gill Sans MT" panose="020B0502020104020203" pitchFamily="34" charset="0"/>
              </a:rPr>
              <a:t>);</a:t>
            </a:r>
          </a:p>
          <a:p>
            <a:pPr marL="342900" indent="-342900">
              <a:buClr>
                <a:schemeClr val="tx1"/>
              </a:buClr>
              <a:buSzPct val="80000"/>
              <a:buFont typeface="+mj-lt"/>
              <a:buAutoNum type="arabicPeriod"/>
            </a:pPr>
            <a:r>
              <a:rPr kumimoji="1" lang="en-US" altLang="zh-CN" dirty="0">
                <a:latin typeface="Gill Sans MT" panose="020B0502020104020203" pitchFamily="34" charset="0"/>
              </a:rPr>
              <a:t>    </a:t>
            </a:r>
            <a:r>
              <a:rPr kumimoji="1" lang="en-US" altLang="zh-CN" dirty="0">
                <a:solidFill>
                  <a:srgbClr val="0000FD"/>
                </a:solidFill>
                <a:latin typeface="Gill Sans MT" panose="020B0502020104020203" pitchFamily="34" charset="0"/>
              </a:rPr>
              <a:t>return</a:t>
            </a:r>
            <a:r>
              <a:rPr kumimoji="1" lang="en-US" altLang="zh-CN" dirty="0">
                <a:latin typeface="Gill Sans MT" panose="020B0502020104020203" pitchFamily="34" charset="0"/>
              </a:rPr>
              <a:t> p;</a:t>
            </a:r>
          </a:p>
          <a:p>
            <a:pPr marL="342900" indent="-342900">
              <a:buClr>
                <a:schemeClr val="tx1"/>
              </a:buClr>
              <a:buSzPct val="80000"/>
              <a:buFont typeface="+mj-lt"/>
              <a:buAutoNum type="arabicPeriod"/>
            </a:pPr>
            <a:r>
              <a:rPr kumimoji="1" lang="en-US" altLang="zh-CN" dirty="0">
                <a:latin typeface="Gill Sans MT" panose="020B0502020104020203" pitchFamily="34" charset="0"/>
              </a:rPr>
              <a:t>}</a:t>
            </a:r>
          </a:p>
          <a:p>
            <a:pPr marL="342900" indent="-342900">
              <a:buClr>
                <a:schemeClr val="tx1"/>
              </a:buClr>
              <a:buSzPct val="80000"/>
              <a:buFont typeface="+mj-lt"/>
              <a:buAutoNum type="arabicPeriod"/>
            </a:pPr>
            <a:r>
              <a:rPr kumimoji="1" lang="en-US" altLang="zh-CN" dirty="0" err="1">
                <a:solidFill>
                  <a:srgbClr val="0000FD"/>
                </a:solidFill>
                <a:latin typeface="Gill Sans MT" panose="020B0502020104020203" pitchFamily="34" charset="0"/>
              </a:rPr>
              <a:t>int</a:t>
            </a:r>
            <a:r>
              <a:rPr kumimoji="1" lang="en-US" altLang="zh-CN" dirty="0">
                <a:latin typeface="Gill Sans MT" panose="020B0502020104020203" pitchFamily="34" charset="0"/>
              </a:rPr>
              <a:t>* bar(</a:t>
            </a:r>
            <a:r>
              <a:rPr kumimoji="1" lang="en-US" altLang="zh-CN" dirty="0" err="1">
                <a:solidFill>
                  <a:srgbClr val="0000FD"/>
                </a:solidFill>
                <a:latin typeface="Gill Sans MT" panose="020B0502020104020203" pitchFamily="34" charset="0"/>
              </a:rPr>
              <a:t>int</a:t>
            </a:r>
            <a:r>
              <a:rPr kumimoji="1" lang="en-US" altLang="zh-CN" dirty="0">
                <a:latin typeface="Gill Sans MT" panose="020B0502020104020203" pitchFamily="34" charset="0"/>
              </a:rPr>
              <a:t>* a) {</a:t>
            </a:r>
          </a:p>
          <a:p>
            <a:pPr marL="342900" indent="-342900">
              <a:buClr>
                <a:schemeClr val="tx1"/>
              </a:buClr>
              <a:buSzPct val="80000"/>
              <a:buFont typeface="+mj-lt"/>
              <a:buAutoNum type="arabicPeriod"/>
            </a:pPr>
            <a:r>
              <a:rPr kumimoji="1" lang="en-US" altLang="zh-CN" dirty="0">
                <a:latin typeface="Gill Sans MT" panose="020B0502020104020203" pitchFamily="34" charset="0"/>
              </a:rPr>
              <a:t>    </a:t>
            </a:r>
            <a:r>
              <a:rPr kumimoji="1" lang="en-US" altLang="zh-CN" dirty="0" err="1">
                <a:solidFill>
                  <a:srgbClr val="0000FD"/>
                </a:solidFill>
                <a:latin typeface="Gill Sans MT" panose="020B0502020104020203" pitchFamily="34" charset="0"/>
              </a:rPr>
              <a:t>int</a:t>
            </a:r>
            <a:r>
              <a:rPr kumimoji="1" lang="en-US" altLang="zh-CN" dirty="0">
                <a:latin typeface="Gill Sans MT" panose="020B0502020104020203" pitchFamily="34" charset="0"/>
              </a:rPr>
              <a:t>* b = null</a:t>
            </a:r>
            <a:r>
              <a:rPr kumimoji="1" lang="en-US" altLang="zh-CN" baseline="-25000" dirty="0">
                <a:latin typeface="Gill Sans MT" panose="020B0502020104020203" pitchFamily="34" charset="0"/>
              </a:rPr>
              <a:t>2</a:t>
            </a:r>
            <a:r>
              <a:rPr kumimoji="1" lang="en-US" altLang="zh-CN" dirty="0">
                <a:latin typeface="Gill Sans MT" panose="020B0502020104020203" pitchFamily="34" charset="0"/>
              </a:rPr>
              <a:t>;</a:t>
            </a:r>
          </a:p>
          <a:p>
            <a:pPr marL="342900" indent="-342900">
              <a:buClr>
                <a:schemeClr val="tx1"/>
              </a:buClr>
              <a:buSzPct val="80000"/>
              <a:buFont typeface="+mj-lt"/>
              <a:buAutoNum type="arabicPeriod"/>
            </a:pPr>
            <a:r>
              <a:rPr kumimoji="1" lang="en-US" altLang="zh-CN" dirty="0">
                <a:solidFill>
                  <a:srgbClr val="0000FD"/>
                </a:solidFill>
                <a:latin typeface="Gill Sans MT" panose="020B0502020104020203" pitchFamily="34" charset="0"/>
              </a:rPr>
              <a:t>    </a:t>
            </a:r>
            <a:r>
              <a:rPr kumimoji="1" lang="en-US" altLang="zh-CN" dirty="0" err="1">
                <a:solidFill>
                  <a:srgbClr val="0000FD"/>
                </a:solidFill>
                <a:latin typeface="Gill Sans MT" panose="020B0502020104020203" pitchFamily="34" charset="0"/>
              </a:rPr>
              <a:t>int</a:t>
            </a:r>
            <a:r>
              <a:rPr kumimoji="1" lang="en-US" altLang="zh-CN" dirty="0">
                <a:latin typeface="Gill Sans MT" panose="020B0502020104020203" pitchFamily="34" charset="0"/>
              </a:rPr>
              <a:t>* c = y ? a : b;</a:t>
            </a:r>
          </a:p>
          <a:p>
            <a:pPr marL="342900" indent="-342900">
              <a:buClr>
                <a:schemeClr val="tx1"/>
              </a:buClr>
              <a:buSzPct val="80000"/>
              <a:buFont typeface="+mj-lt"/>
              <a:buAutoNum type="arabicPeriod"/>
            </a:pPr>
            <a:r>
              <a:rPr kumimoji="1" lang="en-US" altLang="zh-CN" dirty="0">
                <a:solidFill>
                  <a:srgbClr val="0000FD"/>
                </a:solidFill>
                <a:latin typeface="Gill Sans MT" panose="020B0502020104020203" pitchFamily="34" charset="0"/>
              </a:rPr>
              <a:t>    return</a:t>
            </a:r>
            <a:r>
              <a:rPr kumimoji="1" lang="en-US" altLang="zh-CN" dirty="0">
                <a:latin typeface="Gill Sans MT" panose="020B0502020104020203" pitchFamily="34" charset="0"/>
              </a:rPr>
              <a:t> c;</a:t>
            </a:r>
          </a:p>
          <a:p>
            <a:pPr marL="342900" indent="-342900">
              <a:buClr>
                <a:schemeClr val="tx1"/>
              </a:buClr>
              <a:buSzPct val="80000"/>
              <a:buFont typeface="+mj-lt"/>
              <a:buAutoNum type="arabicPeriod"/>
            </a:pPr>
            <a:r>
              <a:rPr kumimoji="1" lang="en-US" altLang="zh-CN" dirty="0">
                <a:latin typeface="Gill Sans MT" panose="020B0502020104020203" pitchFamily="34" charset="0"/>
              </a:rPr>
              <a:t>}</a:t>
            </a:r>
          </a:p>
        </p:txBody>
      </p:sp>
      <p:grpSp>
        <p:nvGrpSpPr>
          <p:cNvPr id="12" name="组合 11">
            <a:extLst>
              <a:ext uri="{FF2B5EF4-FFF2-40B4-BE49-F238E27FC236}">
                <a16:creationId xmlns:a16="http://schemas.microsoft.com/office/drawing/2014/main" id="{86F7D4BF-2D9A-D845-A036-5981BD903618}"/>
              </a:ext>
            </a:extLst>
          </p:cNvPr>
          <p:cNvGrpSpPr/>
          <p:nvPr/>
        </p:nvGrpSpPr>
        <p:grpSpPr>
          <a:xfrm>
            <a:off x="6029486" y="2396820"/>
            <a:ext cx="6012459" cy="2508728"/>
            <a:chOff x="6029486" y="2692240"/>
            <a:chExt cx="6012459" cy="2508728"/>
          </a:xfrm>
        </p:grpSpPr>
        <p:cxnSp>
          <p:nvCxnSpPr>
            <p:cNvPr id="6" name="直线箭头连接符 5">
              <a:extLst>
                <a:ext uri="{FF2B5EF4-FFF2-40B4-BE49-F238E27FC236}">
                  <a16:creationId xmlns:a16="http://schemas.microsoft.com/office/drawing/2014/main" id="{A65C78DC-31B4-2D47-B3A8-F1F183237A6E}"/>
                </a:ext>
              </a:extLst>
            </p:cNvPr>
            <p:cNvCxnSpPr>
              <a:cxnSpLocks/>
            </p:cNvCxnSpPr>
            <p:nvPr/>
          </p:nvCxnSpPr>
          <p:spPr>
            <a:xfrm>
              <a:off x="6029486" y="4822864"/>
              <a:ext cx="6012459" cy="0"/>
            </a:xfrm>
            <a:prstGeom prst="straightConnector1">
              <a:avLst/>
            </a:prstGeom>
            <a:ln w="25400" cap="flat">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5A8A3C53-7B6B-EA43-AB02-450A0ABCE977}"/>
                </a:ext>
              </a:extLst>
            </p:cNvPr>
            <p:cNvSpPr txBox="1"/>
            <p:nvPr/>
          </p:nvSpPr>
          <p:spPr>
            <a:xfrm>
              <a:off x="11466721" y="4862414"/>
              <a:ext cx="551754" cy="338554"/>
            </a:xfrm>
            <a:prstGeom prst="rect">
              <a:avLst/>
            </a:prstGeom>
            <a:noFill/>
          </p:spPr>
          <p:txBody>
            <a:bodyPr wrap="none" rtlCol="0">
              <a:spAutoFit/>
            </a:bodyPr>
            <a:lstStyle/>
            <a:p>
              <a:r>
                <a:rPr kumimoji="1" lang="en-US" altLang="zh-CN" sz="1600" dirty="0">
                  <a:latin typeface="Gill Sans MT" panose="020B0502020104020203" pitchFamily="34" charset="0"/>
                  <a:ea typeface="Times New Roman" charset="0"/>
                  <a:cs typeface="Times New Roman" charset="0"/>
                </a:rPr>
                <a:t>time</a:t>
              </a:r>
              <a:endParaRPr kumimoji="1" lang="zh-CN" altLang="en-US" sz="1600" dirty="0">
                <a:latin typeface="Gill Sans MT" panose="020B0502020104020203" pitchFamily="34" charset="0"/>
                <a:ea typeface="Times New Roman" charset="0"/>
                <a:cs typeface="Times New Roman" charset="0"/>
              </a:endParaRPr>
            </a:p>
          </p:txBody>
        </p:sp>
        <p:sp>
          <p:nvSpPr>
            <p:cNvPr id="8" name="矩形 7">
              <a:extLst>
                <a:ext uri="{FF2B5EF4-FFF2-40B4-BE49-F238E27FC236}">
                  <a16:creationId xmlns:a16="http://schemas.microsoft.com/office/drawing/2014/main" id="{20C50BD7-B5BE-C84F-97B5-8B4F9B55F011}"/>
                </a:ext>
              </a:extLst>
            </p:cNvPr>
            <p:cNvSpPr/>
            <p:nvPr/>
          </p:nvSpPr>
          <p:spPr>
            <a:xfrm>
              <a:off x="8736998" y="3910954"/>
              <a:ext cx="3304947" cy="703084"/>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latin typeface="Gill Sans MT" panose="020B0502020104020203" pitchFamily="34" charset="0"/>
                  <a:ea typeface="Times New Roman" charset="0"/>
                  <a:cs typeface="Times New Roman" charset="0"/>
                </a:rPr>
                <a:t>(type-2) null</a:t>
              </a:r>
              <a:r>
                <a:rPr kumimoji="1" lang="en-US" altLang="zh-CN" baseline="-25000" dirty="0">
                  <a:latin typeface="Gill Sans MT" panose="020B0502020104020203" pitchFamily="34" charset="0"/>
                  <a:ea typeface="Times New Roman" charset="0"/>
                  <a:cs typeface="Times New Roman" charset="0"/>
                </a:rPr>
                <a:t>1</a:t>
              </a:r>
              <a:r>
                <a:rPr kumimoji="1" lang="en-US" altLang="zh-CN" dirty="0">
                  <a:latin typeface="Gill Sans MT" panose="020B0502020104020203" pitchFamily="34" charset="0"/>
                  <a:ea typeface="Times New Roman" charset="0"/>
                  <a:cs typeface="Times New Roman" charset="0"/>
                </a:rPr>
                <a:t>⤳</a:t>
              </a:r>
              <a:r>
                <a:rPr kumimoji="1" lang="en-US" altLang="zh-CN" dirty="0">
                  <a:solidFill>
                    <a:srgbClr val="FF0000"/>
                  </a:solidFill>
                  <a:latin typeface="Gill Sans MT" panose="020B0502020104020203" pitchFamily="34" charset="0"/>
                  <a:ea typeface="Times New Roman" charset="0"/>
                  <a:cs typeface="Times New Roman" charset="0"/>
                  <a:sym typeface="Wingdings" pitchFamily="2" charset="2"/>
                </a:rPr>
                <a:t>a</a:t>
              </a:r>
              <a:r>
                <a:rPr kumimoji="1" lang="en-US" altLang="zh-CN" dirty="0">
                  <a:solidFill>
                    <a:srgbClr val="FF0000"/>
                  </a:solidFill>
                  <a:latin typeface="Gill Sans MT" panose="020B0502020104020203" pitchFamily="34" charset="0"/>
                  <a:ea typeface="Times New Roman" charset="0"/>
                  <a:cs typeface="Times New Roman" charset="0"/>
                </a:rPr>
                <a:t>⤳</a:t>
              </a:r>
              <a:r>
                <a:rPr kumimoji="1" lang="en-US" altLang="zh-CN" dirty="0">
                  <a:solidFill>
                    <a:srgbClr val="FF0000"/>
                  </a:solidFill>
                  <a:latin typeface="Gill Sans MT" panose="020B0502020104020203" pitchFamily="34" charset="0"/>
                  <a:ea typeface="Times New Roman" charset="0"/>
                  <a:cs typeface="Times New Roman" charset="0"/>
                  <a:sym typeface="Wingdings" pitchFamily="2" charset="2"/>
                </a:rPr>
                <a:t>ret </a:t>
              </a:r>
              <a:r>
                <a:rPr kumimoji="1" lang="en-US" altLang="zh-CN" dirty="0" err="1">
                  <a:solidFill>
                    <a:srgbClr val="FF0000"/>
                  </a:solidFill>
                  <a:latin typeface="Gill Sans MT" panose="020B0502020104020203" pitchFamily="34" charset="0"/>
                  <a:ea typeface="Times New Roman" charset="0"/>
                  <a:cs typeface="Times New Roman" charset="0"/>
                  <a:sym typeface="Wingdings" pitchFamily="2" charset="2"/>
                </a:rPr>
                <a:t>c</a:t>
              </a:r>
              <a:r>
                <a:rPr kumimoji="1" lang="en-US" altLang="zh-CN" dirty="0" err="1">
                  <a:latin typeface="Gill Sans MT" panose="020B0502020104020203" pitchFamily="34" charset="0"/>
                  <a:ea typeface="Times New Roman" charset="0"/>
                  <a:cs typeface="Times New Roman" charset="0"/>
                </a:rPr>
                <a:t>⤳</a:t>
              </a:r>
              <a:r>
                <a:rPr kumimoji="1" lang="en-US" altLang="zh-CN" dirty="0" err="1">
                  <a:latin typeface="Gill Sans MT" panose="020B0502020104020203" pitchFamily="34" charset="0"/>
                  <a:ea typeface="Times New Roman" charset="0"/>
                  <a:cs typeface="Times New Roman" charset="0"/>
                  <a:sym typeface="Wingdings" pitchFamily="2" charset="2"/>
                </a:rPr>
                <a:t>p</a:t>
              </a:r>
              <a:r>
                <a:rPr kumimoji="1" lang="en-US" altLang="zh-CN" dirty="0" err="1">
                  <a:latin typeface="Gill Sans MT" panose="020B0502020104020203" pitchFamily="34" charset="0"/>
                  <a:ea typeface="Times New Roman" charset="0"/>
                  <a:cs typeface="Times New Roman" charset="0"/>
                </a:rPr>
                <a:t>⤳</a:t>
              </a:r>
              <a:r>
                <a:rPr kumimoji="1" lang="en-US" altLang="zh-CN" dirty="0" err="1">
                  <a:latin typeface="Gill Sans MT" panose="020B0502020104020203" pitchFamily="34" charset="0"/>
                  <a:ea typeface="Times New Roman" charset="0"/>
                  <a:cs typeface="Times New Roman" charset="0"/>
                  <a:sym typeface="Wingdings" pitchFamily="2" charset="2"/>
                </a:rPr>
                <a:t>ret</a:t>
              </a:r>
              <a:r>
                <a:rPr kumimoji="1" lang="en-US" altLang="zh-CN" dirty="0">
                  <a:latin typeface="Gill Sans MT" panose="020B0502020104020203" pitchFamily="34" charset="0"/>
                  <a:ea typeface="Times New Roman" charset="0"/>
                  <a:cs typeface="Times New Roman" charset="0"/>
                  <a:sym typeface="Wingdings" pitchFamily="2" charset="2"/>
                </a:rPr>
                <a:t> p</a:t>
              </a:r>
              <a:endParaRPr kumimoji="1" lang="zh-CN" altLang="en-US" dirty="0">
                <a:latin typeface="Gill Sans MT" panose="020B0502020104020203" pitchFamily="34" charset="0"/>
                <a:ea typeface="Times New Roman" charset="0"/>
                <a:cs typeface="Times New Roman" charset="0"/>
              </a:endParaRPr>
            </a:p>
            <a:p>
              <a:pPr algn="ctr"/>
              <a:r>
                <a:rPr kumimoji="1" lang="en-US" altLang="zh-CN" dirty="0">
                  <a:solidFill>
                    <a:schemeClr val="tx1"/>
                  </a:solidFill>
                  <a:latin typeface="Gill Sans MT" panose="020B0502020104020203" pitchFamily="34" charset="0"/>
                  <a:ea typeface="Times New Roman" charset="0"/>
                  <a:cs typeface="Times New Roman" charset="0"/>
                </a:rPr>
                <a:t>(type-3)</a:t>
              </a:r>
              <a:r>
                <a:rPr kumimoji="1" lang="en-US" altLang="zh-CN" dirty="0">
                  <a:solidFill>
                    <a:srgbClr val="FF0000"/>
                  </a:solidFill>
                  <a:latin typeface="Gill Sans MT" panose="020B0502020104020203" pitchFamily="34" charset="0"/>
                  <a:ea typeface="Times New Roman" charset="0"/>
                  <a:cs typeface="Times New Roman" charset="0"/>
                </a:rPr>
                <a:t> null</a:t>
              </a:r>
              <a:r>
                <a:rPr kumimoji="1" lang="en-US" altLang="zh-CN" baseline="-25000" dirty="0">
                  <a:solidFill>
                    <a:srgbClr val="FF0000"/>
                  </a:solidFill>
                  <a:latin typeface="Gill Sans MT" panose="020B0502020104020203" pitchFamily="34" charset="0"/>
                  <a:ea typeface="Times New Roman" charset="0"/>
                  <a:cs typeface="Times New Roman" charset="0"/>
                </a:rPr>
                <a:t>2</a:t>
              </a:r>
              <a:r>
                <a:rPr kumimoji="1" lang="en-US" altLang="zh-CN" dirty="0">
                  <a:solidFill>
                    <a:srgbClr val="FF0000"/>
                  </a:solidFill>
                  <a:latin typeface="Gill Sans MT" panose="020B0502020104020203" pitchFamily="34" charset="0"/>
                  <a:ea typeface="Times New Roman" charset="0"/>
                  <a:cs typeface="Times New Roman" charset="0"/>
                </a:rPr>
                <a:t>⤳</a:t>
              </a:r>
              <a:r>
                <a:rPr kumimoji="1" lang="en-US" altLang="zh-CN" dirty="0">
                  <a:solidFill>
                    <a:srgbClr val="FF0000"/>
                  </a:solidFill>
                  <a:latin typeface="Gill Sans MT" panose="020B0502020104020203" pitchFamily="34" charset="0"/>
                  <a:ea typeface="Times New Roman" charset="0"/>
                  <a:cs typeface="Times New Roman" charset="0"/>
                  <a:sym typeface="Wingdings" pitchFamily="2" charset="2"/>
                </a:rPr>
                <a:t>ret </a:t>
              </a:r>
              <a:r>
                <a:rPr kumimoji="1" lang="en-US" altLang="zh-CN" dirty="0" err="1">
                  <a:solidFill>
                    <a:srgbClr val="FF0000"/>
                  </a:solidFill>
                  <a:latin typeface="Gill Sans MT" panose="020B0502020104020203" pitchFamily="34" charset="0"/>
                  <a:ea typeface="Times New Roman" charset="0"/>
                  <a:cs typeface="Times New Roman" charset="0"/>
                  <a:sym typeface="Wingdings" pitchFamily="2" charset="2"/>
                </a:rPr>
                <a:t>c</a:t>
              </a:r>
              <a:r>
                <a:rPr kumimoji="1" lang="en-US" altLang="zh-CN" dirty="0" err="1">
                  <a:latin typeface="Gill Sans MT" panose="020B0502020104020203" pitchFamily="34" charset="0"/>
                  <a:ea typeface="Times New Roman" charset="0"/>
                  <a:cs typeface="Times New Roman" charset="0"/>
                </a:rPr>
                <a:t>⤳</a:t>
              </a:r>
              <a:r>
                <a:rPr kumimoji="1" lang="en-US" altLang="zh-CN" dirty="0" err="1">
                  <a:latin typeface="Gill Sans MT" panose="020B0502020104020203" pitchFamily="34" charset="0"/>
                  <a:ea typeface="Times New Roman" charset="0"/>
                  <a:cs typeface="Times New Roman" charset="0"/>
                  <a:sym typeface="Wingdings" pitchFamily="2" charset="2"/>
                </a:rPr>
                <a:t>p</a:t>
              </a:r>
              <a:r>
                <a:rPr kumimoji="1" lang="en-US" altLang="zh-CN" dirty="0" err="1">
                  <a:latin typeface="Gill Sans MT" panose="020B0502020104020203" pitchFamily="34" charset="0"/>
                  <a:ea typeface="Times New Roman" charset="0"/>
                  <a:cs typeface="Times New Roman" charset="0"/>
                </a:rPr>
                <a:t>⤳</a:t>
              </a:r>
              <a:r>
                <a:rPr kumimoji="1" lang="en-US" altLang="zh-CN" dirty="0" err="1">
                  <a:latin typeface="Gill Sans MT" panose="020B0502020104020203" pitchFamily="34" charset="0"/>
                  <a:ea typeface="Times New Roman" charset="0"/>
                  <a:cs typeface="Times New Roman" charset="0"/>
                  <a:sym typeface="Wingdings" pitchFamily="2" charset="2"/>
                </a:rPr>
                <a:t>ret</a:t>
              </a:r>
              <a:r>
                <a:rPr kumimoji="1" lang="en-US" altLang="zh-CN" dirty="0">
                  <a:latin typeface="Gill Sans MT" panose="020B0502020104020203" pitchFamily="34" charset="0"/>
                  <a:ea typeface="Times New Roman" charset="0"/>
                  <a:cs typeface="Times New Roman" charset="0"/>
                  <a:sym typeface="Wingdings" pitchFamily="2" charset="2"/>
                </a:rPr>
                <a:t> p</a:t>
              </a:r>
            </a:p>
          </p:txBody>
        </p:sp>
        <p:sp>
          <p:nvSpPr>
            <p:cNvPr id="9" name="矩形 8">
              <a:extLst>
                <a:ext uri="{FF2B5EF4-FFF2-40B4-BE49-F238E27FC236}">
                  <a16:creationId xmlns:a16="http://schemas.microsoft.com/office/drawing/2014/main" id="{928284E5-3E40-7E4C-B863-F2B34D9321A6}"/>
                </a:ext>
              </a:extLst>
            </p:cNvPr>
            <p:cNvSpPr/>
            <p:nvPr/>
          </p:nvSpPr>
          <p:spPr>
            <a:xfrm>
              <a:off x="6029486" y="3069591"/>
              <a:ext cx="2698837" cy="703084"/>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solidFill>
                    <a:schemeClr val="tx1"/>
                  </a:solidFill>
                  <a:latin typeface="Gill Sans MT" panose="020B0502020104020203" pitchFamily="34" charset="0"/>
                  <a:ea typeface="Times New Roman" charset="0"/>
                  <a:cs typeface="Times New Roman" charset="0"/>
                  <a:sym typeface="Wingdings" pitchFamily="2" charset="2"/>
                </a:rPr>
                <a:t>(type-1) </a:t>
              </a:r>
              <a:r>
                <a:rPr kumimoji="1" lang="en-US" altLang="zh-CN" dirty="0" err="1">
                  <a:solidFill>
                    <a:srgbClr val="FF0000"/>
                  </a:solidFill>
                  <a:latin typeface="Gill Sans MT" panose="020B0502020104020203" pitchFamily="34" charset="0"/>
                  <a:ea typeface="Times New Roman" charset="0"/>
                  <a:cs typeface="Times New Roman" charset="0"/>
                  <a:sym typeface="Wingdings" pitchFamily="2" charset="2"/>
                </a:rPr>
                <a:t>a</a:t>
              </a:r>
              <a:r>
                <a:rPr kumimoji="1" lang="en-US" altLang="zh-CN" dirty="0" err="1">
                  <a:solidFill>
                    <a:srgbClr val="FF0000"/>
                  </a:solidFill>
                  <a:latin typeface="Gill Sans MT" panose="020B0502020104020203" pitchFamily="34" charset="0"/>
                  <a:ea typeface="Times New Roman" charset="0"/>
                  <a:cs typeface="Times New Roman" charset="0"/>
                </a:rPr>
                <a:t>⤳</a:t>
              </a:r>
              <a:r>
                <a:rPr kumimoji="1" lang="en-US" altLang="zh-CN" dirty="0" err="1">
                  <a:solidFill>
                    <a:srgbClr val="FF0000"/>
                  </a:solidFill>
                  <a:latin typeface="Gill Sans MT" panose="020B0502020104020203" pitchFamily="34" charset="0"/>
                  <a:ea typeface="Times New Roman" charset="0"/>
                  <a:cs typeface="Times New Roman" charset="0"/>
                  <a:sym typeface="Wingdings" pitchFamily="2" charset="2"/>
                </a:rPr>
                <a:t>ret</a:t>
              </a:r>
              <a:r>
                <a:rPr kumimoji="1" lang="en-US" altLang="zh-CN" dirty="0">
                  <a:solidFill>
                    <a:srgbClr val="FF0000"/>
                  </a:solidFill>
                  <a:latin typeface="Gill Sans MT" panose="020B0502020104020203" pitchFamily="34" charset="0"/>
                  <a:ea typeface="Times New Roman" charset="0"/>
                  <a:cs typeface="Times New Roman" charset="0"/>
                  <a:sym typeface="Wingdings" pitchFamily="2" charset="2"/>
                </a:rPr>
                <a:t> c</a:t>
              </a:r>
              <a:endParaRPr kumimoji="1" lang="en-US" altLang="zh-CN" dirty="0">
                <a:solidFill>
                  <a:srgbClr val="FF0000"/>
                </a:solidFill>
                <a:latin typeface="Gill Sans MT" panose="020B0502020104020203" pitchFamily="34" charset="0"/>
                <a:ea typeface="Times New Roman" charset="0"/>
                <a:cs typeface="Times New Roman" charset="0"/>
              </a:endParaRPr>
            </a:p>
            <a:p>
              <a:pPr algn="ctr"/>
              <a:r>
                <a:rPr kumimoji="1" lang="en-US" altLang="zh-CN" dirty="0">
                  <a:solidFill>
                    <a:schemeClr val="tx1"/>
                  </a:solidFill>
                  <a:latin typeface="Gill Sans MT" panose="020B0502020104020203" pitchFamily="34" charset="0"/>
                  <a:ea typeface="Times New Roman" charset="0"/>
                  <a:cs typeface="Times New Roman" charset="0"/>
                </a:rPr>
                <a:t>(type-2)</a:t>
              </a:r>
              <a:r>
                <a:rPr kumimoji="1" lang="en-US" altLang="zh-CN" dirty="0">
                  <a:solidFill>
                    <a:srgbClr val="FF0000"/>
                  </a:solidFill>
                  <a:latin typeface="Gill Sans MT" panose="020B0502020104020203" pitchFamily="34" charset="0"/>
                  <a:ea typeface="Times New Roman" charset="0"/>
                  <a:cs typeface="Times New Roman" charset="0"/>
                </a:rPr>
                <a:t> null</a:t>
              </a:r>
              <a:r>
                <a:rPr kumimoji="1" lang="en-US" altLang="zh-CN" baseline="-25000" dirty="0">
                  <a:solidFill>
                    <a:srgbClr val="FF0000"/>
                  </a:solidFill>
                  <a:latin typeface="Gill Sans MT" panose="020B0502020104020203" pitchFamily="34" charset="0"/>
                  <a:ea typeface="Times New Roman" charset="0"/>
                  <a:cs typeface="Times New Roman" charset="0"/>
                </a:rPr>
                <a:t>2</a:t>
              </a:r>
              <a:r>
                <a:rPr kumimoji="1" lang="en-US" altLang="zh-CN" dirty="0">
                  <a:solidFill>
                    <a:srgbClr val="FF0000"/>
                  </a:solidFill>
                  <a:latin typeface="Gill Sans MT" panose="020B0502020104020203" pitchFamily="34" charset="0"/>
                  <a:ea typeface="Times New Roman" charset="0"/>
                  <a:cs typeface="Times New Roman" charset="0"/>
                </a:rPr>
                <a:t>⤳</a:t>
              </a:r>
              <a:r>
                <a:rPr kumimoji="1" lang="en-US" altLang="zh-CN" dirty="0">
                  <a:solidFill>
                    <a:srgbClr val="FF0000"/>
                  </a:solidFill>
                  <a:latin typeface="Gill Sans MT" panose="020B0502020104020203" pitchFamily="34" charset="0"/>
                  <a:ea typeface="Times New Roman" charset="0"/>
                  <a:cs typeface="Times New Roman" charset="0"/>
                  <a:sym typeface="Wingdings" pitchFamily="2" charset="2"/>
                </a:rPr>
                <a:t>ret c</a:t>
              </a:r>
            </a:p>
          </p:txBody>
        </p:sp>
        <p:sp>
          <p:nvSpPr>
            <p:cNvPr id="10" name="文本框 9">
              <a:extLst>
                <a:ext uri="{FF2B5EF4-FFF2-40B4-BE49-F238E27FC236}">
                  <a16:creationId xmlns:a16="http://schemas.microsoft.com/office/drawing/2014/main" id="{702653DE-35AF-D34C-91F4-ABCB8E761101}"/>
                </a:ext>
              </a:extLst>
            </p:cNvPr>
            <p:cNvSpPr txBox="1"/>
            <p:nvPr/>
          </p:nvSpPr>
          <p:spPr>
            <a:xfrm>
              <a:off x="7134286" y="2692240"/>
              <a:ext cx="489236" cy="369332"/>
            </a:xfrm>
            <a:prstGeom prst="rect">
              <a:avLst/>
            </a:prstGeom>
            <a:noFill/>
          </p:spPr>
          <p:txBody>
            <a:bodyPr wrap="none" rtlCol="0">
              <a:spAutoFit/>
            </a:bodyPr>
            <a:lstStyle/>
            <a:p>
              <a:r>
                <a:rPr kumimoji="1" lang="en-US" altLang="zh-CN" dirty="0">
                  <a:latin typeface="Gill Sans MT" panose="020B0502020104020203" pitchFamily="34" charset="0"/>
                </a:rPr>
                <a:t>bar</a:t>
              </a:r>
              <a:endParaRPr kumimoji="1" lang="zh-CN" altLang="en-US" dirty="0">
                <a:latin typeface="Gill Sans MT" panose="020B0502020104020203" pitchFamily="34" charset="0"/>
              </a:endParaRPr>
            </a:p>
          </p:txBody>
        </p:sp>
        <p:sp>
          <p:nvSpPr>
            <p:cNvPr id="11" name="文本框 10">
              <a:extLst>
                <a:ext uri="{FF2B5EF4-FFF2-40B4-BE49-F238E27FC236}">
                  <a16:creationId xmlns:a16="http://schemas.microsoft.com/office/drawing/2014/main" id="{8B9E720C-56CE-4748-8AFB-CAEC8B2955BD}"/>
                </a:ext>
              </a:extLst>
            </p:cNvPr>
            <p:cNvSpPr txBox="1"/>
            <p:nvPr/>
          </p:nvSpPr>
          <p:spPr>
            <a:xfrm>
              <a:off x="9839713" y="3541622"/>
              <a:ext cx="493405" cy="369332"/>
            </a:xfrm>
            <a:prstGeom prst="rect">
              <a:avLst/>
            </a:prstGeom>
            <a:noFill/>
          </p:spPr>
          <p:txBody>
            <a:bodyPr wrap="none" rtlCol="0">
              <a:spAutoFit/>
            </a:bodyPr>
            <a:lstStyle/>
            <a:p>
              <a:r>
                <a:rPr kumimoji="1" lang="en-US" altLang="zh-CN" dirty="0">
                  <a:latin typeface="Gill Sans MT" panose="020B0502020104020203" pitchFamily="34" charset="0"/>
                </a:rPr>
                <a:t>foo</a:t>
              </a:r>
              <a:endParaRPr kumimoji="1" lang="zh-CN" altLang="en-US" dirty="0">
                <a:latin typeface="Gill Sans MT" panose="020B0502020104020203" pitchFamily="34" charset="0"/>
              </a:endParaRPr>
            </a:p>
          </p:txBody>
        </p:sp>
      </p:grpSp>
      <p:grpSp>
        <p:nvGrpSpPr>
          <p:cNvPr id="59" name="组合 58">
            <a:extLst>
              <a:ext uri="{FF2B5EF4-FFF2-40B4-BE49-F238E27FC236}">
                <a16:creationId xmlns:a16="http://schemas.microsoft.com/office/drawing/2014/main" id="{BF6A5730-258C-FB42-81F5-3117A8CDB906}"/>
              </a:ext>
            </a:extLst>
          </p:cNvPr>
          <p:cNvGrpSpPr/>
          <p:nvPr/>
        </p:nvGrpSpPr>
        <p:grpSpPr>
          <a:xfrm>
            <a:off x="2943186" y="2106880"/>
            <a:ext cx="2826678" cy="3798842"/>
            <a:chOff x="2943186" y="2402300"/>
            <a:chExt cx="2826678" cy="3798842"/>
          </a:xfrm>
        </p:grpSpPr>
        <p:grpSp>
          <p:nvGrpSpPr>
            <p:cNvPr id="52" name="组合 51">
              <a:extLst>
                <a:ext uri="{FF2B5EF4-FFF2-40B4-BE49-F238E27FC236}">
                  <a16:creationId xmlns:a16="http://schemas.microsoft.com/office/drawing/2014/main" id="{74532381-7EA1-994B-9CFA-620E4A9EB88A}"/>
                </a:ext>
              </a:extLst>
            </p:cNvPr>
            <p:cNvGrpSpPr/>
            <p:nvPr/>
          </p:nvGrpSpPr>
          <p:grpSpPr>
            <a:xfrm>
              <a:off x="3182113" y="2479793"/>
              <a:ext cx="2386584" cy="3441466"/>
              <a:chOff x="2990089" y="2507574"/>
              <a:chExt cx="2386584" cy="3441466"/>
            </a:xfrm>
          </p:grpSpPr>
          <p:sp>
            <p:nvSpPr>
              <p:cNvPr id="14" name="椭圆 13">
                <a:extLst>
                  <a:ext uri="{FF2B5EF4-FFF2-40B4-BE49-F238E27FC236}">
                    <a16:creationId xmlns:a16="http://schemas.microsoft.com/office/drawing/2014/main" id="{F128DA21-AC35-0F49-A766-0040AEBAF95E}"/>
                  </a:ext>
                </a:extLst>
              </p:cNvPr>
              <p:cNvSpPr/>
              <p:nvPr/>
            </p:nvSpPr>
            <p:spPr>
              <a:xfrm>
                <a:off x="3725227" y="2643604"/>
                <a:ext cx="105103" cy="10510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a:extLst>
                  <a:ext uri="{FF2B5EF4-FFF2-40B4-BE49-F238E27FC236}">
                    <a16:creationId xmlns:a16="http://schemas.microsoft.com/office/drawing/2014/main" id="{7CBF2CC9-529C-A84E-97E1-84CCFDF2E481}"/>
                  </a:ext>
                </a:extLst>
              </p:cNvPr>
              <p:cNvSpPr/>
              <p:nvPr/>
            </p:nvSpPr>
            <p:spPr>
              <a:xfrm>
                <a:off x="3725227" y="3155588"/>
                <a:ext cx="105103" cy="1051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a:extLst>
                  <a:ext uri="{FF2B5EF4-FFF2-40B4-BE49-F238E27FC236}">
                    <a16:creationId xmlns:a16="http://schemas.microsoft.com/office/drawing/2014/main" id="{89711E33-69A3-7748-9D46-D345EC5A20E6}"/>
                  </a:ext>
                </a:extLst>
              </p:cNvPr>
              <p:cNvSpPr/>
              <p:nvPr/>
            </p:nvSpPr>
            <p:spPr>
              <a:xfrm>
                <a:off x="3725226" y="5204955"/>
                <a:ext cx="105103" cy="10510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椭圆 16">
                <a:extLst>
                  <a:ext uri="{FF2B5EF4-FFF2-40B4-BE49-F238E27FC236}">
                    <a16:creationId xmlns:a16="http://schemas.microsoft.com/office/drawing/2014/main" id="{70B92D2C-B33D-4F47-B323-2447376BB520}"/>
                  </a:ext>
                </a:extLst>
              </p:cNvPr>
              <p:cNvSpPr/>
              <p:nvPr/>
            </p:nvSpPr>
            <p:spPr>
              <a:xfrm>
                <a:off x="4555860" y="3155587"/>
                <a:ext cx="105103" cy="1051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a:extLst>
                  <a:ext uri="{FF2B5EF4-FFF2-40B4-BE49-F238E27FC236}">
                    <a16:creationId xmlns:a16="http://schemas.microsoft.com/office/drawing/2014/main" id="{C93B9CA3-4335-2447-860A-E62743F8B69D}"/>
                  </a:ext>
                </a:extLst>
              </p:cNvPr>
              <p:cNvSpPr/>
              <p:nvPr/>
            </p:nvSpPr>
            <p:spPr>
              <a:xfrm>
                <a:off x="4555859" y="3667572"/>
                <a:ext cx="105103" cy="1051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椭圆 18">
                <a:extLst>
                  <a:ext uri="{FF2B5EF4-FFF2-40B4-BE49-F238E27FC236}">
                    <a16:creationId xmlns:a16="http://schemas.microsoft.com/office/drawing/2014/main" id="{0107DFDF-5BF7-8447-B968-BF285646CBFE}"/>
                  </a:ext>
                </a:extLst>
              </p:cNvPr>
              <p:cNvSpPr/>
              <p:nvPr/>
            </p:nvSpPr>
            <p:spPr>
              <a:xfrm>
                <a:off x="3725227" y="4179556"/>
                <a:ext cx="105103" cy="1051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椭圆 19">
                <a:extLst>
                  <a:ext uri="{FF2B5EF4-FFF2-40B4-BE49-F238E27FC236}">
                    <a16:creationId xmlns:a16="http://schemas.microsoft.com/office/drawing/2014/main" id="{83AC8714-C4F9-5848-9BF0-B1102E2A73AD}"/>
                  </a:ext>
                </a:extLst>
              </p:cNvPr>
              <p:cNvSpPr/>
              <p:nvPr/>
            </p:nvSpPr>
            <p:spPr>
              <a:xfrm>
                <a:off x="3725227" y="4691540"/>
                <a:ext cx="105103" cy="10510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a:extLst>
                  <a:ext uri="{FF2B5EF4-FFF2-40B4-BE49-F238E27FC236}">
                    <a16:creationId xmlns:a16="http://schemas.microsoft.com/office/drawing/2014/main" id="{C9CC9703-0F06-A74E-97AA-0B07CB7D21BA}"/>
                  </a:ext>
                </a:extLst>
              </p:cNvPr>
              <p:cNvSpPr/>
              <p:nvPr/>
            </p:nvSpPr>
            <p:spPr>
              <a:xfrm>
                <a:off x="3725226" y="5716939"/>
                <a:ext cx="105103" cy="10510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a:extLst>
                  <a:ext uri="{FF2B5EF4-FFF2-40B4-BE49-F238E27FC236}">
                    <a16:creationId xmlns:a16="http://schemas.microsoft.com/office/drawing/2014/main" id="{6B3A5391-E794-5C4C-89CD-8318B4F40F6F}"/>
                  </a:ext>
                </a:extLst>
              </p:cNvPr>
              <p:cNvSpPr/>
              <p:nvPr/>
            </p:nvSpPr>
            <p:spPr>
              <a:xfrm>
                <a:off x="3132435" y="2507574"/>
                <a:ext cx="592791" cy="369332"/>
              </a:xfrm>
              <a:prstGeom prst="rect">
                <a:avLst/>
              </a:prstGeom>
            </p:spPr>
            <p:txBody>
              <a:bodyPr wrap="none">
                <a:spAutoFit/>
              </a:bodyPr>
              <a:lstStyle/>
              <a:p>
                <a:r>
                  <a:rPr kumimoji="1" lang="en-US" altLang="zh-CN" dirty="0">
                    <a:latin typeface="Gill Sans MT" panose="020B0502020104020203" pitchFamily="34" charset="0"/>
                  </a:rPr>
                  <a:t>null</a:t>
                </a:r>
                <a:r>
                  <a:rPr kumimoji="1" lang="en-US" altLang="zh-CN" baseline="-25000" dirty="0">
                    <a:latin typeface="Gill Sans MT" panose="020B0502020104020203" pitchFamily="34" charset="0"/>
                  </a:rPr>
                  <a:t>1</a:t>
                </a:r>
                <a:endParaRPr lang="zh-CN" altLang="en-US" dirty="0"/>
              </a:p>
            </p:txBody>
          </p:sp>
          <p:sp>
            <p:nvSpPr>
              <p:cNvPr id="24" name="矩形 23">
                <a:extLst>
                  <a:ext uri="{FF2B5EF4-FFF2-40B4-BE49-F238E27FC236}">
                    <a16:creationId xmlns:a16="http://schemas.microsoft.com/office/drawing/2014/main" id="{C2BEA73C-B2A4-B54F-9E45-7388EB057965}"/>
                  </a:ext>
                </a:extLst>
              </p:cNvPr>
              <p:cNvSpPr/>
              <p:nvPr/>
            </p:nvSpPr>
            <p:spPr>
              <a:xfrm>
                <a:off x="4696984" y="3023472"/>
                <a:ext cx="592791" cy="369332"/>
              </a:xfrm>
              <a:prstGeom prst="rect">
                <a:avLst/>
              </a:prstGeom>
            </p:spPr>
            <p:txBody>
              <a:bodyPr wrap="none">
                <a:spAutoFit/>
              </a:bodyPr>
              <a:lstStyle/>
              <a:p>
                <a:r>
                  <a:rPr kumimoji="1" lang="en-US" altLang="zh-CN" dirty="0">
                    <a:solidFill>
                      <a:srgbClr val="FF0000"/>
                    </a:solidFill>
                    <a:latin typeface="Gill Sans MT" panose="020B0502020104020203" pitchFamily="34" charset="0"/>
                  </a:rPr>
                  <a:t>null</a:t>
                </a:r>
                <a:r>
                  <a:rPr kumimoji="1" lang="en-US" altLang="zh-CN" baseline="-25000" dirty="0">
                    <a:solidFill>
                      <a:srgbClr val="FF0000"/>
                    </a:solidFill>
                    <a:latin typeface="Gill Sans MT" panose="020B0502020104020203" pitchFamily="34" charset="0"/>
                  </a:rPr>
                  <a:t>2</a:t>
                </a:r>
                <a:endParaRPr lang="zh-CN" altLang="en-US" dirty="0">
                  <a:solidFill>
                    <a:srgbClr val="FF0000"/>
                  </a:solidFill>
                </a:endParaRPr>
              </a:p>
            </p:txBody>
          </p:sp>
          <p:sp>
            <p:nvSpPr>
              <p:cNvPr id="25" name="矩形 24">
                <a:extLst>
                  <a:ext uri="{FF2B5EF4-FFF2-40B4-BE49-F238E27FC236}">
                    <a16:creationId xmlns:a16="http://schemas.microsoft.com/office/drawing/2014/main" id="{4CD9FC79-C45C-B34B-8B56-E0FDD99362DA}"/>
                  </a:ext>
                </a:extLst>
              </p:cNvPr>
              <p:cNvSpPr/>
              <p:nvPr/>
            </p:nvSpPr>
            <p:spPr>
              <a:xfrm>
                <a:off x="4696984" y="3544516"/>
                <a:ext cx="300082" cy="369332"/>
              </a:xfrm>
              <a:prstGeom prst="rect">
                <a:avLst/>
              </a:prstGeom>
            </p:spPr>
            <p:txBody>
              <a:bodyPr wrap="none">
                <a:spAutoFit/>
              </a:bodyPr>
              <a:lstStyle/>
              <a:p>
                <a:r>
                  <a:rPr kumimoji="1" lang="en-US" altLang="zh-CN" dirty="0">
                    <a:solidFill>
                      <a:srgbClr val="FF0000"/>
                    </a:solidFill>
                    <a:latin typeface="Gill Sans MT" panose="020B0502020104020203" pitchFamily="34" charset="0"/>
                  </a:rPr>
                  <a:t>b</a:t>
                </a:r>
                <a:endParaRPr lang="zh-CN" altLang="en-US" dirty="0">
                  <a:solidFill>
                    <a:srgbClr val="FF0000"/>
                  </a:solidFill>
                </a:endParaRPr>
              </a:p>
            </p:txBody>
          </p:sp>
          <p:sp>
            <p:nvSpPr>
              <p:cNvPr id="26" name="矩形 25">
                <a:extLst>
                  <a:ext uri="{FF2B5EF4-FFF2-40B4-BE49-F238E27FC236}">
                    <a16:creationId xmlns:a16="http://schemas.microsoft.com/office/drawing/2014/main" id="{28C5169C-CE13-DC41-A88B-CD486E83512A}"/>
                  </a:ext>
                </a:extLst>
              </p:cNvPr>
              <p:cNvSpPr/>
              <p:nvPr/>
            </p:nvSpPr>
            <p:spPr>
              <a:xfrm>
                <a:off x="3439570" y="4047441"/>
                <a:ext cx="285656" cy="369332"/>
              </a:xfrm>
              <a:prstGeom prst="rect">
                <a:avLst/>
              </a:prstGeom>
            </p:spPr>
            <p:txBody>
              <a:bodyPr wrap="none">
                <a:spAutoFit/>
              </a:bodyPr>
              <a:lstStyle/>
              <a:p>
                <a:r>
                  <a:rPr kumimoji="1" lang="en-US" altLang="zh-CN" dirty="0">
                    <a:solidFill>
                      <a:srgbClr val="FF0000"/>
                    </a:solidFill>
                    <a:latin typeface="Gill Sans MT" panose="020B0502020104020203" pitchFamily="34" charset="0"/>
                  </a:rPr>
                  <a:t>c</a:t>
                </a:r>
                <a:endParaRPr lang="zh-CN" altLang="en-US" dirty="0">
                  <a:solidFill>
                    <a:srgbClr val="FF0000"/>
                  </a:solidFill>
                </a:endParaRPr>
              </a:p>
            </p:txBody>
          </p:sp>
          <p:sp>
            <p:nvSpPr>
              <p:cNvPr id="27" name="矩形 26">
                <a:extLst>
                  <a:ext uri="{FF2B5EF4-FFF2-40B4-BE49-F238E27FC236}">
                    <a16:creationId xmlns:a16="http://schemas.microsoft.com/office/drawing/2014/main" id="{B4400194-E81A-9F45-A42E-318159AEBC71}"/>
                  </a:ext>
                </a:extLst>
              </p:cNvPr>
              <p:cNvSpPr/>
              <p:nvPr/>
            </p:nvSpPr>
            <p:spPr>
              <a:xfrm>
                <a:off x="3101144" y="4540925"/>
                <a:ext cx="624082" cy="369332"/>
              </a:xfrm>
              <a:prstGeom prst="rect">
                <a:avLst/>
              </a:prstGeom>
            </p:spPr>
            <p:txBody>
              <a:bodyPr wrap="none">
                <a:spAutoFit/>
              </a:bodyPr>
              <a:lstStyle/>
              <a:p>
                <a:r>
                  <a:rPr kumimoji="1" lang="en-US" altLang="zh-CN" dirty="0">
                    <a:solidFill>
                      <a:srgbClr val="FF0000"/>
                    </a:solidFill>
                    <a:latin typeface="Gill Sans MT" panose="020B0502020104020203" pitchFamily="34" charset="0"/>
                  </a:rPr>
                  <a:t>ret c</a:t>
                </a:r>
                <a:endParaRPr lang="zh-CN" altLang="en-US" dirty="0">
                  <a:solidFill>
                    <a:srgbClr val="FF0000"/>
                  </a:solidFill>
                </a:endParaRPr>
              </a:p>
            </p:txBody>
          </p:sp>
          <p:sp>
            <p:nvSpPr>
              <p:cNvPr id="28" name="矩形 27">
                <a:extLst>
                  <a:ext uri="{FF2B5EF4-FFF2-40B4-BE49-F238E27FC236}">
                    <a16:creationId xmlns:a16="http://schemas.microsoft.com/office/drawing/2014/main" id="{FE9F2628-312A-524C-8E3D-A1602CBCF2A3}"/>
                  </a:ext>
                </a:extLst>
              </p:cNvPr>
              <p:cNvSpPr/>
              <p:nvPr/>
            </p:nvSpPr>
            <p:spPr>
              <a:xfrm>
                <a:off x="3428830" y="5072840"/>
                <a:ext cx="300082" cy="369332"/>
              </a:xfrm>
              <a:prstGeom prst="rect">
                <a:avLst/>
              </a:prstGeom>
            </p:spPr>
            <p:txBody>
              <a:bodyPr wrap="none">
                <a:spAutoFit/>
              </a:bodyPr>
              <a:lstStyle/>
              <a:p>
                <a:r>
                  <a:rPr kumimoji="1" lang="en-US" altLang="zh-CN" dirty="0">
                    <a:latin typeface="Gill Sans MT" panose="020B0502020104020203" pitchFamily="34" charset="0"/>
                  </a:rPr>
                  <a:t>p</a:t>
                </a:r>
                <a:endParaRPr lang="zh-CN" altLang="en-US" dirty="0"/>
              </a:p>
            </p:txBody>
          </p:sp>
          <p:sp>
            <p:nvSpPr>
              <p:cNvPr id="29" name="矩形 28">
                <a:extLst>
                  <a:ext uri="{FF2B5EF4-FFF2-40B4-BE49-F238E27FC236}">
                    <a16:creationId xmlns:a16="http://schemas.microsoft.com/office/drawing/2014/main" id="{BD831973-6487-5840-9F86-4D7E37968CC8}"/>
                  </a:ext>
                </a:extLst>
              </p:cNvPr>
              <p:cNvSpPr/>
              <p:nvPr/>
            </p:nvSpPr>
            <p:spPr>
              <a:xfrm>
                <a:off x="3086718" y="5579708"/>
                <a:ext cx="638508" cy="369332"/>
              </a:xfrm>
              <a:prstGeom prst="rect">
                <a:avLst/>
              </a:prstGeom>
            </p:spPr>
            <p:txBody>
              <a:bodyPr wrap="none">
                <a:spAutoFit/>
              </a:bodyPr>
              <a:lstStyle/>
              <a:p>
                <a:r>
                  <a:rPr kumimoji="1" lang="en-US" altLang="zh-CN" dirty="0">
                    <a:latin typeface="Gill Sans MT" panose="020B0502020104020203" pitchFamily="34" charset="0"/>
                  </a:rPr>
                  <a:t>ret p</a:t>
                </a:r>
                <a:endParaRPr lang="zh-CN" altLang="en-US" dirty="0"/>
              </a:p>
            </p:txBody>
          </p:sp>
          <p:cxnSp>
            <p:nvCxnSpPr>
              <p:cNvPr id="31" name="直线箭头连接符 30">
                <a:extLst>
                  <a:ext uri="{FF2B5EF4-FFF2-40B4-BE49-F238E27FC236}">
                    <a16:creationId xmlns:a16="http://schemas.microsoft.com/office/drawing/2014/main" id="{E6AF5643-4E6A-D64C-AA24-F5E832B43BB9}"/>
                  </a:ext>
                </a:extLst>
              </p:cNvPr>
              <p:cNvCxnSpPr>
                <a:stCxn id="14" idx="4"/>
                <a:endCxn id="15" idx="0"/>
              </p:cNvCxnSpPr>
              <p:nvPr/>
            </p:nvCxnSpPr>
            <p:spPr>
              <a:xfrm>
                <a:off x="3777779" y="2748707"/>
                <a:ext cx="0" cy="406881"/>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32" name="直线箭头连接符 31">
                <a:extLst>
                  <a:ext uri="{FF2B5EF4-FFF2-40B4-BE49-F238E27FC236}">
                    <a16:creationId xmlns:a16="http://schemas.microsoft.com/office/drawing/2014/main" id="{F6481FED-97D2-2547-8DC1-2EB3A3B4EA30}"/>
                  </a:ext>
                </a:extLst>
              </p:cNvPr>
              <p:cNvCxnSpPr>
                <a:cxnSpLocks/>
                <a:stCxn id="15" idx="4"/>
                <a:endCxn id="19" idx="0"/>
              </p:cNvCxnSpPr>
              <p:nvPr/>
            </p:nvCxnSpPr>
            <p:spPr>
              <a:xfrm>
                <a:off x="3777779" y="3260691"/>
                <a:ext cx="0" cy="918865"/>
              </a:xfrm>
              <a:prstGeom prst="straightConnector1">
                <a:avLst/>
              </a:prstGeom>
              <a:ln w="12700">
                <a:solidFill>
                  <a:srgbClr val="FF0000"/>
                </a:solidFill>
                <a:tailEnd type="triangle" w="sm" len="med"/>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1D2933D7-776A-D64F-9582-2EBAE24AD3F2}"/>
                  </a:ext>
                </a:extLst>
              </p:cNvPr>
              <p:cNvSpPr/>
              <p:nvPr/>
            </p:nvSpPr>
            <p:spPr>
              <a:xfrm>
                <a:off x="3446111" y="3018907"/>
                <a:ext cx="285656" cy="369332"/>
              </a:xfrm>
              <a:prstGeom prst="rect">
                <a:avLst/>
              </a:prstGeom>
            </p:spPr>
            <p:txBody>
              <a:bodyPr wrap="none">
                <a:spAutoFit/>
              </a:bodyPr>
              <a:lstStyle/>
              <a:p>
                <a:r>
                  <a:rPr kumimoji="1" lang="en-US" altLang="zh-CN" dirty="0">
                    <a:solidFill>
                      <a:srgbClr val="FF0000"/>
                    </a:solidFill>
                    <a:latin typeface="Gill Sans MT" panose="020B0502020104020203" pitchFamily="34" charset="0"/>
                  </a:rPr>
                  <a:t>a</a:t>
                </a:r>
                <a:endParaRPr lang="zh-CN" altLang="en-US" dirty="0">
                  <a:solidFill>
                    <a:srgbClr val="FF0000"/>
                  </a:solidFill>
                </a:endParaRPr>
              </a:p>
            </p:txBody>
          </p:sp>
          <p:cxnSp>
            <p:nvCxnSpPr>
              <p:cNvPr id="34" name="直线箭头连接符 33">
                <a:extLst>
                  <a:ext uri="{FF2B5EF4-FFF2-40B4-BE49-F238E27FC236}">
                    <a16:creationId xmlns:a16="http://schemas.microsoft.com/office/drawing/2014/main" id="{7F67ADEE-C226-2B4C-86FD-815EC3114D92}"/>
                  </a:ext>
                </a:extLst>
              </p:cNvPr>
              <p:cNvCxnSpPr>
                <a:cxnSpLocks/>
                <a:stCxn id="19" idx="4"/>
                <a:endCxn id="20" idx="0"/>
              </p:cNvCxnSpPr>
              <p:nvPr/>
            </p:nvCxnSpPr>
            <p:spPr>
              <a:xfrm>
                <a:off x="3777779" y="4284659"/>
                <a:ext cx="0" cy="406881"/>
              </a:xfrm>
              <a:prstGeom prst="straightConnector1">
                <a:avLst/>
              </a:prstGeom>
              <a:ln w="12700">
                <a:solidFill>
                  <a:srgbClr val="FF0000"/>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35" name="直线箭头连接符 34">
                <a:extLst>
                  <a:ext uri="{FF2B5EF4-FFF2-40B4-BE49-F238E27FC236}">
                    <a16:creationId xmlns:a16="http://schemas.microsoft.com/office/drawing/2014/main" id="{EF082507-7166-9E4E-BFC8-AA725E506181}"/>
                  </a:ext>
                </a:extLst>
              </p:cNvPr>
              <p:cNvCxnSpPr>
                <a:cxnSpLocks/>
                <a:stCxn id="20" idx="4"/>
                <a:endCxn id="16" idx="0"/>
              </p:cNvCxnSpPr>
              <p:nvPr/>
            </p:nvCxnSpPr>
            <p:spPr>
              <a:xfrm flipH="1">
                <a:off x="3777778" y="4796643"/>
                <a:ext cx="1" cy="408312"/>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36" name="直线箭头连接符 35">
                <a:extLst>
                  <a:ext uri="{FF2B5EF4-FFF2-40B4-BE49-F238E27FC236}">
                    <a16:creationId xmlns:a16="http://schemas.microsoft.com/office/drawing/2014/main" id="{CB4C781D-805F-E646-A4F6-47B9D59EE2E5}"/>
                  </a:ext>
                </a:extLst>
              </p:cNvPr>
              <p:cNvCxnSpPr>
                <a:cxnSpLocks/>
                <a:stCxn id="16" idx="4"/>
                <a:endCxn id="21" idx="0"/>
              </p:cNvCxnSpPr>
              <p:nvPr/>
            </p:nvCxnSpPr>
            <p:spPr>
              <a:xfrm>
                <a:off x="3777778" y="5310058"/>
                <a:ext cx="0" cy="406881"/>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37" name="直线箭头连接符 36">
                <a:extLst>
                  <a:ext uri="{FF2B5EF4-FFF2-40B4-BE49-F238E27FC236}">
                    <a16:creationId xmlns:a16="http://schemas.microsoft.com/office/drawing/2014/main" id="{1EB99FEE-D3CC-4942-AF5D-166993FEB85D}"/>
                  </a:ext>
                </a:extLst>
              </p:cNvPr>
              <p:cNvCxnSpPr>
                <a:cxnSpLocks/>
                <a:stCxn id="17" idx="4"/>
                <a:endCxn id="18" idx="0"/>
              </p:cNvCxnSpPr>
              <p:nvPr/>
            </p:nvCxnSpPr>
            <p:spPr>
              <a:xfrm flipH="1">
                <a:off x="4608411" y="3260690"/>
                <a:ext cx="1" cy="406882"/>
              </a:xfrm>
              <a:prstGeom prst="straightConnector1">
                <a:avLst/>
              </a:prstGeom>
              <a:ln w="12700">
                <a:solidFill>
                  <a:srgbClr val="FF0000"/>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48" name="直线箭头连接符 47">
                <a:extLst>
                  <a:ext uri="{FF2B5EF4-FFF2-40B4-BE49-F238E27FC236}">
                    <a16:creationId xmlns:a16="http://schemas.microsoft.com/office/drawing/2014/main" id="{9CD04B63-B7C8-114D-AA3B-00D83738E949}"/>
                  </a:ext>
                </a:extLst>
              </p:cNvPr>
              <p:cNvCxnSpPr>
                <a:cxnSpLocks/>
                <a:stCxn id="18" idx="3"/>
                <a:endCxn id="19" idx="7"/>
              </p:cNvCxnSpPr>
              <p:nvPr/>
            </p:nvCxnSpPr>
            <p:spPr>
              <a:xfrm flipH="1">
                <a:off x="3814938" y="3757283"/>
                <a:ext cx="756313" cy="437665"/>
              </a:xfrm>
              <a:prstGeom prst="straightConnector1">
                <a:avLst/>
              </a:prstGeom>
              <a:ln w="12700">
                <a:solidFill>
                  <a:srgbClr val="FF0000"/>
                </a:solidFill>
                <a:tailEnd type="triangle" w="sm" len="med"/>
              </a:ln>
            </p:spPr>
            <p:style>
              <a:lnRef idx="1">
                <a:schemeClr val="accent1"/>
              </a:lnRef>
              <a:fillRef idx="0">
                <a:schemeClr val="accent1"/>
              </a:fillRef>
              <a:effectRef idx="0">
                <a:schemeClr val="accent1"/>
              </a:effectRef>
              <a:fontRef idx="minor">
                <a:schemeClr val="tx1"/>
              </a:fontRef>
            </p:style>
          </p:cxnSp>
          <p:sp>
            <p:nvSpPr>
              <p:cNvPr id="51" name="矩形 50">
                <a:extLst>
                  <a:ext uri="{FF2B5EF4-FFF2-40B4-BE49-F238E27FC236}">
                    <a16:creationId xmlns:a16="http://schemas.microsoft.com/office/drawing/2014/main" id="{36D23575-669E-3E4C-9B0A-5A66FECC4830}"/>
                  </a:ext>
                </a:extLst>
              </p:cNvPr>
              <p:cNvSpPr/>
              <p:nvPr/>
            </p:nvSpPr>
            <p:spPr>
              <a:xfrm>
                <a:off x="2990089" y="3018907"/>
                <a:ext cx="2386584" cy="1981892"/>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sp>
          <p:nvSpPr>
            <p:cNvPr id="54" name="矩形 53">
              <a:extLst>
                <a:ext uri="{FF2B5EF4-FFF2-40B4-BE49-F238E27FC236}">
                  <a16:creationId xmlns:a16="http://schemas.microsoft.com/office/drawing/2014/main" id="{A13C9AD1-5AF6-E647-B9EF-E20734A43FCD}"/>
                </a:ext>
              </a:extLst>
            </p:cNvPr>
            <p:cNvSpPr/>
            <p:nvPr/>
          </p:nvSpPr>
          <p:spPr>
            <a:xfrm>
              <a:off x="2943186" y="2402300"/>
              <a:ext cx="2826678" cy="363274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6" name="文本框 55">
              <a:extLst>
                <a:ext uri="{FF2B5EF4-FFF2-40B4-BE49-F238E27FC236}">
                  <a16:creationId xmlns:a16="http://schemas.microsoft.com/office/drawing/2014/main" id="{D131FEF4-61A8-FE40-A784-5A619A592415}"/>
                </a:ext>
              </a:extLst>
            </p:cNvPr>
            <p:cNvSpPr txBox="1"/>
            <p:nvPr/>
          </p:nvSpPr>
          <p:spPr>
            <a:xfrm>
              <a:off x="5126193" y="4630188"/>
              <a:ext cx="489236" cy="369332"/>
            </a:xfrm>
            <a:prstGeom prst="rect">
              <a:avLst/>
            </a:prstGeom>
            <a:noFill/>
          </p:spPr>
          <p:txBody>
            <a:bodyPr wrap="none" rtlCol="0">
              <a:spAutoFit/>
            </a:bodyPr>
            <a:lstStyle/>
            <a:p>
              <a:r>
                <a:rPr kumimoji="1" lang="en-US" altLang="zh-CN" dirty="0">
                  <a:solidFill>
                    <a:srgbClr val="FF0000"/>
                  </a:solidFill>
                  <a:latin typeface="Gill Sans MT" panose="020B0502020104020203" pitchFamily="34" charset="0"/>
                </a:rPr>
                <a:t>bar</a:t>
              </a:r>
              <a:endParaRPr kumimoji="1" lang="zh-CN" altLang="en-US" dirty="0">
                <a:solidFill>
                  <a:srgbClr val="FF0000"/>
                </a:solidFill>
                <a:latin typeface="Gill Sans MT" panose="020B0502020104020203" pitchFamily="34" charset="0"/>
              </a:endParaRPr>
            </a:p>
          </p:txBody>
        </p:sp>
        <p:sp>
          <p:nvSpPr>
            <p:cNvPr id="57" name="文本框 56">
              <a:extLst>
                <a:ext uri="{FF2B5EF4-FFF2-40B4-BE49-F238E27FC236}">
                  <a16:creationId xmlns:a16="http://schemas.microsoft.com/office/drawing/2014/main" id="{25D7CC34-F215-2140-9B19-9E9845FF2D28}"/>
                </a:ext>
              </a:extLst>
            </p:cNvPr>
            <p:cNvSpPr txBox="1"/>
            <p:nvPr/>
          </p:nvSpPr>
          <p:spPr>
            <a:xfrm>
              <a:off x="5276459" y="5689158"/>
              <a:ext cx="493405" cy="369332"/>
            </a:xfrm>
            <a:prstGeom prst="rect">
              <a:avLst/>
            </a:prstGeom>
            <a:noFill/>
          </p:spPr>
          <p:txBody>
            <a:bodyPr wrap="none" rtlCol="0">
              <a:spAutoFit/>
            </a:bodyPr>
            <a:lstStyle/>
            <a:p>
              <a:r>
                <a:rPr kumimoji="1" lang="en-US" altLang="zh-CN" dirty="0">
                  <a:latin typeface="Gill Sans MT" panose="020B0502020104020203" pitchFamily="34" charset="0"/>
                </a:rPr>
                <a:t>foo</a:t>
              </a:r>
              <a:endParaRPr kumimoji="1" lang="zh-CN" altLang="en-US" dirty="0">
                <a:latin typeface="Gill Sans MT" panose="020B0502020104020203" pitchFamily="34" charset="0"/>
              </a:endParaRPr>
            </a:p>
          </p:txBody>
        </p:sp>
        <p:cxnSp>
          <p:nvCxnSpPr>
            <p:cNvPr id="58" name="直线箭头连接符 57">
              <a:extLst>
                <a:ext uri="{FF2B5EF4-FFF2-40B4-BE49-F238E27FC236}">
                  <a16:creationId xmlns:a16="http://schemas.microsoft.com/office/drawing/2014/main" id="{F2BBB92D-57A1-784F-A6AC-9D149341943A}"/>
                </a:ext>
              </a:extLst>
            </p:cNvPr>
            <p:cNvCxnSpPr>
              <a:cxnSpLocks/>
            </p:cNvCxnSpPr>
            <p:nvPr/>
          </p:nvCxnSpPr>
          <p:spPr>
            <a:xfrm>
              <a:off x="3968060" y="5794261"/>
              <a:ext cx="0" cy="406881"/>
            </a:xfrm>
            <a:prstGeom prst="straightConnector1">
              <a:avLst/>
            </a:prstGeom>
            <a:ln w="1270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grpSp>
      <p:sp>
        <p:nvSpPr>
          <p:cNvPr id="42" name="矩形 41">
            <a:extLst>
              <a:ext uri="{FF2B5EF4-FFF2-40B4-BE49-F238E27FC236}">
                <a16:creationId xmlns:a16="http://schemas.microsoft.com/office/drawing/2014/main" id="{871A8251-8D9A-A346-863D-647D0BCD9B76}"/>
              </a:ext>
            </a:extLst>
          </p:cNvPr>
          <p:cNvSpPr/>
          <p:nvPr/>
        </p:nvSpPr>
        <p:spPr>
          <a:xfrm>
            <a:off x="3848326" y="2737547"/>
            <a:ext cx="234377" cy="1885094"/>
          </a:xfrm>
          <a:prstGeom prst="rect">
            <a:avLst/>
          </a:prstGeom>
          <a:solidFill>
            <a:schemeClr val="accent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任意形状 42">
            <a:extLst>
              <a:ext uri="{FF2B5EF4-FFF2-40B4-BE49-F238E27FC236}">
                <a16:creationId xmlns:a16="http://schemas.microsoft.com/office/drawing/2014/main" id="{BF6E5978-841C-8D4C-8C7A-66BBDDA059B0}"/>
              </a:ext>
            </a:extLst>
          </p:cNvPr>
          <p:cNvSpPr/>
          <p:nvPr/>
        </p:nvSpPr>
        <p:spPr>
          <a:xfrm>
            <a:off x="3884145" y="2757861"/>
            <a:ext cx="1004863" cy="1880317"/>
          </a:xfrm>
          <a:custGeom>
            <a:avLst/>
            <a:gdLst>
              <a:gd name="connsiteX0" fmla="*/ 914400 w 1189608"/>
              <a:gd name="connsiteY0" fmla="*/ 0 h 1961965"/>
              <a:gd name="connsiteX1" fmla="*/ 1189608 w 1189608"/>
              <a:gd name="connsiteY1" fmla="*/ 0 h 1961965"/>
              <a:gd name="connsiteX2" fmla="*/ 1189608 w 1189608"/>
              <a:gd name="connsiteY2" fmla="*/ 781235 h 1961965"/>
              <a:gd name="connsiteX3" fmla="*/ 248575 w 1189608"/>
              <a:gd name="connsiteY3" fmla="*/ 1331650 h 1961965"/>
              <a:gd name="connsiteX4" fmla="*/ 248575 w 1189608"/>
              <a:gd name="connsiteY4" fmla="*/ 1961965 h 1961965"/>
              <a:gd name="connsiteX5" fmla="*/ 0 w 1189608"/>
              <a:gd name="connsiteY5" fmla="*/ 1961965 h 1961965"/>
              <a:gd name="connsiteX6" fmla="*/ 0 w 1189608"/>
              <a:gd name="connsiteY6" fmla="*/ 1145219 h 1961965"/>
              <a:gd name="connsiteX7" fmla="*/ 914400 w 1189608"/>
              <a:gd name="connsiteY7" fmla="*/ 612559 h 1961965"/>
              <a:gd name="connsiteX8" fmla="*/ 914400 w 1189608"/>
              <a:gd name="connsiteY8" fmla="*/ 0 h 196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9608" h="1961965">
                <a:moveTo>
                  <a:pt x="914400" y="0"/>
                </a:moveTo>
                <a:lnTo>
                  <a:pt x="1189608" y="0"/>
                </a:lnTo>
                <a:lnTo>
                  <a:pt x="1189608" y="781235"/>
                </a:lnTo>
                <a:lnTo>
                  <a:pt x="248575" y="1331650"/>
                </a:lnTo>
                <a:lnTo>
                  <a:pt x="248575" y="1961965"/>
                </a:lnTo>
                <a:lnTo>
                  <a:pt x="0" y="1961965"/>
                </a:lnTo>
                <a:lnTo>
                  <a:pt x="0" y="1145219"/>
                </a:lnTo>
                <a:lnTo>
                  <a:pt x="914400" y="612559"/>
                </a:lnTo>
                <a:lnTo>
                  <a:pt x="914400" y="0"/>
                </a:lnTo>
                <a:close/>
              </a:path>
            </a:pathLst>
          </a:cu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3" name="组合 2">
            <a:extLst>
              <a:ext uri="{FF2B5EF4-FFF2-40B4-BE49-F238E27FC236}">
                <a16:creationId xmlns:a16="http://schemas.microsoft.com/office/drawing/2014/main" id="{34D295F4-5568-DE47-BE8A-D0BE610EC532}"/>
              </a:ext>
            </a:extLst>
          </p:cNvPr>
          <p:cNvGrpSpPr/>
          <p:nvPr/>
        </p:nvGrpSpPr>
        <p:grpSpPr>
          <a:xfrm>
            <a:off x="3871599" y="2757860"/>
            <a:ext cx="1004863" cy="2851264"/>
            <a:chOff x="7995520" y="1709474"/>
            <a:chExt cx="1004863" cy="2851264"/>
          </a:xfrm>
        </p:grpSpPr>
        <p:sp>
          <p:nvSpPr>
            <p:cNvPr id="45" name="矩形 44">
              <a:extLst>
                <a:ext uri="{FF2B5EF4-FFF2-40B4-BE49-F238E27FC236}">
                  <a16:creationId xmlns:a16="http://schemas.microsoft.com/office/drawing/2014/main" id="{5BE6709F-866D-D24F-9D81-76B4D2FCF610}"/>
                </a:ext>
              </a:extLst>
            </p:cNvPr>
            <p:cNvSpPr/>
            <p:nvPr/>
          </p:nvSpPr>
          <p:spPr>
            <a:xfrm>
              <a:off x="7995520" y="3590647"/>
              <a:ext cx="195075" cy="970091"/>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任意形状 45">
              <a:extLst>
                <a:ext uri="{FF2B5EF4-FFF2-40B4-BE49-F238E27FC236}">
                  <a16:creationId xmlns:a16="http://schemas.microsoft.com/office/drawing/2014/main" id="{5915D63C-7ED4-3A4B-BD3C-A5C0CFC03541}"/>
                </a:ext>
              </a:extLst>
            </p:cNvPr>
            <p:cNvSpPr/>
            <p:nvPr/>
          </p:nvSpPr>
          <p:spPr>
            <a:xfrm>
              <a:off x="7995520" y="1709474"/>
              <a:ext cx="1004863" cy="1880317"/>
            </a:xfrm>
            <a:custGeom>
              <a:avLst/>
              <a:gdLst>
                <a:gd name="connsiteX0" fmla="*/ 914400 w 1189608"/>
                <a:gd name="connsiteY0" fmla="*/ 0 h 1961965"/>
                <a:gd name="connsiteX1" fmla="*/ 1189608 w 1189608"/>
                <a:gd name="connsiteY1" fmla="*/ 0 h 1961965"/>
                <a:gd name="connsiteX2" fmla="*/ 1189608 w 1189608"/>
                <a:gd name="connsiteY2" fmla="*/ 781235 h 1961965"/>
                <a:gd name="connsiteX3" fmla="*/ 248575 w 1189608"/>
                <a:gd name="connsiteY3" fmla="*/ 1331650 h 1961965"/>
                <a:gd name="connsiteX4" fmla="*/ 248575 w 1189608"/>
                <a:gd name="connsiteY4" fmla="*/ 1961965 h 1961965"/>
                <a:gd name="connsiteX5" fmla="*/ 0 w 1189608"/>
                <a:gd name="connsiteY5" fmla="*/ 1961965 h 1961965"/>
                <a:gd name="connsiteX6" fmla="*/ 0 w 1189608"/>
                <a:gd name="connsiteY6" fmla="*/ 1145219 h 1961965"/>
                <a:gd name="connsiteX7" fmla="*/ 914400 w 1189608"/>
                <a:gd name="connsiteY7" fmla="*/ 612559 h 1961965"/>
                <a:gd name="connsiteX8" fmla="*/ 914400 w 1189608"/>
                <a:gd name="connsiteY8" fmla="*/ 0 h 196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9608" h="1961965">
                  <a:moveTo>
                    <a:pt x="914400" y="0"/>
                  </a:moveTo>
                  <a:lnTo>
                    <a:pt x="1189608" y="0"/>
                  </a:lnTo>
                  <a:lnTo>
                    <a:pt x="1189608" y="781235"/>
                  </a:lnTo>
                  <a:lnTo>
                    <a:pt x="248575" y="1331650"/>
                  </a:lnTo>
                  <a:lnTo>
                    <a:pt x="248575" y="1961965"/>
                  </a:lnTo>
                  <a:lnTo>
                    <a:pt x="0" y="1961965"/>
                  </a:lnTo>
                  <a:lnTo>
                    <a:pt x="0" y="1145219"/>
                  </a:lnTo>
                  <a:lnTo>
                    <a:pt x="914400" y="612559"/>
                  </a:lnTo>
                  <a:lnTo>
                    <a:pt x="914400" y="0"/>
                  </a:lnTo>
                  <a:close/>
                </a:path>
              </a:pathLst>
            </a:cu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1282975405"/>
      </p:ext>
    </p:extLst>
  </p:cSld>
  <p:clrMapOvr>
    <a:masterClrMapping/>
  </p:clrMapOvr>
  <mc:AlternateContent xmlns:mc="http://schemas.openxmlformats.org/markup-compatibility/2006" xmlns:p14="http://schemas.microsoft.com/office/powerpoint/2010/main">
    <mc:Choice Requires="p14">
      <p:transition spd="slow" p14:dur="2000" advTm="77987"/>
    </mc:Choice>
    <mc:Fallback xmlns="">
      <p:transition spd="slow" advTm="7798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4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4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4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4" grpId="1" animBg="1"/>
      <p:bldP spid="42" grpId="0" animBg="1"/>
      <p:bldP spid="42" grpId="1" animBg="1"/>
      <p:bldP spid="43" grpId="0" animBg="1"/>
      <p:bldP spid="43"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2FDBA2-9C24-DB49-822C-C620A851D164}"/>
              </a:ext>
            </a:extLst>
          </p:cNvPr>
          <p:cNvSpPr>
            <a:spLocks noGrp="1"/>
          </p:cNvSpPr>
          <p:nvPr>
            <p:ph type="title"/>
          </p:nvPr>
        </p:nvSpPr>
        <p:spPr/>
        <p:txBody>
          <a:bodyPr/>
          <a:lstStyle/>
          <a:p>
            <a:r>
              <a:rPr kumimoji="1" lang="en-US" altLang="zh-CN" dirty="0"/>
              <a:t>Partition Criteria</a:t>
            </a:r>
            <a:endParaRPr kumimoji="1" lang="zh-CN" altLang="en-US" dirty="0"/>
          </a:p>
        </p:txBody>
      </p:sp>
      <p:sp>
        <p:nvSpPr>
          <p:cNvPr id="3" name="内容占位符 2">
            <a:extLst>
              <a:ext uri="{FF2B5EF4-FFF2-40B4-BE49-F238E27FC236}">
                <a16:creationId xmlns:a16="http://schemas.microsoft.com/office/drawing/2014/main" id="{0F22D964-5286-BF45-B605-02399EDCF1DE}"/>
              </a:ext>
            </a:extLst>
          </p:cNvPr>
          <p:cNvSpPr>
            <a:spLocks noGrp="1"/>
          </p:cNvSpPr>
          <p:nvPr>
            <p:ph idx="1"/>
          </p:nvPr>
        </p:nvSpPr>
        <p:spPr/>
        <p:txBody>
          <a:bodyPr>
            <a:normAutofit fontScale="92500" lnSpcReduction="20000"/>
          </a:bodyPr>
          <a:lstStyle/>
          <a:p>
            <a:r>
              <a:rPr kumimoji="1" lang="en-US" altLang="zh-CN" dirty="0">
                <a:latin typeface="Helvetica" pitchFamily="2" charset="0"/>
              </a:rPr>
              <a:t>Given a pair of functions: </a:t>
            </a:r>
            <a:r>
              <a:rPr kumimoji="1" lang="en-US" altLang="zh-CN" b="1" dirty="0">
                <a:latin typeface="Helvetica" pitchFamily="2" charset="0"/>
              </a:rPr>
              <a:t>foo</a:t>
            </a:r>
            <a:r>
              <a:rPr kumimoji="1" lang="en-US" altLang="zh-CN" dirty="0">
                <a:latin typeface="Helvetica" pitchFamily="2" charset="0"/>
              </a:rPr>
              <a:t> calls </a:t>
            </a:r>
            <a:r>
              <a:rPr kumimoji="1" lang="en-US" altLang="zh-CN" b="1" dirty="0">
                <a:latin typeface="Helvetica" pitchFamily="2" charset="0"/>
              </a:rPr>
              <a:t>bar</a:t>
            </a: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r>
              <a:rPr kumimoji="1" lang="en-US" altLang="zh-CN" dirty="0">
                <a:solidFill>
                  <a:schemeClr val="bg1"/>
                </a:solidFill>
                <a:latin typeface="Helvetica" pitchFamily="2" charset="0"/>
              </a:rPr>
              <a:t>All the dependences are necessary?</a:t>
            </a:r>
            <a:r>
              <a:rPr kumimoji="1" lang="zh-CN" altLang="en-US" dirty="0">
                <a:solidFill>
                  <a:schemeClr val="bg1"/>
                </a:solidFill>
                <a:latin typeface="Helvetica" pitchFamily="2" charset="0"/>
              </a:rPr>
              <a:t> </a:t>
            </a:r>
            <a:r>
              <a:rPr kumimoji="1" lang="en-US" altLang="zh-CN" b="1" dirty="0">
                <a:solidFill>
                  <a:schemeClr val="bg1"/>
                </a:solidFill>
                <a:latin typeface="Helvetica" pitchFamily="2" charset="0"/>
              </a:rPr>
              <a:t>No!</a:t>
            </a:r>
            <a:endParaRPr kumimoji="1" lang="zh-CN" altLang="en-US" b="1" dirty="0">
              <a:solidFill>
                <a:schemeClr val="bg1"/>
              </a:solidFill>
              <a:latin typeface="Helvetica" pitchFamily="2" charset="0"/>
            </a:endParaRPr>
          </a:p>
          <a:p>
            <a:endParaRPr kumimoji="1" lang="en-US" altLang="zh-CN" dirty="0">
              <a:latin typeface="Helvetica" pitchFamily="2" charset="0"/>
            </a:endParaRPr>
          </a:p>
        </p:txBody>
      </p:sp>
      <p:sp>
        <p:nvSpPr>
          <p:cNvPr id="4" name="灯片编号占位符 3">
            <a:extLst>
              <a:ext uri="{FF2B5EF4-FFF2-40B4-BE49-F238E27FC236}">
                <a16:creationId xmlns:a16="http://schemas.microsoft.com/office/drawing/2014/main" id="{A276B804-34F5-2B40-B232-E36D462E5738}"/>
              </a:ext>
            </a:extLst>
          </p:cNvPr>
          <p:cNvSpPr>
            <a:spLocks noGrp="1"/>
          </p:cNvSpPr>
          <p:nvPr>
            <p:ph type="sldNum" sz="quarter" idx="12"/>
          </p:nvPr>
        </p:nvSpPr>
        <p:spPr/>
        <p:txBody>
          <a:bodyPr/>
          <a:lstStyle/>
          <a:p>
            <a:fld id="{C53D9380-AD50-0C4E-BD20-74B8F0FD34CE}" type="slidenum">
              <a:rPr kumimoji="1" lang="zh-CN" altLang="en-US" smtClean="0"/>
              <a:t>8</a:t>
            </a:fld>
            <a:endParaRPr kumimoji="1" lang="zh-CN" altLang="en-US" dirty="0"/>
          </a:p>
        </p:txBody>
      </p:sp>
      <p:sp>
        <p:nvSpPr>
          <p:cNvPr id="6" name="文本框 5">
            <a:extLst>
              <a:ext uri="{FF2B5EF4-FFF2-40B4-BE49-F238E27FC236}">
                <a16:creationId xmlns:a16="http://schemas.microsoft.com/office/drawing/2014/main" id="{7F20BAFE-DC5A-8C4E-A4FD-A25C09D1CCCD}"/>
              </a:ext>
            </a:extLst>
          </p:cNvPr>
          <p:cNvSpPr txBox="1"/>
          <p:nvPr/>
        </p:nvSpPr>
        <p:spPr>
          <a:xfrm>
            <a:off x="188420" y="2630881"/>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foo</a:t>
            </a:r>
          </a:p>
          <a:p>
            <a:pPr algn="ctr"/>
            <a:r>
              <a:rPr kumimoji="1" lang="en-US" altLang="zh-CN" sz="1600" dirty="0">
                <a:latin typeface="Helvetica" pitchFamily="2" charset="0"/>
              </a:rPr>
              <a:t>Type I: Parameter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7" name="文本框 6">
            <a:extLst>
              <a:ext uri="{FF2B5EF4-FFF2-40B4-BE49-F238E27FC236}">
                <a16:creationId xmlns:a16="http://schemas.microsoft.com/office/drawing/2014/main" id="{04DBD803-35AE-9240-9BAA-32371B3D25D1}"/>
              </a:ext>
            </a:extLst>
          </p:cNvPr>
          <p:cNvSpPr txBox="1"/>
          <p:nvPr/>
        </p:nvSpPr>
        <p:spPr>
          <a:xfrm>
            <a:off x="4167427" y="2630881"/>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foo</a:t>
            </a:r>
          </a:p>
          <a:p>
            <a:pPr algn="ctr"/>
            <a:r>
              <a:rPr kumimoji="1" lang="en-US" altLang="zh-CN" sz="1600" dirty="0">
                <a:latin typeface="Helvetica" pitchFamily="2" charset="0"/>
              </a:rPr>
              <a:t>Type II: null in current </a:t>
            </a:r>
            <a:r>
              <a:rPr kumimoji="1" lang="en-US" altLang="zh-CN" sz="1600" dirty="0" err="1">
                <a:latin typeface="Helvetica" pitchFamily="2" charset="0"/>
              </a:rPr>
              <a:t>func</a:t>
            </a:r>
            <a:r>
              <a:rPr kumimoji="1" lang="en-US" altLang="zh-CN" sz="1600" dirty="0">
                <a:latin typeface="Helvetica" pitchFamily="2" charset="0"/>
              </a:rPr>
              <a:t>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8" name="文本框 7">
            <a:extLst>
              <a:ext uri="{FF2B5EF4-FFF2-40B4-BE49-F238E27FC236}">
                <a16:creationId xmlns:a16="http://schemas.microsoft.com/office/drawing/2014/main" id="{62D7C615-9D8D-5B41-BD27-0B412B002B98}"/>
              </a:ext>
            </a:extLst>
          </p:cNvPr>
          <p:cNvSpPr txBox="1"/>
          <p:nvPr/>
        </p:nvSpPr>
        <p:spPr>
          <a:xfrm>
            <a:off x="8136228" y="2630881"/>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foo</a:t>
            </a:r>
          </a:p>
          <a:p>
            <a:pPr algn="ctr"/>
            <a:r>
              <a:rPr kumimoji="1" lang="en-US" altLang="zh-CN" sz="1600" dirty="0">
                <a:latin typeface="Helvetica" pitchFamily="2" charset="0"/>
              </a:rPr>
              <a:t>Type III: null from </a:t>
            </a:r>
            <a:r>
              <a:rPr kumimoji="1" lang="en-US" altLang="zh-CN" sz="1600" dirty="0" err="1">
                <a:latin typeface="Helvetica" pitchFamily="2" charset="0"/>
              </a:rPr>
              <a:t>callee</a:t>
            </a:r>
            <a:r>
              <a:rPr kumimoji="1" lang="en-US" altLang="zh-CN" sz="1600" dirty="0">
                <a:latin typeface="Helvetica" pitchFamily="2" charset="0"/>
              </a:rPr>
              <a:t>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9" name="文本框 8">
            <a:extLst>
              <a:ext uri="{FF2B5EF4-FFF2-40B4-BE49-F238E27FC236}">
                <a16:creationId xmlns:a16="http://schemas.microsoft.com/office/drawing/2014/main" id="{5DA8B413-310F-9C4F-BD42-8BC0D763E601}"/>
              </a:ext>
            </a:extLst>
          </p:cNvPr>
          <p:cNvSpPr txBox="1"/>
          <p:nvPr/>
        </p:nvSpPr>
        <p:spPr>
          <a:xfrm>
            <a:off x="188418" y="4395548"/>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bar</a:t>
            </a:r>
          </a:p>
          <a:p>
            <a:pPr algn="ctr"/>
            <a:r>
              <a:rPr kumimoji="1" lang="en-US" altLang="zh-CN" sz="1600" dirty="0">
                <a:latin typeface="Helvetica" pitchFamily="2" charset="0"/>
              </a:rPr>
              <a:t>Type I: Parameter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10" name="文本框 9">
            <a:extLst>
              <a:ext uri="{FF2B5EF4-FFF2-40B4-BE49-F238E27FC236}">
                <a16:creationId xmlns:a16="http://schemas.microsoft.com/office/drawing/2014/main" id="{9B8576B8-E72F-6D45-8051-A6F14BA520BB}"/>
              </a:ext>
            </a:extLst>
          </p:cNvPr>
          <p:cNvSpPr txBox="1"/>
          <p:nvPr/>
        </p:nvSpPr>
        <p:spPr>
          <a:xfrm>
            <a:off x="4164347" y="4395547"/>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bar</a:t>
            </a:r>
          </a:p>
          <a:p>
            <a:r>
              <a:rPr kumimoji="1" lang="en-US" altLang="zh-CN" sz="1600" dirty="0">
                <a:latin typeface="Helvetica" pitchFamily="2" charset="0"/>
              </a:rPr>
              <a:t>Type II: null in current </a:t>
            </a:r>
            <a:r>
              <a:rPr kumimoji="1" lang="en-US" altLang="zh-CN" sz="1600" dirty="0" err="1">
                <a:latin typeface="Helvetica" pitchFamily="2" charset="0"/>
              </a:rPr>
              <a:t>func</a:t>
            </a:r>
            <a:r>
              <a:rPr kumimoji="1" lang="en-US" altLang="zh-CN" sz="1600" dirty="0">
                <a:latin typeface="Helvetica" pitchFamily="2" charset="0"/>
              </a:rPr>
              <a:t>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11" name="文本框 10">
            <a:extLst>
              <a:ext uri="{FF2B5EF4-FFF2-40B4-BE49-F238E27FC236}">
                <a16:creationId xmlns:a16="http://schemas.microsoft.com/office/drawing/2014/main" id="{3A5E6B1E-C6D6-BE47-8A5E-39455432939E}"/>
              </a:ext>
            </a:extLst>
          </p:cNvPr>
          <p:cNvSpPr txBox="1"/>
          <p:nvPr/>
        </p:nvSpPr>
        <p:spPr>
          <a:xfrm>
            <a:off x="8140274" y="4395549"/>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bar</a:t>
            </a:r>
          </a:p>
          <a:p>
            <a:pPr algn="ctr"/>
            <a:r>
              <a:rPr kumimoji="1" lang="en-US" altLang="zh-CN" sz="1600" dirty="0">
                <a:latin typeface="Helvetica" pitchFamily="2" charset="0"/>
              </a:rPr>
              <a:t>Type III: null from </a:t>
            </a:r>
            <a:r>
              <a:rPr kumimoji="1" lang="en-US" altLang="zh-CN" sz="1600" dirty="0" err="1">
                <a:latin typeface="Helvetica" pitchFamily="2" charset="0"/>
              </a:rPr>
              <a:t>callee</a:t>
            </a:r>
            <a:r>
              <a:rPr kumimoji="1" lang="en-US" altLang="zh-CN" sz="1600" dirty="0">
                <a:latin typeface="Helvetica" pitchFamily="2" charset="0"/>
              </a:rPr>
              <a:t>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cxnSp>
        <p:nvCxnSpPr>
          <p:cNvPr id="13" name="直线箭头连接符 12">
            <a:extLst>
              <a:ext uri="{FF2B5EF4-FFF2-40B4-BE49-F238E27FC236}">
                <a16:creationId xmlns:a16="http://schemas.microsoft.com/office/drawing/2014/main" id="{CF49C0F3-804A-1744-A627-090BC9EBA421}"/>
              </a:ext>
            </a:extLst>
          </p:cNvPr>
          <p:cNvCxnSpPr>
            <a:stCxn id="6" idx="2"/>
            <a:endCxn id="9" idx="0"/>
          </p:cNvCxnSpPr>
          <p:nvPr/>
        </p:nvCxnSpPr>
        <p:spPr>
          <a:xfrm flipH="1">
            <a:off x="2118018" y="3215656"/>
            <a:ext cx="2" cy="117989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1382C6BA-564D-394C-93E6-1708F88FE20A}"/>
              </a:ext>
            </a:extLst>
          </p:cNvPr>
          <p:cNvCxnSpPr>
            <a:stCxn id="6" idx="2"/>
            <a:endCxn id="10" idx="0"/>
          </p:cNvCxnSpPr>
          <p:nvPr/>
        </p:nvCxnSpPr>
        <p:spPr>
          <a:xfrm>
            <a:off x="2118020" y="3215656"/>
            <a:ext cx="3975927" cy="1179891"/>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D1E55858-9429-3B40-BAB7-CA9040C5D08C}"/>
              </a:ext>
            </a:extLst>
          </p:cNvPr>
          <p:cNvCxnSpPr>
            <a:stCxn id="6" idx="2"/>
            <a:endCxn id="11" idx="0"/>
          </p:cNvCxnSpPr>
          <p:nvPr/>
        </p:nvCxnSpPr>
        <p:spPr>
          <a:xfrm>
            <a:off x="2118020" y="3215656"/>
            <a:ext cx="7951854" cy="117989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2511CFDF-1603-F741-8BBD-CCEF821D685B}"/>
              </a:ext>
            </a:extLst>
          </p:cNvPr>
          <p:cNvCxnSpPr>
            <a:stCxn id="7" idx="2"/>
            <a:endCxn id="9" idx="0"/>
          </p:cNvCxnSpPr>
          <p:nvPr/>
        </p:nvCxnSpPr>
        <p:spPr>
          <a:xfrm flipH="1">
            <a:off x="2118018" y="3215656"/>
            <a:ext cx="3979009" cy="117989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a:extLst>
              <a:ext uri="{FF2B5EF4-FFF2-40B4-BE49-F238E27FC236}">
                <a16:creationId xmlns:a16="http://schemas.microsoft.com/office/drawing/2014/main" id="{34AC752D-B8B3-314B-9526-8A2122689B30}"/>
              </a:ext>
            </a:extLst>
          </p:cNvPr>
          <p:cNvCxnSpPr>
            <a:stCxn id="7" idx="2"/>
            <a:endCxn id="10" idx="0"/>
          </p:cNvCxnSpPr>
          <p:nvPr/>
        </p:nvCxnSpPr>
        <p:spPr>
          <a:xfrm flipH="1">
            <a:off x="6093947" y="3215656"/>
            <a:ext cx="3080" cy="1179891"/>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线箭头连接符 22">
            <a:extLst>
              <a:ext uri="{FF2B5EF4-FFF2-40B4-BE49-F238E27FC236}">
                <a16:creationId xmlns:a16="http://schemas.microsoft.com/office/drawing/2014/main" id="{8289D0FB-A56E-5546-89AB-6F6ACB5EBD3C}"/>
              </a:ext>
            </a:extLst>
          </p:cNvPr>
          <p:cNvCxnSpPr>
            <a:stCxn id="7" idx="2"/>
            <a:endCxn id="11" idx="0"/>
          </p:cNvCxnSpPr>
          <p:nvPr/>
        </p:nvCxnSpPr>
        <p:spPr>
          <a:xfrm>
            <a:off x="6097027" y="3215656"/>
            <a:ext cx="3972847" cy="117989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219B245D-F3E5-9F44-90D1-AF24C30A0739}"/>
              </a:ext>
            </a:extLst>
          </p:cNvPr>
          <p:cNvCxnSpPr>
            <a:stCxn id="8" idx="2"/>
            <a:endCxn id="11" idx="0"/>
          </p:cNvCxnSpPr>
          <p:nvPr/>
        </p:nvCxnSpPr>
        <p:spPr>
          <a:xfrm>
            <a:off x="10065828" y="3215656"/>
            <a:ext cx="4046" cy="117989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线箭头连接符 26">
            <a:extLst>
              <a:ext uri="{FF2B5EF4-FFF2-40B4-BE49-F238E27FC236}">
                <a16:creationId xmlns:a16="http://schemas.microsoft.com/office/drawing/2014/main" id="{B4E1BB8D-44A5-1F41-9A0B-1D504350A58C}"/>
              </a:ext>
            </a:extLst>
          </p:cNvPr>
          <p:cNvCxnSpPr>
            <a:stCxn id="8" idx="2"/>
            <a:endCxn id="10" idx="0"/>
          </p:cNvCxnSpPr>
          <p:nvPr/>
        </p:nvCxnSpPr>
        <p:spPr>
          <a:xfrm flipH="1">
            <a:off x="6093947" y="3215656"/>
            <a:ext cx="3971881" cy="1179891"/>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线箭头连接符 28">
            <a:extLst>
              <a:ext uri="{FF2B5EF4-FFF2-40B4-BE49-F238E27FC236}">
                <a16:creationId xmlns:a16="http://schemas.microsoft.com/office/drawing/2014/main" id="{B9E497D1-45EC-A74D-83F8-F76A5260EAEC}"/>
              </a:ext>
            </a:extLst>
          </p:cNvPr>
          <p:cNvCxnSpPr>
            <a:stCxn id="8" idx="2"/>
            <a:endCxn id="9" idx="0"/>
          </p:cNvCxnSpPr>
          <p:nvPr/>
        </p:nvCxnSpPr>
        <p:spPr>
          <a:xfrm flipH="1">
            <a:off x="2118018" y="3215656"/>
            <a:ext cx="7947810" cy="117989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028460339"/>
      </p:ext>
    </p:extLst>
  </p:cSld>
  <p:clrMapOvr>
    <a:masterClrMapping/>
  </p:clrMapOvr>
  <mc:AlternateContent xmlns:mc="http://schemas.openxmlformats.org/markup-compatibility/2006" xmlns:p14="http://schemas.microsoft.com/office/powerpoint/2010/main">
    <mc:Choice Requires="p14">
      <p:transition spd="slow" p14:dur="2000" advTm="36265"/>
    </mc:Choice>
    <mc:Fallback xmlns="">
      <p:transition spd="slow" advTm="3626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2FDBA2-9C24-DB49-822C-C620A851D164}"/>
              </a:ext>
            </a:extLst>
          </p:cNvPr>
          <p:cNvSpPr>
            <a:spLocks noGrp="1"/>
          </p:cNvSpPr>
          <p:nvPr>
            <p:ph type="title"/>
          </p:nvPr>
        </p:nvSpPr>
        <p:spPr/>
        <p:txBody>
          <a:bodyPr/>
          <a:lstStyle/>
          <a:p>
            <a:r>
              <a:rPr kumimoji="1" lang="en-US" altLang="zh-CN" dirty="0"/>
              <a:t>Dependence Analysis</a:t>
            </a:r>
            <a:endParaRPr kumimoji="1" lang="zh-CN" altLang="en-US" dirty="0"/>
          </a:p>
        </p:txBody>
      </p:sp>
      <p:sp>
        <p:nvSpPr>
          <p:cNvPr id="3" name="内容占位符 2">
            <a:extLst>
              <a:ext uri="{FF2B5EF4-FFF2-40B4-BE49-F238E27FC236}">
                <a16:creationId xmlns:a16="http://schemas.microsoft.com/office/drawing/2014/main" id="{0F22D964-5286-BF45-B605-02399EDCF1DE}"/>
              </a:ext>
            </a:extLst>
          </p:cNvPr>
          <p:cNvSpPr>
            <a:spLocks noGrp="1"/>
          </p:cNvSpPr>
          <p:nvPr>
            <p:ph idx="1"/>
          </p:nvPr>
        </p:nvSpPr>
        <p:spPr/>
        <p:txBody>
          <a:bodyPr>
            <a:normAutofit fontScale="92500" lnSpcReduction="20000"/>
          </a:bodyPr>
          <a:lstStyle/>
          <a:p>
            <a:r>
              <a:rPr kumimoji="1" lang="en-US" altLang="zh-CN" dirty="0">
                <a:latin typeface="Helvetica" pitchFamily="2" charset="0"/>
              </a:rPr>
              <a:t>Given a pair of functions: </a:t>
            </a:r>
            <a:r>
              <a:rPr kumimoji="1" lang="en-US" altLang="zh-CN" b="1" dirty="0">
                <a:latin typeface="Helvetica" pitchFamily="2" charset="0"/>
              </a:rPr>
              <a:t>foo</a:t>
            </a:r>
            <a:r>
              <a:rPr kumimoji="1" lang="en-US" altLang="zh-CN" dirty="0">
                <a:latin typeface="Helvetica" pitchFamily="2" charset="0"/>
              </a:rPr>
              <a:t> calls </a:t>
            </a:r>
            <a:r>
              <a:rPr kumimoji="1" lang="en-US" altLang="zh-CN" b="1" dirty="0">
                <a:latin typeface="Helvetica" pitchFamily="2" charset="0"/>
              </a:rPr>
              <a:t>bar</a:t>
            </a: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r>
              <a:rPr kumimoji="1" lang="en-US" altLang="zh-CN" dirty="0">
                <a:latin typeface="Helvetica" pitchFamily="2" charset="0"/>
              </a:rPr>
              <a:t>All the dependences are necessary?</a:t>
            </a:r>
            <a:r>
              <a:rPr kumimoji="1" lang="zh-CN" altLang="en-US" dirty="0">
                <a:latin typeface="Helvetica" pitchFamily="2" charset="0"/>
              </a:rPr>
              <a:t> </a:t>
            </a:r>
            <a:r>
              <a:rPr kumimoji="1" lang="en-US" altLang="zh-CN" b="1" dirty="0">
                <a:solidFill>
                  <a:srgbClr val="FF0000"/>
                </a:solidFill>
                <a:latin typeface="Helvetica" pitchFamily="2" charset="0"/>
              </a:rPr>
              <a:t>No!</a:t>
            </a:r>
            <a:endParaRPr kumimoji="1" lang="zh-CN" altLang="en-US" b="1" dirty="0">
              <a:solidFill>
                <a:srgbClr val="FF0000"/>
              </a:solidFill>
              <a:latin typeface="Helvetica" pitchFamily="2" charset="0"/>
            </a:endParaRPr>
          </a:p>
        </p:txBody>
      </p:sp>
      <p:sp>
        <p:nvSpPr>
          <p:cNvPr id="4" name="灯片编号占位符 3">
            <a:extLst>
              <a:ext uri="{FF2B5EF4-FFF2-40B4-BE49-F238E27FC236}">
                <a16:creationId xmlns:a16="http://schemas.microsoft.com/office/drawing/2014/main" id="{A276B804-34F5-2B40-B232-E36D462E5738}"/>
              </a:ext>
            </a:extLst>
          </p:cNvPr>
          <p:cNvSpPr>
            <a:spLocks noGrp="1"/>
          </p:cNvSpPr>
          <p:nvPr>
            <p:ph type="sldNum" sz="quarter" idx="12"/>
          </p:nvPr>
        </p:nvSpPr>
        <p:spPr/>
        <p:txBody>
          <a:bodyPr/>
          <a:lstStyle/>
          <a:p>
            <a:fld id="{C53D9380-AD50-0C4E-BD20-74B8F0FD34CE}" type="slidenum">
              <a:rPr kumimoji="1" lang="zh-CN" altLang="en-US" smtClean="0"/>
              <a:t>9</a:t>
            </a:fld>
            <a:endParaRPr kumimoji="1" lang="zh-CN" altLang="en-US" dirty="0"/>
          </a:p>
        </p:txBody>
      </p:sp>
      <p:sp>
        <p:nvSpPr>
          <p:cNvPr id="6" name="文本框 5">
            <a:extLst>
              <a:ext uri="{FF2B5EF4-FFF2-40B4-BE49-F238E27FC236}">
                <a16:creationId xmlns:a16="http://schemas.microsoft.com/office/drawing/2014/main" id="{7F20BAFE-DC5A-8C4E-A4FD-A25C09D1CCCD}"/>
              </a:ext>
            </a:extLst>
          </p:cNvPr>
          <p:cNvSpPr txBox="1"/>
          <p:nvPr/>
        </p:nvSpPr>
        <p:spPr>
          <a:xfrm>
            <a:off x="188420" y="2630881"/>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foo</a:t>
            </a:r>
          </a:p>
          <a:p>
            <a:pPr algn="ctr"/>
            <a:r>
              <a:rPr kumimoji="1" lang="en-US" altLang="zh-CN" sz="1600" dirty="0">
                <a:latin typeface="Helvetica" pitchFamily="2" charset="0"/>
              </a:rPr>
              <a:t>Type I: Parameter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7" name="文本框 6">
            <a:extLst>
              <a:ext uri="{FF2B5EF4-FFF2-40B4-BE49-F238E27FC236}">
                <a16:creationId xmlns:a16="http://schemas.microsoft.com/office/drawing/2014/main" id="{04DBD803-35AE-9240-9BAA-32371B3D25D1}"/>
              </a:ext>
            </a:extLst>
          </p:cNvPr>
          <p:cNvSpPr txBox="1"/>
          <p:nvPr/>
        </p:nvSpPr>
        <p:spPr>
          <a:xfrm>
            <a:off x="4167427" y="2630881"/>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foo</a:t>
            </a:r>
          </a:p>
          <a:p>
            <a:pPr algn="ctr"/>
            <a:r>
              <a:rPr kumimoji="1" lang="en-US" altLang="zh-CN" sz="1600" dirty="0">
                <a:latin typeface="Helvetica" pitchFamily="2" charset="0"/>
              </a:rPr>
              <a:t>Type II: null in current </a:t>
            </a:r>
            <a:r>
              <a:rPr kumimoji="1" lang="en-US" altLang="zh-CN" sz="1600" dirty="0" err="1">
                <a:latin typeface="Helvetica" pitchFamily="2" charset="0"/>
              </a:rPr>
              <a:t>func</a:t>
            </a:r>
            <a:r>
              <a:rPr kumimoji="1" lang="en-US" altLang="zh-CN" sz="1600" dirty="0">
                <a:latin typeface="Helvetica" pitchFamily="2" charset="0"/>
              </a:rPr>
              <a:t>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8" name="文本框 7">
            <a:extLst>
              <a:ext uri="{FF2B5EF4-FFF2-40B4-BE49-F238E27FC236}">
                <a16:creationId xmlns:a16="http://schemas.microsoft.com/office/drawing/2014/main" id="{62D7C615-9D8D-5B41-BD27-0B412B002B98}"/>
              </a:ext>
            </a:extLst>
          </p:cNvPr>
          <p:cNvSpPr txBox="1"/>
          <p:nvPr/>
        </p:nvSpPr>
        <p:spPr>
          <a:xfrm>
            <a:off x="8136228" y="2630881"/>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foo</a:t>
            </a:r>
          </a:p>
          <a:p>
            <a:pPr algn="ctr"/>
            <a:r>
              <a:rPr kumimoji="1" lang="en-US" altLang="zh-CN" sz="1600" dirty="0">
                <a:latin typeface="Helvetica" pitchFamily="2" charset="0"/>
              </a:rPr>
              <a:t>Type III: null from </a:t>
            </a:r>
            <a:r>
              <a:rPr kumimoji="1" lang="en-US" altLang="zh-CN" sz="1600" dirty="0" err="1">
                <a:latin typeface="Helvetica" pitchFamily="2" charset="0"/>
              </a:rPr>
              <a:t>callee</a:t>
            </a:r>
            <a:r>
              <a:rPr kumimoji="1" lang="en-US" altLang="zh-CN" sz="1600" dirty="0">
                <a:latin typeface="Helvetica" pitchFamily="2" charset="0"/>
              </a:rPr>
              <a:t>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9" name="文本框 8">
            <a:extLst>
              <a:ext uri="{FF2B5EF4-FFF2-40B4-BE49-F238E27FC236}">
                <a16:creationId xmlns:a16="http://schemas.microsoft.com/office/drawing/2014/main" id="{5DA8B413-310F-9C4F-BD42-8BC0D763E601}"/>
              </a:ext>
            </a:extLst>
          </p:cNvPr>
          <p:cNvSpPr txBox="1"/>
          <p:nvPr/>
        </p:nvSpPr>
        <p:spPr>
          <a:xfrm>
            <a:off x="188420" y="4395548"/>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bar</a:t>
            </a:r>
          </a:p>
          <a:p>
            <a:pPr algn="ctr"/>
            <a:r>
              <a:rPr kumimoji="1" lang="en-US" altLang="zh-CN" sz="1600" dirty="0">
                <a:latin typeface="Helvetica" pitchFamily="2" charset="0"/>
              </a:rPr>
              <a:t>Type I: Parameter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10" name="文本框 9">
            <a:extLst>
              <a:ext uri="{FF2B5EF4-FFF2-40B4-BE49-F238E27FC236}">
                <a16:creationId xmlns:a16="http://schemas.microsoft.com/office/drawing/2014/main" id="{9B8576B8-E72F-6D45-8051-A6F14BA520BB}"/>
              </a:ext>
            </a:extLst>
          </p:cNvPr>
          <p:cNvSpPr txBox="1"/>
          <p:nvPr/>
        </p:nvSpPr>
        <p:spPr>
          <a:xfrm>
            <a:off x="4164347" y="4395547"/>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bar</a:t>
            </a:r>
          </a:p>
          <a:p>
            <a:r>
              <a:rPr kumimoji="1" lang="en-US" altLang="zh-CN" sz="1600" dirty="0">
                <a:latin typeface="Helvetica" pitchFamily="2" charset="0"/>
              </a:rPr>
              <a:t>Type II: null in current </a:t>
            </a:r>
            <a:r>
              <a:rPr kumimoji="1" lang="en-US" altLang="zh-CN" sz="1600" dirty="0" err="1">
                <a:latin typeface="Helvetica" pitchFamily="2" charset="0"/>
              </a:rPr>
              <a:t>func</a:t>
            </a:r>
            <a:r>
              <a:rPr kumimoji="1" lang="en-US" altLang="zh-CN" sz="1600" dirty="0">
                <a:latin typeface="Helvetica" pitchFamily="2" charset="0"/>
              </a:rPr>
              <a:t>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11" name="文本框 10">
            <a:extLst>
              <a:ext uri="{FF2B5EF4-FFF2-40B4-BE49-F238E27FC236}">
                <a16:creationId xmlns:a16="http://schemas.microsoft.com/office/drawing/2014/main" id="{3A5E6B1E-C6D6-BE47-8A5E-39455432939E}"/>
              </a:ext>
            </a:extLst>
          </p:cNvPr>
          <p:cNvSpPr txBox="1"/>
          <p:nvPr/>
        </p:nvSpPr>
        <p:spPr>
          <a:xfrm>
            <a:off x="8140274" y="4395549"/>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bar</a:t>
            </a:r>
          </a:p>
          <a:p>
            <a:pPr algn="ctr"/>
            <a:r>
              <a:rPr kumimoji="1" lang="en-US" altLang="zh-CN" sz="1600" dirty="0">
                <a:latin typeface="Helvetica" pitchFamily="2" charset="0"/>
              </a:rPr>
              <a:t>Type III: null from </a:t>
            </a:r>
            <a:r>
              <a:rPr kumimoji="1" lang="en-US" altLang="zh-CN" sz="1600" dirty="0" err="1">
                <a:latin typeface="Helvetica" pitchFamily="2" charset="0"/>
              </a:rPr>
              <a:t>callee</a:t>
            </a:r>
            <a:r>
              <a:rPr kumimoji="1" lang="en-US" altLang="zh-CN" sz="1600" dirty="0">
                <a:latin typeface="Helvetica" pitchFamily="2" charset="0"/>
              </a:rPr>
              <a:t>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cxnSp>
        <p:nvCxnSpPr>
          <p:cNvPr id="13" name="直线箭头连接符 12">
            <a:extLst>
              <a:ext uri="{FF2B5EF4-FFF2-40B4-BE49-F238E27FC236}">
                <a16:creationId xmlns:a16="http://schemas.microsoft.com/office/drawing/2014/main" id="{CF49C0F3-804A-1744-A627-090BC9EBA421}"/>
              </a:ext>
            </a:extLst>
          </p:cNvPr>
          <p:cNvCxnSpPr>
            <a:stCxn id="6" idx="2"/>
            <a:endCxn id="9" idx="0"/>
          </p:cNvCxnSpPr>
          <p:nvPr/>
        </p:nvCxnSpPr>
        <p:spPr>
          <a:xfrm>
            <a:off x="2118020" y="3215656"/>
            <a:ext cx="0" cy="117989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1382C6BA-564D-394C-93E6-1708F88FE20A}"/>
              </a:ext>
            </a:extLst>
          </p:cNvPr>
          <p:cNvCxnSpPr>
            <a:stCxn id="6" idx="2"/>
            <a:endCxn id="10" idx="0"/>
          </p:cNvCxnSpPr>
          <p:nvPr/>
        </p:nvCxnSpPr>
        <p:spPr>
          <a:xfrm>
            <a:off x="2118020" y="3215656"/>
            <a:ext cx="3975927" cy="117989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D1E55858-9429-3B40-BAB7-CA9040C5D08C}"/>
              </a:ext>
            </a:extLst>
          </p:cNvPr>
          <p:cNvCxnSpPr>
            <a:stCxn id="6" idx="2"/>
            <a:endCxn id="11" idx="0"/>
          </p:cNvCxnSpPr>
          <p:nvPr/>
        </p:nvCxnSpPr>
        <p:spPr>
          <a:xfrm>
            <a:off x="2118020" y="3215656"/>
            <a:ext cx="7951854" cy="117989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2511CFDF-1603-F741-8BBD-CCEF821D685B}"/>
              </a:ext>
            </a:extLst>
          </p:cNvPr>
          <p:cNvCxnSpPr>
            <a:stCxn id="7" idx="2"/>
            <a:endCxn id="9" idx="0"/>
          </p:cNvCxnSpPr>
          <p:nvPr/>
        </p:nvCxnSpPr>
        <p:spPr>
          <a:xfrm flipH="1">
            <a:off x="2118020" y="3215656"/>
            <a:ext cx="3979007" cy="117989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a:extLst>
              <a:ext uri="{FF2B5EF4-FFF2-40B4-BE49-F238E27FC236}">
                <a16:creationId xmlns:a16="http://schemas.microsoft.com/office/drawing/2014/main" id="{34AC752D-B8B3-314B-9526-8A2122689B30}"/>
              </a:ext>
            </a:extLst>
          </p:cNvPr>
          <p:cNvCxnSpPr>
            <a:stCxn id="7" idx="2"/>
            <a:endCxn id="10" idx="0"/>
          </p:cNvCxnSpPr>
          <p:nvPr/>
        </p:nvCxnSpPr>
        <p:spPr>
          <a:xfrm flipH="1">
            <a:off x="6093947" y="3215656"/>
            <a:ext cx="3080" cy="117989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线箭头连接符 22">
            <a:extLst>
              <a:ext uri="{FF2B5EF4-FFF2-40B4-BE49-F238E27FC236}">
                <a16:creationId xmlns:a16="http://schemas.microsoft.com/office/drawing/2014/main" id="{8289D0FB-A56E-5546-89AB-6F6ACB5EBD3C}"/>
              </a:ext>
            </a:extLst>
          </p:cNvPr>
          <p:cNvCxnSpPr>
            <a:stCxn id="7" idx="2"/>
            <a:endCxn id="11" idx="0"/>
          </p:cNvCxnSpPr>
          <p:nvPr/>
        </p:nvCxnSpPr>
        <p:spPr>
          <a:xfrm>
            <a:off x="6097027" y="3215656"/>
            <a:ext cx="3972847" cy="117989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219B245D-F3E5-9F44-90D1-AF24C30A0739}"/>
              </a:ext>
            </a:extLst>
          </p:cNvPr>
          <p:cNvCxnSpPr>
            <a:stCxn id="8" idx="2"/>
            <a:endCxn id="11" idx="0"/>
          </p:cNvCxnSpPr>
          <p:nvPr/>
        </p:nvCxnSpPr>
        <p:spPr>
          <a:xfrm>
            <a:off x="10065828" y="3215656"/>
            <a:ext cx="4046" cy="117989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线箭头连接符 26">
            <a:extLst>
              <a:ext uri="{FF2B5EF4-FFF2-40B4-BE49-F238E27FC236}">
                <a16:creationId xmlns:a16="http://schemas.microsoft.com/office/drawing/2014/main" id="{B4E1BB8D-44A5-1F41-9A0B-1D504350A58C}"/>
              </a:ext>
            </a:extLst>
          </p:cNvPr>
          <p:cNvCxnSpPr>
            <a:stCxn id="8" idx="2"/>
            <a:endCxn id="10" idx="0"/>
          </p:cNvCxnSpPr>
          <p:nvPr/>
        </p:nvCxnSpPr>
        <p:spPr>
          <a:xfrm flipH="1">
            <a:off x="6093947" y="3215656"/>
            <a:ext cx="3971881" cy="1179891"/>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线箭头连接符 28">
            <a:extLst>
              <a:ext uri="{FF2B5EF4-FFF2-40B4-BE49-F238E27FC236}">
                <a16:creationId xmlns:a16="http://schemas.microsoft.com/office/drawing/2014/main" id="{B9E497D1-45EC-A74D-83F8-F76A5260EAEC}"/>
              </a:ext>
            </a:extLst>
          </p:cNvPr>
          <p:cNvCxnSpPr>
            <a:stCxn id="8" idx="2"/>
            <a:endCxn id="9" idx="0"/>
          </p:cNvCxnSpPr>
          <p:nvPr/>
        </p:nvCxnSpPr>
        <p:spPr>
          <a:xfrm flipH="1">
            <a:off x="2118020" y="3215656"/>
            <a:ext cx="7947808" cy="117989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8836282"/>
      </p:ext>
    </p:extLst>
  </p:cSld>
  <p:clrMapOvr>
    <a:masterClrMapping/>
  </p:clrMapOvr>
  <mc:AlternateContent xmlns:mc="http://schemas.openxmlformats.org/markup-compatibility/2006" xmlns:p14="http://schemas.microsoft.com/office/powerpoint/2010/main">
    <mc:Choice Requires="p14">
      <p:transition spd="slow" p14:dur="2000" advTm="10334"/>
    </mc:Choice>
    <mc:Fallback xmlns="">
      <p:transition spd="slow" advTm="1033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2FDBA2-9C24-DB49-822C-C620A851D164}"/>
              </a:ext>
            </a:extLst>
          </p:cNvPr>
          <p:cNvSpPr>
            <a:spLocks noGrp="1"/>
          </p:cNvSpPr>
          <p:nvPr>
            <p:ph type="title"/>
          </p:nvPr>
        </p:nvSpPr>
        <p:spPr/>
        <p:txBody>
          <a:bodyPr/>
          <a:lstStyle/>
          <a:p>
            <a:r>
              <a:rPr kumimoji="1" lang="en-US" altLang="zh-CN" dirty="0"/>
              <a:t>Dependence Analysis</a:t>
            </a:r>
            <a:endParaRPr kumimoji="1" lang="zh-CN" altLang="en-US" dirty="0"/>
          </a:p>
        </p:txBody>
      </p:sp>
      <p:sp>
        <p:nvSpPr>
          <p:cNvPr id="3" name="内容占位符 2">
            <a:extLst>
              <a:ext uri="{FF2B5EF4-FFF2-40B4-BE49-F238E27FC236}">
                <a16:creationId xmlns:a16="http://schemas.microsoft.com/office/drawing/2014/main" id="{0F22D964-5286-BF45-B605-02399EDCF1DE}"/>
              </a:ext>
            </a:extLst>
          </p:cNvPr>
          <p:cNvSpPr>
            <a:spLocks noGrp="1"/>
          </p:cNvSpPr>
          <p:nvPr>
            <p:ph idx="1"/>
          </p:nvPr>
        </p:nvSpPr>
        <p:spPr/>
        <p:txBody>
          <a:bodyPr>
            <a:normAutofit fontScale="92500" lnSpcReduction="20000"/>
          </a:bodyPr>
          <a:lstStyle/>
          <a:p>
            <a:r>
              <a:rPr kumimoji="1" lang="en-US" altLang="zh-CN" dirty="0">
                <a:latin typeface="Helvetica" pitchFamily="2" charset="0"/>
              </a:rPr>
              <a:t>Given a pair of functions: </a:t>
            </a:r>
            <a:r>
              <a:rPr kumimoji="1" lang="en-US" altLang="zh-CN" b="1" dirty="0">
                <a:latin typeface="Helvetica" pitchFamily="2" charset="0"/>
              </a:rPr>
              <a:t>foo</a:t>
            </a:r>
            <a:r>
              <a:rPr kumimoji="1" lang="en-US" altLang="zh-CN" dirty="0">
                <a:latin typeface="Helvetica" pitchFamily="2" charset="0"/>
              </a:rPr>
              <a:t> calls </a:t>
            </a:r>
            <a:r>
              <a:rPr kumimoji="1" lang="en-US" altLang="zh-CN" b="1" dirty="0">
                <a:latin typeface="Helvetica" pitchFamily="2" charset="0"/>
              </a:rPr>
              <a:t>bar</a:t>
            </a: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r>
              <a:rPr kumimoji="1" lang="en-US" altLang="zh-CN" dirty="0">
                <a:latin typeface="Helvetica" pitchFamily="2" charset="0"/>
              </a:rPr>
              <a:t>All the dependences are necessary?</a:t>
            </a:r>
            <a:r>
              <a:rPr kumimoji="1" lang="zh-CN" altLang="en-US" dirty="0">
                <a:latin typeface="Helvetica" pitchFamily="2" charset="0"/>
              </a:rPr>
              <a:t> </a:t>
            </a:r>
            <a:r>
              <a:rPr kumimoji="1" lang="en-US" altLang="zh-CN" b="1" dirty="0">
                <a:solidFill>
                  <a:srgbClr val="FF0000"/>
                </a:solidFill>
                <a:latin typeface="Helvetica" pitchFamily="2" charset="0"/>
              </a:rPr>
              <a:t>No!</a:t>
            </a:r>
            <a:endParaRPr kumimoji="1" lang="zh-CN" altLang="en-US" b="1" dirty="0">
              <a:solidFill>
                <a:srgbClr val="FF0000"/>
              </a:solidFill>
              <a:latin typeface="Helvetica" pitchFamily="2" charset="0"/>
            </a:endParaRPr>
          </a:p>
        </p:txBody>
      </p:sp>
      <p:sp>
        <p:nvSpPr>
          <p:cNvPr id="4" name="灯片编号占位符 3">
            <a:extLst>
              <a:ext uri="{FF2B5EF4-FFF2-40B4-BE49-F238E27FC236}">
                <a16:creationId xmlns:a16="http://schemas.microsoft.com/office/drawing/2014/main" id="{A276B804-34F5-2B40-B232-E36D462E5738}"/>
              </a:ext>
            </a:extLst>
          </p:cNvPr>
          <p:cNvSpPr>
            <a:spLocks noGrp="1"/>
          </p:cNvSpPr>
          <p:nvPr>
            <p:ph type="sldNum" sz="quarter" idx="12"/>
          </p:nvPr>
        </p:nvSpPr>
        <p:spPr/>
        <p:txBody>
          <a:bodyPr/>
          <a:lstStyle/>
          <a:p>
            <a:fld id="{C53D9380-AD50-0C4E-BD20-74B8F0FD34CE}" type="slidenum">
              <a:rPr kumimoji="1" lang="zh-CN" altLang="en-US" smtClean="0"/>
              <a:t>10</a:t>
            </a:fld>
            <a:endParaRPr kumimoji="1" lang="zh-CN" altLang="en-US" dirty="0"/>
          </a:p>
        </p:txBody>
      </p:sp>
      <p:sp>
        <p:nvSpPr>
          <p:cNvPr id="6" name="文本框 5">
            <a:extLst>
              <a:ext uri="{FF2B5EF4-FFF2-40B4-BE49-F238E27FC236}">
                <a16:creationId xmlns:a16="http://schemas.microsoft.com/office/drawing/2014/main" id="{7F20BAFE-DC5A-8C4E-A4FD-A25C09D1CCCD}"/>
              </a:ext>
            </a:extLst>
          </p:cNvPr>
          <p:cNvSpPr txBox="1"/>
          <p:nvPr/>
        </p:nvSpPr>
        <p:spPr>
          <a:xfrm>
            <a:off x="191500" y="2630881"/>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foo</a:t>
            </a:r>
          </a:p>
          <a:p>
            <a:pPr algn="ctr"/>
            <a:r>
              <a:rPr kumimoji="1" lang="en-US" altLang="zh-CN" sz="1600" dirty="0">
                <a:latin typeface="Helvetica" pitchFamily="2" charset="0"/>
              </a:rPr>
              <a:t>Type I: Parameter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7" name="文本框 6">
            <a:extLst>
              <a:ext uri="{FF2B5EF4-FFF2-40B4-BE49-F238E27FC236}">
                <a16:creationId xmlns:a16="http://schemas.microsoft.com/office/drawing/2014/main" id="{04DBD803-35AE-9240-9BAA-32371B3D25D1}"/>
              </a:ext>
            </a:extLst>
          </p:cNvPr>
          <p:cNvSpPr txBox="1"/>
          <p:nvPr/>
        </p:nvSpPr>
        <p:spPr>
          <a:xfrm>
            <a:off x="4167427" y="2630881"/>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foo</a:t>
            </a:r>
          </a:p>
          <a:p>
            <a:pPr algn="ctr"/>
            <a:r>
              <a:rPr kumimoji="1" lang="en-US" altLang="zh-CN" sz="1600" dirty="0">
                <a:latin typeface="Helvetica" pitchFamily="2" charset="0"/>
              </a:rPr>
              <a:t>Type II: null in current </a:t>
            </a:r>
            <a:r>
              <a:rPr kumimoji="1" lang="en-US" altLang="zh-CN" sz="1600" dirty="0" err="1">
                <a:latin typeface="Helvetica" pitchFamily="2" charset="0"/>
              </a:rPr>
              <a:t>func</a:t>
            </a:r>
            <a:r>
              <a:rPr kumimoji="1" lang="en-US" altLang="zh-CN" sz="1600" dirty="0">
                <a:latin typeface="Helvetica" pitchFamily="2" charset="0"/>
              </a:rPr>
              <a:t>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8" name="文本框 7">
            <a:extLst>
              <a:ext uri="{FF2B5EF4-FFF2-40B4-BE49-F238E27FC236}">
                <a16:creationId xmlns:a16="http://schemas.microsoft.com/office/drawing/2014/main" id="{62D7C615-9D8D-5B41-BD27-0B412B002B98}"/>
              </a:ext>
            </a:extLst>
          </p:cNvPr>
          <p:cNvSpPr txBox="1"/>
          <p:nvPr/>
        </p:nvSpPr>
        <p:spPr>
          <a:xfrm>
            <a:off x="8136228" y="2630881"/>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foo</a:t>
            </a:r>
          </a:p>
          <a:p>
            <a:pPr algn="ctr"/>
            <a:r>
              <a:rPr kumimoji="1" lang="en-US" altLang="zh-CN" sz="1600" dirty="0">
                <a:latin typeface="Helvetica" pitchFamily="2" charset="0"/>
              </a:rPr>
              <a:t>Type III: null from </a:t>
            </a:r>
            <a:r>
              <a:rPr kumimoji="1" lang="en-US" altLang="zh-CN" sz="1600" dirty="0" err="1">
                <a:latin typeface="Helvetica" pitchFamily="2" charset="0"/>
              </a:rPr>
              <a:t>callee</a:t>
            </a:r>
            <a:r>
              <a:rPr kumimoji="1" lang="en-US" altLang="zh-CN" sz="1600" dirty="0">
                <a:latin typeface="Helvetica" pitchFamily="2" charset="0"/>
              </a:rPr>
              <a:t>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9" name="文本框 8">
            <a:extLst>
              <a:ext uri="{FF2B5EF4-FFF2-40B4-BE49-F238E27FC236}">
                <a16:creationId xmlns:a16="http://schemas.microsoft.com/office/drawing/2014/main" id="{5DA8B413-310F-9C4F-BD42-8BC0D763E601}"/>
              </a:ext>
            </a:extLst>
          </p:cNvPr>
          <p:cNvSpPr txBox="1"/>
          <p:nvPr/>
        </p:nvSpPr>
        <p:spPr>
          <a:xfrm>
            <a:off x="191500" y="4395548"/>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bar</a:t>
            </a:r>
          </a:p>
          <a:p>
            <a:pPr algn="ctr"/>
            <a:r>
              <a:rPr kumimoji="1" lang="en-US" altLang="zh-CN" sz="1600" dirty="0">
                <a:latin typeface="Helvetica" pitchFamily="2" charset="0"/>
              </a:rPr>
              <a:t>Type I: Parameter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10" name="文本框 9">
            <a:extLst>
              <a:ext uri="{FF2B5EF4-FFF2-40B4-BE49-F238E27FC236}">
                <a16:creationId xmlns:a16="http://schemas.microsoft.com/office/drawing/2014/main" id="{9B8576B8-E72F-6D45-8051-A6F14BA520BB}"/>
              </a:ext>
            </a:extLst>
          </p:cNvPr>
          <p:cNvSpPr txBox="1"/>
          <p:nvPr/>
        </p:nvSpPr>
        <p:spPr>
          <a:xfrm>
            <a:off x="4164347" y="4395547"/>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bar</a:t>
            </a:r>
          </a:p>
          <a:p>
            <a:r>
              <a:rPr kumimoji="1" lang="en-US" altLang="zh-CN" sz="1600" dirty="0">
                <a:latin typeface="Helvetica" pitchFamily="2" charset="0"/>
              </a:rPr>
              <a:t>Type II: null in current </a:t>
            </a:r>
            <a:r>
              <a:rPr kumimoji="1" lang="en-US" altLang="zh-CN" sz="1600" dirty="0" err="1">
                <a:latin typeface="Helvetica" pitchFamily="2" charset="0"/>
              </a:rPr>
              <a:t>func</a:t>
            </a:r>
            <a:r>
              <a:rPr kumimoji="1" lang="en-US" altLang="zh-CN" sz="1600" dirty="0">
                <a:latin typeface="Helvetica" pitchFamily="2" charset="0"/>
              </a:rPr>
              <a:t>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11" name="文本框 10">
            <a:extLst>
              <a:ext uri="{FF2B5EF4-FFF2-40B4-BE49-F238E27FC236}">
                <a16:creationId xmlns:a16="http://schemas.microsoft.com/office/drawing/2014/main" id="{3A5E6B1E-C6D6-BE47-8A5E-39455432939E}"/>
              </a:ext>
            </a:extLst>
          </p:cNvPr>
          <p:cNvSpPr txBox="1"/>
          <p:nvPr/>
        </p:nvSpPr>
        <p:spPr>
          <a:xfrm>
            <a:off x="8140274" y="4395549"/>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bar</a:t>
            </a:r>
          </a:p>
          <a:p>
            <a:pPr algn="ctr"/>
            <a:r>
              <a:rPr kumimoji="1" lang="en-US" altLang="zh-CN" sz="1600" dirty="0">
                <a:latin typeface="Helvetica" pitchFamily="2" charset="0"/>
              </a:rPr>
              <a:t>Type III: null from </a:t>
            </a:r>
            <a:r>
              <a:rPr kumimoji="1" lang="en-US" altLang="zh-CN" sz="1600" dirty="0" err="1">
                <a:latin typeface="Helvetica" pitchFamily="2" charset="0"/>
              </a:rPr>
              <a:t>callee</a:t>
            </a:r>
            <a:r>
              <a:rPr kumimoji="1" lang="en-US" altLang="zh-CN" sz="1600" dirty="0">
                <a:latin typeface="Helvetica" pitchFamily="2" charset="0"/>
              </a:rPr>
              <a:t>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cxnSp>
        <p:nvCxnSpPr>
          <p:cNvPr id="13" name="直线箭头连接符 12">
            <a:extLst>
              <a:ext uri="{FF2B5EF4-FFF2-40B4-BE49-F238E27FC236}">
                <a16:creationId xmlns:a16="http://schemas.microsoft.com/office/drawing/2014/main" id="{CF49C0F3-804A-1744-A627-090BC9EBA421}"/>
              </a:ext>
            </a:extLst>
          </p:cNvPr>
          <p:cNvCxnSpPr>
            <a:stCxn id="6" idx="2"/>
            <a:endCxn id="9" idx="0"/>
          </p:cNvCxnSpPr>
          <p:nvPr/>
        </p:nvCxnSpPr>
        <p:spPr>
          <a:xfrm>
            <a:off x="2121100" y="3215656"/>
            <a:ext cx="0" cy="117989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1382C6BA-564D-394C-93E6-1708F88FE20A}"/>
              </a:ext>
            </a:extLst>
          </p:cNvPr>
          <p:cNvCxnSpPr>
            <a:stCxn id="6" idx="2"/>
            <a:endCxn id="10" idx="0"/>
          </p:cNvCxnSpPr>
          <p:nvPr/>
        </p:nvCxnSpPr>
        <p:spPr>
          <a:xfrm>
            <a:off x="2121100" y="3215656"/>
            <a:ext cx="3972847" cy="117989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D1E55858-9429-3B40-BAB7-CA9040C5D08C}"/>
              </a:ext>
            </a:extLst>
          </p:cNvPr>
          <p:cNvCxnSpPr>
            <a:stCxn id="6" idx="2"/>
            <a:endCxn id="11" idx="0"/>
          </p:cNvCxnSpPr>
          <p:nvPr/>
        </p:nvCxnSpPr>
        <p:spPr>
          <a:xfrm>
            <a:off x="2121100" y="3215656"/>
            <a:ext cx="7948774" cy="117989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2511CFDF-1603-F741-8BBD-CCEF821D685B}"/>
              </a:ext>
            </a:extLst>
          </p:cNvPr>
          <p:cNvCxnSpPr>
            <a:stCxn id="7" idx="2"/>
            <a:endCxn id="9" idx="0"/>
          </p:cNvCxnSpPr>
          <p:nvPr/>
        </p:nvCxnSpPr>
        <p:spPr>
          <a:xfrm flipH="1">
            <a:off x="2121100" y="3215656"/>
            <a:ext cx="3975927" cy="1179892"/>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a:extLst>
              <a:ext uri="{FF2B5EF4-FFF2-40B4-BE49-F238E27FC236}">
                <a16:creationId xmlns:a16="http://schemas.microsoft.com/office/drawing/2014/main" id="{34AC752D-B8B3-314B-9526-8A2122689B30}"/>
              </a:ext>
            </a:extLst>
          </p:cNvPr>
          <p:cNvCxnSpPr>
            <a:stCxn id="7" idx="2"/>
            <a:endCxn id="10" idx="0"/>
          </p:cNvCxnSpPr>
          <p:nvPr/>
        </p:nvCxnSpPr>
        <p:spPr>
          <a:xfrm flipH="1">
            <a:off x="6093947" y="3215656"/>
            <a:ext cx="3080" cy="1179891"/>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线箭头连接符 22">
            <a:extLst>
              <a:ext uri="{FF2B5EF4-FFF2-40B4-BE49-F238E27FC236}">
                <a16:creationId xmlns:a16="http://schemas.microsoft.com/office/drawing/2014/main" id="{8289D0FB-A56E-5546-89AB-6F6ACB5EBD3C}"/>
              </a:ext>
            </a:extLst>
          </p:cNvPr>
          <p:cNvCxnSpPr>
            <a:stCxn id="7" idx="2"/>
            <a:endCxn id="11" idx="0"/>
          </p:cNvCxnSpPr>
          <p:nvPr/>
        </p:nvCxnSpPr>
        <p:spPr>
          <a:xfrm>
            <a:off x="6097027" y="3215656"/>
            <a:ext cx="3972847" cy="117989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219B245D-F3E5-9F44-90D1-AF24C30A0739}"/>
              </a:ext>
            </a:extLst>
          </p:cNvPr>
          <p:cNvCxnSpPr>
            <a:stCxn id="8" idx="2"/>
            <a:endCxn id="11" idx="0"/>
          </p:cNvCxnSpPr>
          <p:nvPr/>
        </p:nvCxnSpPr>
        <p:spPr>
          <a:xfrm>
            <a:off x="10065828" y="3215656"/>
            <a:ext cx="4046" cy="117989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线箭头连接符 26">
            <a:extLst>
              <a:ext uri="{FF2B5EF4-FFF2-40B4-BE49-F238E27FC236}">
                <a16:creationId xmlns:a16="http://schemas.microsoft.com/office/drawing/2014/main" id="{B4E1BB8D-44A5-1F41-9A0B-1D504350A58C}"/>
              </a:ext>
            </a:extLst>
          </p:cNvPr>
          <p:cNvCxnSpPr>
            <a:stCxn id="8" idx="2"/>
            <a:endCxn id="10" idx="0"/>
          </p:cNvCxnSpPr>
          <p:nvPr/>
        </p:nvCxnSpPr>
        <p:spPr>
          <a:xfrm flipH="1">
            <a:off x="6093947" y="3215656"/>
            <a:ext cx="3971881" cy="1179891"/>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线箭头连接符 28">
            <a:extLst>
              <a:ext uri="{FF2B5EF4-FFF2-40B4-BE49-F238E27FC236}">
                <a16:creationId xmlns:a16="http://schemas.microsoft.com/office/drawing/2014/main" id="{B9E497D1-45EC-A74D-83F8-F76A5260EAEC}"/>
              </a:ext>
            </a:extLst>
          </p:cNvPr>
          <p:cNvCxnSpPr>
            <a:stCxn id="8" idx="2"/>
            <a:endCxn id="9" idx="0"/>
          </p:cNvCxnSpPr>
          <p:nvPr/>
        </p:nvCxnSpPr>
        <p:spPr>
          <a:xfrm flipH="1">
            <a:off x="2121100" y="3215656"/>
            <a:ext cx="7944728" cy="117989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id="{2E6BBFFF-A0D6-5542-B4B3-1E886FC695A7}"/>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870" t="-2502" b="-1"/>
          <a:stretch/>
        </p:blipFill>
        <p:spPr>
          <a:xfrm>
            <a:off x="8356774" y="1508760"/>
            <a:ext cx="3317840" cy="4456523"/>
          </a:xfrm>
          <a:prstGeom prst="rect">
            <a:avLst/>
          </a:prstGeom>
          <a:solidFill>
            <a:schemeClr val="bg1"/>
          </a:solidFill>
          <a:ln>
            <a:noFill/>
          </a:ln>
          <a:effectLst>
            <a:outerShdw blurRad="190500" algn="tl" rotWithShape="0">
              <a:srgbClr val="000000">
                <a:alpha val="70000"/>
              </a:srgbClr>
            </a:outerShdw>
          </a:effectLst>
        </p:spPr>
      </p:pic>
      <p:sp>
        <p:nvSpPr>
          <p:cNvPr id="18" name="矩形 17">
            <a:extLst>
              <a:ext uri="{FF2B5EF4-FFF2-40B4-BE49-F238E27FC236}">
                <a16:creationId xmlns:a16="http://schemas.microsoft.com/office/drawing/2014/main" id="{6D18E121-07F6-C748-A086-840ED3003B7B}"/>
              </a:ext>
            </a:extLst>
          </p:cNvPr>
          <p:cNvSpPr/>
          <p:nvPr/>
        </p:nvSpPr>
        <p:spPr>
          <a:xfrm>
            <a:off x="9473184" y="1755648"/>
            <a:ext cx="256032" cy="4142232"/>
          </a:xfrm>
          <a:prstGeom prst="rect">
            <a:avLst/>
          </a:prstGeom>
          <a:solidFill>
            <a:schemeClr val="accent1">
              <a:alpha val="4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矩形 25">
            <a:extLst>
              <a:ext uri="{FF2B5EF4-FFF2-40B4-BE49-F238E27FC236}">
                <a16:creationId xmlns:a16="http://schemas.microsoft.com/office/drawing/2014/main" id="{BF01CD63-67F9-9E4B-B487-7A63F9CE7F1C}"/>
              </a:ext>
            </a:extLst>
          </p:cNvPr>
          <p:cNvSpPr/>
          <p:nvPr/>
        </p:nvSpPr>
        <p:spPr>
          <a:xfrm>
            <a:off x="9473184" y="2384773"/>
            <a:ext cx="256032" cy="1992486"/>
          </a:xfrm>
          <a:prstGeom prst="rect">
            <a:avLst/>
          </a:pr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592521617"/>
      </p:ext>
    </p:extLst>
  </p:cSld>
  <p:clrMapOvr>
    <a:masterClrMapping/>
  </p:clrMapOvr>
  <mc:AlternateContent xmlns:mc="http://schemas.openxmlformats.org/markup-compatibility/2006" xmlns:p14="http://schemas.microsoft.com/office/powerpoint/2010/main">
    <mc:Choice Requires="p14">
      <p:transition spd="slow" p14:dur="2000" advTm="26318"/>
    </mc:Choice>
    <mc:Fallback xmlns="">
      <p:transition spd="slow" advTm="263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1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2FDBA2-9C24-DB49-822C-C620A851D164}"/>
              </a:ext>
            </a:extLst>
          </p:cNvPr>
          <p:cNvSpPr>
            <a:spLocks noGrp="1"/>
          </p:cNvSpPr>
          <p:nvPr>
            <p:ph type="title"/>
          </p:nvPr>
        </p:nvSpPr>
        <p:spPr/>
        <p:txBody>
          <a:bodyPr/>
          <a:lstStyle/>
          <a:p>
            <a:r>
              <a:rPr kumimoji="1" lang="en-US" altLang="zh-CN" dirty="0"/>
              <a:t>Dependence Analysis</a:t>
            </a:r>
            <a:endParaRPr kumimoji="1" lang="zh-CN" altLang="en-US" dirty="0"/>
          </a:p>
        </p:txBody>
      </p:sp>
      <p:sp>
        <p:nvSpPr>
          <p:cNvPr id="3" name="内容占位符 2">
            <a:extLst>
              <a:ext uri="{FF2B5EF4-FFF2-40B4-BE49-F238E27FC236}">
                <a16:creationId xmlns:a16="http://schemas.microsoft.com/office/drawing/2014/main" id="{0F22D964-5286-BF45-B605-02399EDCF1DE}"/>
              </a:ext>
            </a:extLst>
          </p:cNvPr>
          <p:cNvSpPr>
            <a:spLocks noGrp="1"/>
          </p:cNvSpPr>
          <p:nvPr>
            <p:ph idx="1"/>
          </p:nvPr>
        </p:nvSpPr>
        <p:spPr/>
        <p:txBody>
          <a:bodyPr>
            <a:normAutofit fontScale="92500" lnSpcReduction="20000"/>
          </a:bodyPr>
          <a:lstStyle/>
          <a:p>
            <a:r>
              <a:rPr kumimoji="1" lang="en-US" altLang="zh-CN" dirty="0">
                <a:latin typeface="Helvetica" pitchFamily="2" charset="0"/>
              </a:rPr>
              <a:t>Given a pair of functions: </a:t>
            </a:r>
            <a:r>
              <a:rPr kumimoji="1" lang="en-US" altLang="zh-CN" b="1" dirty="0">
                <a:latin typeface="Helvetica" pitchFamily="2" charset="0"/>
              </a:rPr>
              <a:t>foo</a:t>
            </a:r>
            <a:r>
              <a:rPr kumimoji="1" lang="en-US" altLang="zh-CN" dirty="0">
                <a:latin typeface="Helvetica" pitchFamily="2" charset="0"/>
              </a:rPr>
              <a:t> calls </a:t>
            </a:r>
            <a:r>
              <a:rPr kumimoji="1" lang="en-US" altLang="zh-CN" b="1" dirty="0">
                <a:latin typeface="Helvetica" pitchFamily="2" charset="0"/>
              </a:rPr>
              <a:t>bar</a:t>
            </a: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endParaRPr kumimoji="1" lang="en-US" altLang="zh-CN" dirty="0">
              <a:latin typeface="Helvetica" pitchFamily="2" charset="0"/>
            </a:endParaRPr>
          </a:p>
          <a:p>
            <a:r>
              <a:rPr kumimoji="1" lang="en-US" altLang="zh-CN" dirty="0">
                <a:latin typeface="Helvetica" pitchFamily="2" charset="0"/>
              </a:rPr>
              <a:t>All the dependences are necessary?</a:t>
            </a:r>
            <a:r>
              <a:rPr kumimoji="1" lang="zh-CN" altLang="en-US" dirty="0">
                <a:latin typeface="Helvetica" pitchFamily="2" charset="0"/>
              </a:rPr>
              <a:t> </a:t>
            </a:r>
            <a:r>
              <a:rPr kumimoji="1" lang="en-US" altLang="zh-CN" b="1" dirty="0">
                <a:solidFill>
                  <a:srgbClr val="FF0000"/>
                </a:solidFill>
                <a:latin typeface="Helvetica" pitchFamily="2" charset="0"/>
              </a:rPr>
              <a:t>No!</a:t>
            </a:r>
            <a:endParaRPr kumimoji="1" lang="zh-CN" altLang="en-US" b="1" dirty="0">
              <a:solidFill>
                <a:srgbClr val="FF0000"/>
              </a:solidFill>
              <a:latin typeface="Helvetica" pitchFamily="2" charset="0"/>
            </a:endParaRPr>
          </a:p>
        </p:txBody>
      </p:sp>
      <p:sp>
        <p:nvSpPr>
          <p:cNvPr id="4" name="灯片编号占位符 3">
            <a:extLst>
              <a:ext uri="{FF2B5EF4-FFF2-40B4-BE49-F238E27FC236}">
                <a16:creationId xmlns:a16="http://schemas.microsoft.com/office/drawing/2014/main" id="{A276B804-34F5-2B40-B232-E36D462E5738}"/>
              </a:ext>
            </a:extLst>
          </p:cNvPr>
          <p:cNvSpPr>
            <a:spLocks noGrp="1"/>
          </p:cNvSpPr>
          <p:nvPr>
            <p:ph type="sldNum" sz="quarter" idx="12"/>
          </p:nvPr>
        </p:nvSpPr>
        <p:spPr/>
        <p:txBody>
          <a:bodyPr/>
          <a:lstStyle/>
          <a:p>
            <a:fld id="{C53D9380-AD50-0C4E-BD20-74B8F0FD34CE}" type="slidenum">
              <a:rPr kumimoji="1" lang="zh-CN" altLang="en-US" smtClean="0"/>
              <a:t>11</a:t>
            </a:fld>
            <a:endParaRPr kumimoji="1" lang="zh-CN" altLang="en-US" dirty="0"/>
          </a:p>
        </p:txBody>
      </p:sp>
      <p:sp>
        <p:nvSpPr>
          <p:cNvPr id="6" name="文本框 5">
            <a:extLst>
              <a:ext uri="{FF2B5EF4-FFF2-40B4-BE49-F238E27FC236}">
                <a16:creationId xmlns:a16="http://schemas.microsoft.com/office/drawing/2014/main" id="{7F20BAFE-DC5A-8C4E-A4FD-A25C09D1CCCD}"/>
              </a:ext>
            </a:extLst>
          </p:cNvPr>
          <p:cNvSpPr txBox="1"/>
          <p:nvPr/>
        </p:nvSpPr>
        <p:spPr>
          <a:xfrm>
            <a:off x="188420" y="2630881"/>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foo</a:t>
            </a:r>
          </a:p>
          <a:p>
            <a:pPr algn="ctr"/>
            <a:r>
              <a:rPr kumimoji="1" lang="en-US" altLang="zh-CN" sz="1600" dirty="0">
                <a:latin typeface="Helvetica" pitchFamily="2" charset="0"/>
              </a:rPr>
              <a:t>Type I: Parameter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7" name="文本框 6">
            <a:extLst>
              <a:ext uri="{FF2B5EF4-FFF2-40B4-BE49-F238E27FC236}">
                <a16:creationId xmlns:a16="http://schemas.microsoft.com/office/drawing/2014/main" id="{04DBD803-35AE-9240-9BAA-32371B3D25D1}"/>
              </a:ext>
            </a:extLst>
          </p:cNvPr>
          <p:cNvSpPr txBox="1"/>
          <p:nvPr/>
        </p:nvSpPr>
        <p:spPr>
          <a:xfrm>
            <a:off x="4167427" y="2630881"/>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foo</a:t>
            </a:r>
          </a:p>
          <a:p>
            <a:pPr algn="ctr"/>
            <a:r>
              <a:rPr kumimoji="1" lang="en-US" altLang="zh-CN" sz="1600" dirty="0">
                <a:latin typeface="Helvetica" pitchFamily="2" charset="0"/>
              </a:rPr>
              <a:t>Type II: null in current </a:t>
            </a:r>
            <a:r>
              <a:rPr kumimoji="1" lang="en-US" altLang="zh-CN" sz="1600" dirty="0" err="1">
                <a:latin typeface="Helvetica" pitchFamily="2" charset="0"/>
              </a:rPr>
              <a:t>func</a:t>
            </a:r>
            <a:r>
              <a:rPr kumimoji="1" lang="en-US" altLang="zh-CN" sz="1600" dirty="0">
                <a:latin typeface="Helvetica" pitchFamily="2" charset="0"/>
              </a:rPr>
              <a:t>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8" name="文本框 7">
            <a:extLst>
              <a:ext uri="{FF2B5EF4-FFF2-40B4-BE49-F238E27FC236}">
                <a16:creationId xmlns:a16="http://schemas.microsoft.com/office/drawing/2014/main" id="{62D7C615-9D8D-5B41-BD27-0B412B002B98}"/>
              </a:ext>
            </a:extLst>
          </p:cNvPr>
          <p:cNvSpPr txBox="1"/>
          <p:nvPr/>
        </p:nvSpPr>
        <p:spPr>
          <a:xfrm>
            <a:off x="8136228" y="2630881"/>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foo</a:t>
            </a:r>
          </a:p>
          <a:p>
            <a:pPr algn="ctr"/>
            <a:r>
              <a:rPr kumimoji="1" lang="en-US" altLang="zh-CN" sz="1600" dirty="0">
                <a:latin typeface="Helvetica" pitchFamily="2" charset="0"/>
              </a:rPr>
              <a:t>Type III: null from </a:t>
            </a:r>
            <a:r>
              <a:rPr kumimoji="1" lang="en-US" altLang="zh-CN" sz="1600" dirty="0" err="1">
                <a:latin typeface="Helvetica" pitchFamily="2" charset="0"/>
              </a:rPr>
              <a:t>callee</a:t>
            </a:r>
            <a:r>
              <a:rPr kumimoji="1" lang="en-US" altLang="zh-CN" sz="1600" dirty="0">
                <a:latin typeface="Helvetica" pitchFamily="2" charset="0"/>
              </a:rPr>
              <a:t>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9" name="文本框 8">
            <a:extLst>
              <a:ext uri="{FF2B5EF4-FFF2-40B4-BE49-F238E27FC236}">
                <a16:creationId xmlns:a16="http://schemas.microsoft.com/office/drawing/2014/main" id="{5DA8B413-310F-9C4F-BD42-8BC0D763E601}"/>
              </a:ext>
            </a:extLst>
          </p:cNvPr>
          <p:cNvSpPr txBox="1"/>
          <p:nvPr/>
        </p:nvSpPr>
        <p:spPr>
          <a:xfrm>
            <a:off x="188420" y="4395548"/>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bar</a:t>
            </a:r>
          </a:p>
          <a:p>
            <a:pPr algn="ctr"/>
            <a:r>
              <a:rPr kumimoji="1" lang="en-US" altLang="zh-CN" sz="1600" dirty="0">
                <a:latin typeface="Helvetica" pitchFamily="2" charset="0"/>
              </a:rPr>
              <a:t>Type I: Parameter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10" name="文本框 9">
            <a:extLst>
              <a:ext uri="{FF2B5EF4-FFF2-40B4-BE49-F238E27FC236}">
                <a16:creationId xmlns:a16="http://schemas.microsoft.com/office/drawing/2014/main" id="{9B8576B8-E72F-6D45-8051-A6F14BA520BB}"/>
              </a:ext>
            </a:extLst>
          </p:cNvPr>
          <p:cNvSpPr txBox="1"/>
          <p:nvPr/>
        </p:nvSpPr>
        <p:spPr>
          <a:xfrm>
            <a:off x="4164347" y="4395547"/>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bar</a:t>
            </a:r>
          </a:p>
          <a:p>
            <a:r>
              <a:rPr kumimoji="1" lang="en-US" altLang="zh-CN" sz="1600" dirty="0">
                <a:latin typeface="Helvetica" pitchFamily="2" charset="0"/>
              </a:rPr>
              <a:t>Type II: null in current </a:t>
            </a:r>
            <a:r>
              <a:rPr kumimoji="1" lang="en-US" altLang="zh-CN" sz="1600" dirty="0" err="1">
                <a:latin typeface="Helvetica" pitchFamily="2" charset="0"/>
              </a:rPr>
              <a:t>func</a:t>
            </a:r>
            <a:r>
              <a:rPr kumimoji="1" lang="en-US" altLang="zh-CN" sz="1600" dirty="0">
                <a:latin typeface="Helvetica" pitchFamily="2" charset="0"/>
              </a:rPr>
              <a:t>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sp>
        <p:nvSpPr>
          <p:cNvPr id="11" name="文本框 10">
            <a:extLst>
              <a:ext uri="{FF2B5EF4-FFF2-40B4-BE49-F238E27FC236}">
                <a16:creationId xmlns:a16="http://schemas.microsoft.com/office/drawing/2014/main" id="{3A5E6B1E-C6D6-BE47-8A5E-39455432939E}"/>
              </a:ext>
            </a:extLst>
          </p:cNvPr>
          <p:cNvSpPr txBox="1"/>
          <p:nvPr/>
        </p:nvSpPr>
        <p:spPr>
          <a:xfrm>
            <a:off x="8140274" y="4395549"/>
            <a:ext cx="38592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bar</a:t>
            </a:r>
          </a:p>
          <a:p>
            <a:pPr algn="ctr"/>
            <a:r>
              <a:rPr kumimoji="1" lang="en-US" altLang="zh-CN" sz="1600" dirty="0">
                <a:latin typeface="Helvetica" pitchFamily="2" charset="0"/>
              </a:rPr>
              <a:t>Type III: null from </a:t>
            </a:r>
            <a:r>
              <a:rPr kumimoji="1" lang="en-US" altLang="zh-CN" sz="1600" dirty="0" err="1">
                <a:latin typeface="Helvetica" pitchFamily="2" charset="0"/>
              </a:rPr>
              <a:t>callee</a:t>
            </a:r>
            <a:r>
              <a:rPr kumimoji="1" lang="en-US" altLang="zh-CN" sz="1600" dirty="0">
                <a:latin typeface="Helvetica" pitchFamily="2" charset="0"/>
              </a:rPr>
              <a:t> </a:t>
            </a:r>
            <a:r>
              <a:rPr kumimoji="1" lang="en-US" altLang="zh-CN" sz="1600" dirty="0">
                <a:latin typeface="Helvetica" pitchFamily="2" charset="0"/>
                <a:sym typeface="Wingdings" pitchFamily="2" charset="2"/>
              </a:rPr>
              <a:t> Return</a:t>
            </a:r>
            <a:endParaRPr kumimoji="1" lang="zh-CN" altLang="en-US" sz="1600" dirty="0">
              <a:latin typeface="Helvetica" pitchFamily="2" charset="0"/>
            </a:endParaRPr>
          </a:p>
        </p:txBody>
      </p:sp>
      <p:cxnSp>
        <p:nvCxnSpPr>
          <p:cNvPr id="13" name="直线箭头连接符 12">
            <a:extLst>
              <a:ext uri="{FF2B5EF4-FFF2-40B4-BE49-F238E27FC236}">
                <a16:creationId xmlns:a16="http://schemas.microsoft.com/office/drawing/2014/main" id="{CF49C0F3-804A-1744-A627-090BC9EBA421}"/>
              </a:ext>
            </a:extLst>
          </p:cNvPr>
          <p:cNvCxnSpPr>
            <a:stCxn id="6" idx="2"/>
            <a:endCxn id="9" idx="0"/>
          </p:cNvCxnSpPr>
          <p:nvPr/>
        </p:nvCxnSpPr>
        <p:spPr>
          <a:xfrm>
            <a:off x="2118020" y="3215656"/>
            <a:ext cx="0" cy="117989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1382C6BA-564D-394C-93E6-1708F88FE20A}"/>
              </a:ext>
            </a:extLst>
          </p:cNvPr>
          <p:cNvCxnSpPr>
            <a:stCxn id="6" idx="2"/>
            <a:endCxn id="10" idx="0"/>
          </p:cNvCxnSpPr>
          <p:nvPr/>
        </p:nvCxnSpPr>
        <p:spPr>
          <a:xfrm>
            <a:off x="2118020" y="3215656"/>
            <a:ext cx="3975927" cy="117989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D1E55858-9429-3B40-BAB7-CA9040C5D08C}"/>
              </a:ext>
            </a:extLst>
          </p:cNvPr>
          <p:cNvCxnSpPr>
            <a:stCxn id="6" idx="2"/>
            <a:endCxn id="11" idx="0"/>
          </p:cNvCxnSpPr>
          <p:nvPr/>
        </p:nvCxnSpPr>
        <p:spPr>
          <a:xfrm>
            <a:off x="2118020" y="3215656"/>
            <a:ext cx="7951854" cy="117989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2511CFDF-1603-F741-8BBD-CCEF821D685B}"/>
              </a:ext>
            </a:extLst>
          </p:cNvPr>
          <p:cNvCxnSpPr>
            <a:stCxn id="7" idx="2"/>
            <a:endCxn id="9" idx="0"/>
          </p:cNvCxnSpPr>
          <p:nvPr/>
        </p:nvCxnSpPr>
        <p:spPr>
          <a:xfrm flipH="1">
            <a:off x="2118020" y="3215656"/>
            <a:ext cx="3979007" cy="1179892"/>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a:extLst>
              <a:ext uri="{FF2B5EF4-FFF2-40B4-BE49-F238E27FC236}">
                <a16:creationId xmlns:a16="http://schemas.microsoft.com/office/drawing/2014/main" id="{34AC752D-B8B3-314B-9526-8A2122689B30}"/>
              </a:ext>
            </a:extLst>
          </p:cNvPr>
          <p:cNvCxnSpPr>
            <a:stCxn id="7" idx="2"/>
            <a:endCxn id="10" idx="0"/>
          </p:cNvCxnSpPr>
          <p:nvPr/>
        </p:nvCxnSpPr>
        <p:spPr>
          <a:xfrm flipH="1">
            <a:off x="6093947" y="3215656"/>
            <a:ext cx="3080" cy="1179891"/>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线箭头连接符 22">
            <a:extLst>
              <a:ext uri="{FF2B5EF4-FFF2-40B4-BE49-F238E27FC236}">
                <a16:creationId xmlns:a16="http://schemas.microsoft.com/office/drawing/2014/main" id="{8289D0FB-A56E-5546-89AB-6F6ACB5EBD3C}"/>
              </a:ext>
            </a:extLst>
          </p:cNvPr>
          <p:cNvCxnSpPr>
            <a:stCxn id="7" idx="2"/>
            <a:endCxn id="11" idx="0"/>
          </p:cNvCxnSpPr>
          <p:nvPr/>
        </p:nvCxnSpPr>
        <p:spPr>
          <a:xfrm>
            <a:off x="6097027" y="3215656"/>
            <a:ext cx="3972847" cy="117989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219B245D-F3E5-9F44-90D1-AF24C30A0739}"/>
              </a:ext>
            </a:extLst>
          </p:cNvPr>
          <p:cNvCxnSpPr>
            <a:stCxn id="8" idx="2"/>
            <a:endCxn id="11" idx="0"/>
          </p:cNvCxnSpPr>
          <p:nvPr/>
        </p:nvCxnSpPr>
        <p:spPr>
          <a:xfrm>
            <a:off x="10065828" y="3215656"/>
            <a:ext cx="4046" cy="117989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线箭头连接符 26">
            <a:extLst>
              <a:ext uri="{FF2B5EF4-FFF2-40B4-BE49-F238E27FC236}">
                <a16:creationId xmlns:a16="http://schemas.microsoft.com/office/drawing/2014/main" id="{B4E1BB8D-44A5-1F41-9A0B-1D504350A58C}"/>
              </a:ext>
            </a:extLst>
          </p:cNvPr>
          <p:cNvCxnSpPr>
            <a:stCxn id="8" idx="2"/>
            <a:endCxn id="10" idx="0"/>
          </p:cNvCxnSpPr>
          <p:nvPr/>
        </p:nvCxnSpPr>
        <p:spPr>
          <a:xfrm flipH="1">
            <a:off x="6093947" y="3215656"/>
            <a:ext cx="3971881" cy="1179891"/>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线箭头连接符 28">
            <a:extLst>
              <a:ext uri="{FF2B5EF4-FFF2-40B4-BE49-F238E27FC236}">
                <a16:creationId xmlns:a16="http://schemas.microsoft.com/office/drawing/2014/main" id="{B9E497D1-45EC-A74D-83F8-F76A5260EAEC}"/>
              </a:ext>
            </a:extLst>
          </p:cNvPr>
          <p:cNvCxnSpPr>
            <a:stCxn id="8" idx="2"/>
            <a:endCxn id="9" idx="0"/>
          </p:cNvCxnSpPr>
          <p:nvPr/>
        </p:nvCxnSpPr>
        <p:spPr>
          <a:xfrm flipH="1">
            <a:off x="2118020" y="3215656"/>
            <a:ext cx="7947808" cy="117989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id="{2E6BBFFF-A0D6-5542-B4B3-1E886FC695A7}"/>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870" t="-2502" b="-1"/>
          <a:stretch/>
        </p:blipFill>
        <p:spPr>
          <a:xfrm>
            <a:off x="8356774" y="1508760"/>
            <a:ext cx="3317840" cy="4456523"/>
          </a:xfrm>
          <a:prstGeom prst="rect">
            <a:avLst/>
          </a:prstGeom>
          <a:solidFill>
            <a:schemeClr val="bg1"/>
          </a:solidFill>
          <a:ln>
            <a:noFill/>
          </a:ln>
          <a:effectLst>
            <a:outerShdw blurRad="190500" algn="tl" rotWithShape="0">
              <a:srgbClr val="000000">
                <a:alpha val="70000"/>
              </a:srgbClr>
            </a:outerShdw>
          </a:effectLst>
        </p:spPr>
      </p:pic>
      <p:sp>
        <p:nvSpPr>
          <p:cNvPr id="18" name="矩形 17">
            <a:extLst>
              <a:ext uri="{FF2B5EF4-FFF2-40B4-BE49-F238E27FC236}">
                <a16:creationId xmlns:a16="http://schemas.microsoft.com/office/drawing/2014/main" id="{6D18E121-07F6-C748-A086-840ED3003B7B}"/>
              </a:ext>
            </a:extLst>
          </p:cNvPr>
          <p:cNvSpPr/>
          <p:nvPr/>
        </p:nvSpPr>
        <p:spPr>
          <a:xfrm>
            <a:off x="9473184" y="1755648"/>
            <a:ext cx="256032" cy="4142232"/>
          </a:xfrm>
          <a:prstGeom prst="rect">
            <a:avLst/>
          </a:prstGeom>
          <a:solidFill>
            <a:schemeClr val="accent1">
              <a:alpha val="4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任意形状 4">
            <a:extLst>
              <a:ext uri="{FF2B5EF4-FFF2-40B4-BE49-F238E27FC236}">
                <a16:creationId xmlns:a16="http://schemas.microsoft.com/office/drawing/2014/main" id="{CF17B853-A8F2-DD4E-A04F-DC74AE16D6F9}"/>
              </a:ext>
            </a:extLst>
          </p:cNvPr>
          <p:cNvSpPr/>
          <p:nvPr/>
        </p:nvSpPr>
        <p:spPr>
          <a:xfrm>
            <a:off x="9481351" y="2370338"/>
            <a:ext cx="1189608" cy="1961965"/>
          </a:xfrm>
          <a:custGeom>
            <a:avLst/>
            <a:gdLst>
              <a:gd name="connsiteX0" fmla="*/ 914400 w 1189608"/>
              <a:gd name="connsiteY0" fmla="*/ 0 h 1961965"/>
              <a:gd name="connsiteX1" fmla="*/ 1189608 w 1189608"/>
              <a:gd name="connsiteY1" fmla="*/ 0 h 1961965"/>
              <a:gd name="connsiteX2" fmla="*/ 1189608 w 1189608"/>
              <a:gd name="connsiteY2" fmla="*/ 781235 h 1961965"/>
              <a:gd name="connsiteX3" fmla="*/ 248575 w 1189608"/>
              <a:gd name="connsiteY3" fmla="*/ 1331650 h 1961965"/>
              <a:gd name="connsiteX4" fmla="*/ 248575 w 1189608"/>
              <a:gd name="connsiteY4" fmla="*/ 1961965 h 1961965"/>
              <a:gd name="connsiteX5" fmla="*/ 0 w 1189608"/>
              <a:gd name="connsiteY5" fmla="*/ 1961965 h 1961965"/>
              <a:gd name="connsiteX6" fmla="*/ 0 w 1189608"/>
              <a:gd name="connsiteY6" fmla="*/ 1145219 h 1961965"/>
              <a:gd name="connsiteX7" fmla="*/ 914400 w 1189608"/>
              <a:gd name="connsiteY7" fmla="*/ 612559 h 1961965"/>
              <a:gd name="connsiteX8" fmla="*/ 914400 w 1189608"/>
              <a:gd name="connsiteY8" fmla="*/ 0 h 196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9608" h="1961965">
                <a:moveTo>
                  <a:pt x="914400" y="0"/>
                </a:moveTo>
                <a:lnTo>
                  <a:pt x="1189608" y="0"/>
                </a:lnTo>
                <a:lnTo>
                  <a:pt x="1189608" y="781235"/>
                </a:lnTo>
                <a:lnTo>
                  <a:pt x="248575" y="1331650"/>
                </a:lnTo>
                <a:lnTo>
                  <a:pt x="248575" y="1961965"/>
                </a:lnTo>
                <a:lnTo>
                  <a:pt x="0" y="1961965"/>
                </a:lnTo>
                <a:lnTo>
                  <a:pt x="0" y="1145219"/>
                </a:lnTo>
                <a:lnTo>
                  <a:pt x="914400" y="612559"/>
                </a:lnTo>
                <a:lnTo>
                  <a:pt x="914400" y="0"/>
                </a:lnTo>
                <a:close/>
              </a:path>
            </a:pathLst>
          </a:custGeom>
          <a:solidFill>
            <a:srgbClr val="FFC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237065441"/>
      </p:ext>
    </p:extLst>
  </p:cSld>
  <p:clrMapOvr>
    <a:masterClrMapping/>
  </p:clrMapOvr>
  <mc:AlternateContent xmlns:mc="http://schemas.openxmlformats.org/markup-compatibility/2006" xmlns:p14="http://schemas.microsoft.com/office/powerpoint/2010/main">
    <mc:Choice Requires="p14">
      <p:transition spd="slow" p14:dur="2000" advTm="19718"/>
    </mc:Choice>
    <mc:Fallback xmlns="">
      <p:transition spd="slow" advTm="197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2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6B8022-4324-2741-99CC-21EEB09065E3}"/>
              </a:ext>
            </a:extLst>
          </p:cNvPr>
          <p:cNvSpPr>
            <a:spLocks noGrp="1"/>
          </p:cNvSpPr>
          <p:nvPr>
            <p:ph type="title"/>
          </p:nvPr>
        </p:nvSpPr>
        <p:spPr/>
        <p:txBody>
          <a:bodyPr/>
          <a:lstStyle/>
          <a:p>
            <a:r>
              <a:rPr kumimoji="1" lang="en-US" altLang="zh-CN" dirty="0"/>
              <a:t>Pipeline Scheduling</a:t>
            </a:r>
            <a:endParaRPr kumimoji="1" lang="zh-CN" altLang="en-US" dirty="0"/>
          </a:p>
        </p:txBody>
      </p:sp>
      <p:sp>
        <p:nvSpPr>
          <p:cNvPr id="3" name="内容占位符 2">
            <a:extLst>
              <a:ext uri="{FF2B5EF4-FFF2-40B4-BE49-F238E27FC236}">
                <a16:creationId xmlns:a16="http://schemas.microsoft.com/office/drawing/2014/main" id="{558FE3AE-017B-C546-8A69-08BF26E5B478}"/>
              </a:ext>
            </a:extLst>
          </p:cNvPr>
          <p:cNvSpPr>
            <a:spLocks noGrp="1"/>
          </p:cNvSpPr>
          <p:nvPr>
            <p:ph idx="1"/>
          </p:nvPr>
        </p:nvSpPr>
        <p:spPr/>
        <p:txBody>
          <a:bodyPr/>
          <a:lstStyle/>
          <a:p>
            <a:r>
              <a:rPr kumimoji="1" lang="en-US" altLang="zh-CN" dirty="0">
                <a:latin typeface="Helvetica" pitchFamily="2" charset="0"/>
              </a:rPr>
              <a:t>Given a pair of functions: </a:t>
            </a:r>
            <a:r>
              <a:rPr kumimoji="1" lang="en-US" altLang="zh-CN" b="1" dirty="0">
                <a:latin typeface="Helvetica" pitchFamily="2" charset="0"/>
              </a:rPr>
              <a:t>foo</a:t>
            </a:r>
            <a:r>
              <a:rPr kumimoji="1" lang="en-US" altLang="zh-CN" dirty="0">
                <a:latin typeface="Helvetica" pitchFamily="2" charset="0"/>
              </a:rPr>
              <a:t> calls </a:t>
            </a:r>
            <a:r>
              <a:rPr kumimoji="1" lang="en-US" altLang="zh-CN" b="1" dirty="0">
                <a:latin typeface="Helvetica" pitchFamily="2" charset="0"/>
              </a:rPr>
              <a:t>bar</a:t>
            </a:r>
          </a:p>
          <a:p>
            <a:endParaRPr kumimoji="1" lang="zh-CN" altLang="en-US" dirty="0">
              <a:latin typeface="Helvetica" pitchFamily="2" charset="0"/>
            </a:endParaRPr>
          </a:p>
        </p:txBody>
      </p:sp>
      <p:sp>
        <p:nvSpPr>
          <p:cNvPr id="4" name="灯片编号占位符 3">
            <a:extLst>
              <a:ext uri="{FF2B5EF4-FFF2-40B4-BE49-F238E27FC236}">
                <a16:creationId xmlns:a16="http://schemas.microsoft.com/office/drawing/2014/main" id="{039EABCA-419E-6048-BA72-87E97D1D3E7A}"/>
              </a:ext>
            </a:extLst>
          </p:cNvPr>
          <p:cNvSpPr>
            <a:spLocks noGrp="1"/>
          </p:cNvSpPr>
          <p:nvPr>
            <p:ph type="sldNum" sz="quarter" idx="12"/>
          </p:nvPr>
        </p:nvSpPr>
        <p:spPr/>
        <p:txBody>
          <a:bodyPr/>
          <a:lstStyle/>
          <a:p>
            <a:fld id="{C53D9380-AD50-0C4E-BD20-74B8F0FD34CE}" type="slidenum">
              <a:rPr kumimoji="1" lang="zh-CN" altLang="en-US" smtClean="0"/>
              <a:t>12</a:t>
            </a:fld>
            <a:endParaRPr kumimoji="1" lang="zh-CN" altLang="en-US"/>
          </a:p>
        </p:txBody>
      </p:sp>
      <p:sp>
        <p:nvSpPr>
          <p:cNvPr id="5" name="文本框 4">
            <a:extLst>
              <a:ext uri="{FF2B5EF4-FFF2-40B4-BE49-F238E27FC236}">
                <a16:creationId xmlns:a16="http://schemas.microsoft.com/office/drawing/2014/main" id="{CC70DB8F-8453-3C47-8280-0EB75FA8AB7C}"/>
              </a:ext>
            </a:extLst>
          </p:cNvPr>
          <p:cNvSpPr txBox="1"/>
          <p:nvPr/>
        </p:nvSpPr>
        <p:spPr>
          <a:xfrm>
            <a:off x="2411455" y="2941778"/>
            <a:ext cx="18000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foo</a:t>
            </a:r>
          </a:p>
          <a:p>
            <a:pPr algn="ctr"/>
            <a:r>
              <a:rPr kumimoji="1" lang="en-US" altLang="zh-CN" sz="1600" dirty="0">
                <a:latin typeface="Helvetica" pitchFamily="2" charset="0"/>
              </a:rPr>
              <a:t>Type I</a:t>
            </a:r>
            <a:endParaRPr kumimoji="1" lang="zh-CN" altLang="en-US" sz="1600" dirty="0">
              <a:latin typeface="Helvetica" pitchFamily="2" charset="0"/>
            </a:endParaRPr>
          </a:p>
        </p:txBody>
      </p:sp>
      <p:sp>
        <p:nvSpPr>
          <p:cNvPr id="6" name="文本框 5">
            <a:extLst>
              <a:ext uri="{FF2B5EF4-FFF2-40B4-BE49-F238E27FC236}">
                <a16:creationId xmlns:a16="http://schemas.microsoft.com/office/drawing/2014/main" id="{4A1198B4-6ABA-CA4B-9F9D-3C34C5EC41DB}"/>
              </a:ext>
            </a:extLst>
          </p:cNvPr>
          <p:cNvSpPr txBox="1"/>
          <p:nvPr/>
        </p:nvSpPr>
        <p:spPr>
          <a:xfrm>
            <a:off x="4670961" y="2941778"/>
            <a:ext cx="18000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foo</a:t>
            </a:r>
          </a:p>
          <a:p>
            <a:pPr algn="ctr"/>
            <a:r>
              <a:rPr kumimoji="1" lang="en-US" altLang="zh-CN" sz="1600" dirty="0">
                <a:latin typeface="Helvetica" pitchFamily="2" charset="0"/>
              </a:rPr>
              <a:t>Type II</a:t>
            </a:r>
            <a:endParaRPr kumimoji="1" lang="zh-CN" altLang="en-US" sz="1600" dirty="0">
              <a:latin typeface="Helvetica" pitchFamily="2" charset="0"/>
            </a:endParaRPr>
          </a:p>
        </p:txBody>
      </p:sp>
      <p:sp>
        <p:nvSpPr>
          <p:cNvPr id="7" name="文本框 6">
            <a:extLst>
              <a:ext uri="{FF2B5EF4-FFF2-40B4-BE49-F238E27FC236}">
                <a16:creationId xmlns:a16="http://schemas.microsoft.com/office/drawing/2014/main" id="{D4D61F92-B69A-DA42-BC09-D15A837E1FAC}"/>
              </a:ext>
            </a:extLst>
          </p:cNvPr>
          <p:cNvSpPr txBox="1"/>
          <p:nvPr/>
        </p:nvSpPr>
        <p:spPr>
          <a:xfrm>
            <a:off x="6930463" y="2941778"/>
            <a:ext cx="18000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foo</a:t>
            </a:r>
          </a:p>
          <a:p>
            <a:pPr algn="ctr"/>
            <a:r>
              <a:rPr kumimoji="1" lang="en-US" altLang="zh-CN" sz="1600" dirty="0">
                <a:latin typeface="Helvetica" pitchFamily="2" charset="0"/>
              </a:rPr>
              <a:t>Type III</a:t>
            </a:r>
            <a:endParaRPr kumimoji="1" lang="zh-CN" altLang="en-US" sz="1600" dirty="0">
              <a:latin typeface="Helvetica" pitchFamily="2" charset="0"/>
            </a:endParaRPr>
          </a:p>
        </p:txBody>
      </p:sp>
      <p:sp>
        <p:nvSpPr>
          <p:cNvPr id="8" name="文本框 7">
            <a:extLst>
              <a:ext uri="{FF2B5EF4-FFF2-40B4-BE49-F238E27FC236}">
                <a16:creationId xmlns:a16="http://schemas.microsoft.com/office/drawing/2014/main" id="{2EA38EDA-68F5-B044-BB29-279F19C85D3E}"/>
              </a:ext>
            </a:extLst>
          </p:cNvPr>
          <p:cNvSpPr txBox="1"/>
          <p:nvPr/>
        </p:nvSpPr>
        <p:spPr>
          <a:xfrm>
            <a:off x="2411455" y="4231226"/>
            <a:ext cx="18000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bar</a:t>
            </a:r>
          </a:p>
          <a:p>
            <a:pPr algn="ctr"/>
            <a:r>
              <a:rPr kumimoji="1" lang="en-US" altLang="zh-CN" sz="1600" dirty="0">
                <a:latin typeface="Helvetica" pitchFamily="2" charset="0"/>
              </a:rPr>
              <a:t>Type I</a:t>
            </a:r>
            <a:endParaRPr kumimoji="1" lang="zh-CN" altLang="en-US" sz="1600" dirty="0">
              <a:latin typeface="Helvetica" pitchFamily="2" charset="0"/>
            </a:endParaRPr>
          </a:p>
        </p:txBody>
      </p:sp>
      <p:sp>
        <p:nvSpPr>
          <p:cNvPr id="9" name="文本框 8">
            <a:extLst>
              <a:ext uri="{FF2B5EF4-FFF2-40B4-BE49-F238E27FC236}">
                <a16:creationId xmlns:a16="http://schemas.microsoft.com/office/drawing/2014/main" id="{767A69DE-3CDC-C445-B7E8-F3D4443B596A}"/>
              </a:ext>
            </a:extLst>
          </p:cNvPr>
          <p:cNvSpPr txBox="1"/>
          <p:nvPr/>
        </p:nvSpPr>
        <p:spPr>
          <a:xfrm>
            <a:off x="4670959" y="4234020"/>
            <a:ext cx="18000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bar</a:t>
            </a:r>
          </a:p>
          <a:p>
            <a:pPr algn="ctr"/>
            <a:r>
              <a:rPr kumimoji="1" lang="en-US" altLang="zh-CN" sz="1600" dirty="0">
                <a:latin typeface="Helvetica" pitchFamily="2" charset="0"/>
              </a:rPr>
              <a:t>Type II</a:t>
            </a:r>
            <a:endParaRPr kumimoji="1" lang="zh-CN" altLang="en-US" sz="1600" dirty="0">
              <a:latin typeface="Helvetica" pitchFamily="2" charset="0"/>
            </a:endParaRPr>
          </a:p>
        </p:txBody>
      </p:sp>
      <p:sp>
        <p:nvSpPr>
          <p:cNvPr id="10" name="文本框 9">
            <a:extLst>
              <a:ext uri="{FF2B5EF4-FFF2-40B4-BE49-F238E27FC236}">
                <a16:creationId xmlns:a16="http://schemas.microsoft.com/office/drawing/2014/main" id="{02699D60-ADAE-E242-B91F-E38E12751257}"/>
              </a:ext>
            </a:extLst>
          </p:cNvPr>
          <p:cNvSpPr txBox="1"/>
          <p:nvPr/>
        </p:nvSpPr>
        <p:spPr>
          <a:xfrm>
            <a:off x="6930463" y="4230958"/>
            <a:ext cx="1800000" cy="584775"/>
          </a:xfrm>
          <a:prstGeom prst="rect">
            <a:avLst/>
          </a:prstGeom>
          <a:noFill/>
          <a:ln>
            <a:solidFill>
              <a:schemeClr val="tx1"/>
            </a:solidFill>
          </a:ln>
        </p:spPr>
        <p:txBody>
          <a:bodyPr wrap="none" rtlCol="0">
            <a:spAutoFit/>
          </a:bodyPr>
          <a:lstStyle/>
          <a:p>
            <a:pPr algn="ctr"/>
            <a:r>
              <a:rPr kumimoji="1" lang="en-US" altLang="zh-CN" sz="1600" dirty="0">
                <a:latin typeface="Helvetica" pitchFamily="2" charset="0"/>
              </a:rPr>
              <a:t>bar</a:t>
            </a:r>
          </a:p>
          <a:p>
            <a:pPr algn="ctr"/>
            <a:r>
              <a:rPr kumimoji="1" lang="en-US" altLang="zh-CN" sz="1600" dirty="0">
                <a:latin typeface="Helvetica" pitchFamily="2" charset="0"/>
              </a:rPr>
              <a:t>Type III</a:t>
            </a:r>
            <a:endParaRPr kumimoji="1" lang="zh-CN" altLang="en-US" sz="1600" dirty="0">
              <a:latin typeface="Helvetica" pitchFamily="2" charset="0"/>
            </a:endParaRPr>
          </a:p>
        </p:txBody>
      </p:sp>
      <p:cxnSp>
        <p:nvCxnSpPr>
          <p:cNvPr id="11" name="直线箭头连接符 10">
            <a:extLst>
              <a:ext uri="{FF2B5EF4-FFF2-40B4-BE49-F238E27FC236}">
                <a16:creationId xmlns:a16="http://schemas.microsoft.com/office/drawing/2014/main" id="{A68A65CB-9802-F045-912E-D73F64F95E2A}"/>
              </a:ext>
            </a:extLst>
          </p:cNvPr>
          <p:cNvCxnSpPr>
            <a:stCxn id="5" idx="2"/>
            <a:endCxn id="8" idx="0"/>
          </p:cNvCxnSpPr>
          <p:nvPr/>
        </p:nvCxnSpPr>
        <p:spPr>
          <a:xfrm>
            <a:off x="3311455" y="3526553"/>
            <a:ext cx="0" cy="70467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线箭头连接符 11">
            <a:extLst>
              <a:ext uri="{FF2B5EF4-FFF2-40B4-BE49-F238E27FC236}">
                <a16:creationId xmlns:a16="http://schemas.microsoft.com/office/drawing/2014/main" id="{FBEF0199-258C-3C4D-9C7B-5F76F2C16CF7}"/>
              </a:ext>
            </a:extLst>
          </p:cNvPr>
          <p:cNvCxnSpPr>
            <a:stCxn id="6" idx="2"/>
            <a:endCxn id="8" idx="0"/>
          </p:cNvCxnSpPr>
          <p:nvPr/>
        </p:nvCxnSpPr>
        <p:spPr>
          <a:xfrm flipH="1">
            <a:off x="3311455" y="3526553"/>
            <a:ext cx="2259506" cy="70467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线箭头连接符 12">
            <a:extLst>
              <a:ext uri="{FF2B5EF4-FFF2-40B4-BE49-F238E27FC236}">
                <a16:creationId xmlns:a16="http://schemas.microsoft.com/office/drawing/2014/main" id="{8ED93406-2FC2-5B49-8C3E-EC9B2A0524BE}"/>
              </a:ext>
            </a:extLst>
          </p:cNvPr>
          <p:cNvCxnSpPr>
            <a:stCxn id="7" idx="2"/>
            <a:endCxn id="10" idx="0"/>
          </p:cNvCxnSpPr>
          <p:nvPr/>
        </p:nvCxnSpPr>
        <p:spPr>
          <a:xfrm>
            <a:off x="7830463" y="3526553"/>
            <a:ext cx="0" cy="704405"/>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线箭头连接符 13">
            <a:extLst>
              <a:ext uri="{FF2B5EF4-FFF2-40B4-BE49-F238E27FC236}">
                <a16:creationId xmlns:a16="http://schemas.microsoft.com/office/drawing/2014/main" id="{9DFD1460-A191-7244-A14B-91F009B54137}"/>
              </a:ext>
            </a:extLst>
          </p:cNvPr>
          <p:cNvCxnSpPr>
            <a:stCxn id="7" idx="2"/>
            <a:endCxn id="9" idx="0"/>
          </p:cNvCxnSpPr>
          <p:nvPr/>
        </p:nvCxnSpPr>
        <p:spPr>
          <a:xfrm flipH="1">
            <a:off x="5570959" y="3526553"/>
            <a:ext cx="2259504" cy="70746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0AA8AA30-5364-844C-A288-F19C01781C90}"/>
              </a:ext>
            </a:extLst>
          </p:cNvPr>
          <p:cNvCxnSpPr>
            <a:stCxn id="7" idx="2"/>
            <a:endCxn id="8" idx="0"/>
          </p:cNvCxnSpPr>
          <p:nvPr/>
        </p:nvCxnSpPr>
        <p:spPr>
          <a:xfrm flipH="1">
            <a:off x="3311455" y="3526553"/>
            <a:ext cx="4519008" cy="70467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2" name="组合 31">
            <a:extLst>
              <a:ext uri="{FF2B5EF4-FFF2-40B4-BE49-F238E27FC236}">
                <a16:creationId xmlns:a16="http://schemas.microsoft.com/office/drawing/2014/main" id="{C613C2F8-3E54-C24A-A563-B9A8CAC4A64D}"/>
              </a:ext>
            </a:extLst>
          </p:cNvPr>
          <p:cNvGrpSpPr/>
          <p:nvPr/>
        </p:nvGrpSpPr>
        <p:grpSpPr>
          <a:xfrm>
            <a:off x="2411455" y="5074920"/>
            <a:ext cx="9210569" cy="333276"/>
            <a:chOff x="2411455" y="5074920"/>
            <a:chExt cx="9210569" cy="333276"/>
          </a:xfrm>
        </p:grpSpPr>
        <p:cxnSp>
          <p:nvCxnSpPr>
            <p:cNvPr id="19" name="直线箭头连接符 18">
              <a:extLst>
                <a:ext uri="{FF2B5EF4-FFF2-40B4-BE49-F238E27FC236}">
                  <a16:creationId xmlns:a16="http://schemas.microsoft.com/office/drawing/2014/main" id="{1F4A1F95-D4F6-C040-82A0-AF428575A779}"/>
                </a:ext>
              </a:extLst>
            </p:cNvPr>
            <p:cNvCxnSpPr/>
            <p:nvPr/>
          </p:nvCxnSpPr>
          <p:spPr>
            <a:xfrm>
              <a:off x="2411455" y="5074920"/>
              <a:ext cx="9210569"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E38CCC09-D0EE-274B-88CF-0EED3F881507}"/>
                </a:ext>
              </a:extLst>
            </p:cNvPr>
            <p:cNvSpPr txBox="1"/>
            <p:nvPr/>
          </p:nvSpPr>
          <p:spPr>
            <a:xfrm>
              <a:off x="10767495" y="5100419"/>
              <a:ext cx="854529" cy="307777"/>
            </a:xfrm>
            <a:prstGeom prst="rect">
              <a:avLst/>
            </a:prstGeom>
            <a:noFill/>
          </p:spPr>
          <p:txBody>
            <a:bodyPr wrap="none" rtlCol="0">
              <a:spAutoFit/>
            </a:bodyPr>
            <a:lstStyle/>
            <a:p>
              <a:r>
                <a:rPr kumimoji="1" lang="en-US" altLang="zh-CN" sz="1400" dirty="0">
                  <a:latin typeface="Helvetica" pitchFamily="2" charset="0"/>
                </a:rPr>
                <a:t>Timeline</a:t>
              </a:r>
              <a:endParaRPr kumimoji="1" lang="zh-CN" altLang="en-US" sz="1400" dirty="0">
                <a:latin typeface="Helvetica" pitchFamily="2" charset="0"/>
              </a:endParaRPr>
            </a:p>
          </p:txBody>
        </p:sp>
      </p:grpSp>
      <p:cxnSp>
        <p:nvCxnSpPr>
          <p:cNvPr id="21" name="直线箭头连接符 20">
            <a:extLst>
              <a:ext uri="{FF2B5EF4-FFF2-40B4-BE49-F238E27FC236}">
                <a16:creationId xmlns:a16="http://schemas.microsoft.com/office/drawing/2014/main" id="{5CF1F33C-784E-6A45-A33D-3C78336B1546}"/>
              </a:ext>
            </a:extLst>
          </p:cNvPr>
          <p:cNvCxnSpPr>
            <a:cxnSpLocks/>
            <a:endCxn id="8" idx="0"/>
          </p:cNvCxnSpPr>
          <p:nvPr/>
        </p:nvCxnSpPr>
        <p:spPr>
          <a:xfrm flipH="1">
            <a:off x="3311455" y="3526553"/>
            <a:ext cx="6778510" cy="70467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线箭头连接符 25">
            <a:extLst>
              <a:ext uri="{FF2B5EF4-FFF2-40B4-BE49-F238E27FC236}">
                <a16:creationId xmlns:a16="http://schemas.microsoft.com/office/drawing/2014/main" id="{0004115A-85E7-004D-BCEF-4217BBD8DEB5}"/>
              </a:ext>
            </a:extLst>
          </p:cNvPr>
          <p:cNvCxnSpPr>
            <a:cxnSpLocks/>
            <a:endCxn id="9" idx="0"/>
          </p:cNvCxnSpPr>
          <p:nvPr/>
        </p:nvCxnSpPr>
        <p:spPr>
          <a:xfrm flipH="1">
            <a:off x="5570959" y="3542344"/>
            <a:ext cx="4519006" cy="691676"/>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线箭头连接符 26">
            <a:extLst>
              <a:ext uri="{FF2B5EF4-FFF2-40B4-BE49-F238E27FC236}">
                <a16:creationId xmlns:a16="http://schemas.microsoft.com/office/drawing/2014/main" id="{239008F0-13E9-D14D-B636-43D6CCE151CA}"/>
              </a:ext>
            </a:extLst>
          </p:cNvPr>
          <p:cNvCxnSpPr>
            <a:cxnSpLocks/>
            <a:endCxn id="10" idx="0"/>
          </p:cNvCxnSpPr>
          <p:nvPr/>
        </p:nvCxnSpPr>
        <p:spPr>
          <a:xfrm flipH="1">
            <a:off x="7830463" y="3534315"/>
            <a:ext cx="2259504" cy="69664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三角形 32">
            <a:extLst>
              <a:ext uri="{FF2B5EF4-FFF2-40B4-BE49-F238E27FC236}">
                <a16:creationId xmlns:a16="http://schemas.microsoft.com/office/drawing/2014/main" id="{A37C99FA-355F-1543-84AA-863D608EDE26}"/>
              </a:ext>
            </a:extLst>
          </p:cNvPr>
          <p:cNvSpPr/>
          <p:nvPr/>
        </p:nvSpPr>
        <p:spPr>
          <a:xfrm rot="10800000">
            <a:off x="5487999" y="2396452"/>
            <a:ext cx="165919" cy="310896"/>
          </a:xfrm>
          <a:prstGeom prst="triangl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4" name="三角形 33">
            <a:extLst>
              <a:ext uri="{FF2B5EF4-FFF2-40B4-BE49-F238E27FC236}">
                <a16:creationId xmlns:a16="http://schemas.microsoft.com/office/drawing/2014/main" id="{7F65F517-0582-E547-B49C-D635F48B1F7A}"/>
              </a:ext>
            </a:extLst>
          </p:cNvPr>
          <p:cNvSpPr/>
          <p:nvPr/>
        </p:nvSpPr>
        <p:spPr>
          <a:xfrm rot="10800000">
            <a:off x="7747502" y="2392771"/>
            <a:ext cx="165919" cy="310896"/>
          </a:xfrm>
          <a:prstGeom prst="triangl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5" name="三角形 34">
            <a:extLst>
              <a:ext uri="{FF2B5EF4-FFF2-40B4-BE49-F238E27FC236}">
                <a16:creationId xmlns:a16="http://schemas.microsoft.com/office/drawing/2014/main" id="{17D29D0C-BF34-CC40-8F37-4B65B943BCBF}"/>
              </a:ext>
            </a:extLst>
          </p:cNvPr>
          <p:cNvSpPr/>
          <p:nvPr/>
        </p:nvSpPr>
        <p:spPr>
          <a:xfrm rot="10800000">
            <a:off x="10007005" y="2390548"/>
            <a:ext cx="165919" cy="310896"/>
          </a:xfrm>
          <a:prstGeom prst="triangl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6" name="文本框 35">
            <a:extLst>
              <a:ext uri="{FF2B5EF4-FFF2-40B4-BE49-F238E27FC236}">
                <a16:creationId xmlns:a16="http://schemas.microsoft.com/office/drawing/2014/main" id="{5315B45F-612E-154E-9E29-18B3C09E0B5C}"/>
              </a:ext>
            </a:extLst>
          </p:cNvPr>
          <p:cNvSpPr txBox="1"/>
          <p:nvPr/>
        </p:nvSpPr>
        <p:spPr>
          <a:xfrm>
            <a:off x="2411455" y="4232806"/>
            <a:ext cx="1800000" cy="586800"/>
          </a:xfrm>
          <a:prstGeom prst="rect">
            <a:avLst/>
          </a:prstGeom>
          <a:noFill/>
          <a:ln w="19050">
            <a:solidFill>
              <a:srgbClr val="FF0000"/>
            </a:solidFill>
          </a:ln>
        </p:spPr>
        <p:txBody>
          <a:bodyPr wrap="none" rtlCol="0">
            <a:spAutoFit/>
          </a:bodyPr>
          <a:lstStyle/>
          <a:p>
            <a:pPr algn="ctr"/>
            <a:r>
              <a:rPr kumimoji="1" lang="en-US" altLang="zh-CN" sz="1600" dirty="0">
                <a:latin typeface="Helvetica" pitchFamily="2" charset="0"/>
              </a:rPr>
              <a:t>    </a:t>
            </a:r>
            <a:endParaRPr kumimoji="1" lang="zh-CN" altLang="en-US" sz="1600" dirty="0">
              <a:latin typeface="Helvetica" pitchFamily="2" charset="0"/>
            </a:endParaRPr>
          </a:p>
        </p:txBody>
      </p:sp>
      <p:sp>
        <p:nvSpPr>
          <p:cNvPr id="37" name="文本框 36">
            <a:extLst>
              <a:ext uri="{FF2B5EF4-FFF2-40B4-BE49-F238E27FC236}">
                <a16:creationId xmlns:a16="http://schemas.microsoft.com/office/drawing/2014/main" id="{475DE103-633B-0546-898B-D641694349A4}"/>
              </a:ext>
            </a:extLst>
          </p:cNvPr>
          <p:cNvSpPr txBox="1"/>
          <p:nvPr/>
        </p:nvSpPr>
        <p:spPr>
          <a:xfrm>
            <a:off x="4670957" y="4236814"/>
            <a:ext cx="1800000" cy="586800"/>
          </a:xfrm>
          <a:prstGeom prst="rect">
            <a:avLst/>
          </a:prstGeom>
          <a:noFill/>
          <a:ln w="19050">
            <a:solidFill>
              <a:srgbClr val="FF0000"/>
            </a:solidFill>
          </a:ln>
        </p:spPr>
        <p:txBody>
          <a:bodyPr wrap="none" rtlCol="0">
            <a:spAutoFit/>
          </a:bodyPr>
          <a:lstStyle/>
          <a:p>
            <a:pPr algn="ctr"/>
            <a:r>
              <a:rPr kumimoji="1" lang="en-US" altLang="zh-CN" sz="1600" dirty="0">
                <a:latin typeface="Helvetica" pitchFamily="2" charset="0"/>
              </a:rPr>
              <a:t>    </a:t>
            </a:r>
            <a:endParaRPr kumimoji="1" lang="zh-CN" altLang="en-US" sz="1600" dirty="0">
              <a:latin typeface="Helvetica" pitchFamily="2" charset="0"/>
            </a:endParaRPr>
          </a:p>
        </p:txBody>
      </p:sp>
      <p:sp>
        <p:nvSpPr>
          <p:cNvPr id="38" name="文本框 37">
            <a:extLst>
              <a:ext uri="{FF2B5EF4-FFF2-40B4-BE49-F238E27FC236}">
                <a16:creationId xmlns:a16="http://schemas.microsoft.com/office/drawing/2014/main" id="{B8B92EBB-D237-D340-BB07-B2D60869BA18}"/>
              </a:ext>
            </a:extLst>
          </p:cNvPr>
          <p:cNvSpPr txBox="1"/>
          <p:nvPr/>
        </p:nvSpPr>
        <p:spPr>
          <a:xfrm>
            <a:off x="6930463" y="4232538"/>
            <a:ext cx="1800000" cy="586800"/>
          </a:xfrm>
          <a:prstGeom prst="rect">
            <a:avLst/>
          </a:prstGeom>
          <a:noFill/>
          <a:ln w="19050">
            <a:solidFill>
              <a:srgbClr val="FF0000"/>
            </a:solidFill>
          </a:ln>
        </p:spPr>
        <p:txBody>
          <a:bodyPr wrap="none" rtlCol="0">
            <a:spAutoFit/>
          </a:bodyPr>
          <a:lstStyle/>
          <a:p>
            <a:pPr algn="ctr"/>
            <a:r>
              <a:rPr kumimoji="1" lang="en-US" altLang="zh-CN" sz="1600" dirty="0">
                <a:latin typeface="Helvetica" pitchFamily="2" charset="0"/>
              </a:rPr>
              <a:t>    </a:t>
            </a:r>
            <a:endParaRPr kumimoji="1" lang="zh-CN" altLang="en-US" sz="1600" dirty="0">
              <a:latin typeface="Helvetica" pitchFamily="2" charset="0"/>
            </a:endParaRPr>
          </a:p>
        </p:txBody>
      </p:sp>
    </p:spTree>
    <p:custDataLst>
      <p:tags r:id="rId1"/>
    </p:custDataLst>
    <p:extLst>
      <p:ext uri="{BB962C8B-B14F-4D97-AF65-F5344CB8AC3E}">
        <p14:creationId xmlns:p14="http://schemas.microsoft.com/office/powerpoint/2010/main" val="2676173708"/>
      </p:ext>
    </p:extLst>
  </p:cSld>
  <p:clrMapOvr>
    <a:masterClrMapping/>
  </p:clrMapOvr>
  <mc:AlternateContent xmlns:mc="http://schemas.openxmlformats.org/markup-compatibility/2006" xmlns:p14="http://schemas.microsoft.com/office/powerpoint/2010/main">
    <mc:Choice Requires="p14">
      <p:transition spd="slow" p14:dur="2000" advTm="53868"/>
    </mc:Choice>
    <mc:Fallback xmlns="">
      <p:transition spd="slow" advTm="5386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58333E-6 2.22222E-6 L 0.18529 2.22222E-6 " pathEditMode="relative" rAng="0" ptsTypes="AA">
                                      <p:cBhvr>
                                        <p:cTn id="6" dur="1000" fill="hold"/>
                                        <p:tgtEl>
                                          <p:spTgt spid="5"/>
                                        </p:tgtEl>
                                        <p:attrNameLst>
                                          <p:attrName>ppt_x</p:attrName>
                                          <p:attrName>ppt_y</p:attrName>
                                        </p:attrNameLst>
                                      </p:cBhvr>
                                      <p:rCtr x="9258" y="0"/>
                                    </p:animMotion>
                                  </p:childTnLst>
                                </p:cTn>
                              </p:par>
                              <p:par>
                                <p:cTn id="7" presetID="42" presetClass="path" presetSubtype="0" accel="50000" decel="50000" fill="hold" grpId="0" nodeType="withEffect">
                                  <p:stCondLst>
                                    <p:cond delay="0"/>
                                  </p:stCondLst>
                                  <p:childTnLst>
                                    <p:animMotion origin="layout" path="M -1.04167E-6 2.22222E-6 L 0.18542 2.22222E-6 " pathEditMode="relative" rAng="0" ptsTypes="AA">
                                      <p:cBhvr>
                                        <p:cTn id="8" dur="1000" fill="hold"/>
                                        <p:tgtEl>
                                          <p:spTgt spid="6"/>
                                        </p:tgtEl>
                                        <p:attrNameLst>
                                          <p:attrName>ppt_x</p:attrName>
                                          <p:attrName>ppt_y</p:attrName>
                                        </p:attrNameLst>
                                      </p:cBhvr>
                                      <p:rCtr x="9271" y="0"/>
                                    </p:animMotion>
                                  </p:childTnLst>
                                </p:cTn>
                              </p:par>
                              <p:par>
                                <p:cTn id="9" presetID="42" presetClass="path" presetSubtype="0" accel="50000" decel="50000" fill="hold" grpId="0" nodeType="withEffect">
                                  <p:stCondLst>
                                    <p:cond delay="0"/>
                                  </p:stCondLst>
                                  <p:childTnLst>
                                    <p:animMotion origin="layout" path="M 2.29167E-6 2.22222E-6 L 0.18346 0.00069 " pathEditMode="relative" rAng="0" ptsTypes="AA">
                                      <p:cBhvr>
                                        <p:cTn id="10" dur="1000" fill="hold"/>
                                        <p:tgtEl>
                                          <p:spTgt spid="7"/>
                                        </p:tgtEl>
                                        <p:attrNameLst>
                                          <p:attrName>ppt_x</p:attrName>
                                          <p:attrName>ppt_y</p:attrName>
                                        </p:attrNameLst>
                                      </p:cBhvr>
                                      <p:rCtr x="9167" y="23"/>
                                    </p:animMotion>
                                  </p:childTnLst>
                                </p:cTn>
                              </p:par>
                              <p:par>
                                <p:cTn id="11" presetID="3" presetClass="entr" presetSubtype="1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blinds(horizontal)">
                                      <p:cBhvr>
                                        <p:cTn id="13" dur="500"/>
                                        <p:tgtEl>
                                          <p:spTgt spid="21"/>
                                        </p:tgtEl>
                                      </p:cBhvr>
                                    </p:animEffect>
                                  </p:childTnLst>
                                </p:cTn>
                              </p:par>
                              <p:par>
                                <p:cTn id="14" presetID="5" presetClass="exit" presetSubtype="10" fill="hold" nodeType="withEffect">
                                  <p:stCondLst>
                                    <p:cond delay="0"/>
                                  </p:stCondLst>
                                  <p:childTnLst>
                                    <p:animEffect transition="out" filter="checkerboard(across)">
                                      <p:cBhvr>
                                        <p:cTn id="15" dur="500"/>
                                        <p:tgtEl>
                                          <p:spTgt spid="11"/>
                                        </p:tgtEl>
                                      </p:cBhvr>
                                    </p:animEffect>
                                    <p:set>
                                      <p:cBhvr>
                                        <p:cTn id="16" dur="1" fill="hold">
                                          <p:stCondLst>
                                            <p:cond delay="499"/>
                                          </p:stCondLst>
                                        </p:cTn>
                                        <p:tgtEl>
                                          <p:spTgt spid="11"/>
                                        </p:tgtEl>
                                        <p:attrNameLst>
                                          <p:attrName>style.visibility</p:attrName>
                                        </p:attrNameLst>
                                      </p:cBhvr>
                                      <p:to>
                                        <p:strVal val="hidden"/>
                                      </p:to>
                                    </p:set>
                                  </p:childTnLst>
                                </p:cTn>
                              </p:par>
                              <p:par>
                                <p:cTn id="17" presetID="5" presetClass="exit" presetSubtype="10" fill="hold" nodeType="withEffect">
                                  <p:stCondLst>
                                    <p:cond delay="0"/>
                                  </p:stCondLst>
                                  <p:childTnLst>
                                    <p:animEffect transition="out" filter="checkerboard(across)">
                                      <p:cBhvr>
                                        <p:cTn id="18" dur="500"/>
                                        <p:tgtEl>
                                          <p:spTgt spid="14"/>
                                        </p:tgtEl>
                                      </p:cBhvr>
                                    </p:animEffect>
                                    <p:set>
                                      <p:cBhvr>
                                        <p:cTn id="19" dur="1" fill="hold">
                                          <p:stCondLst>
                                            <p:cond delay="499"/>
                                          </p:stCondLst>
                                        </p:cTn>
                                        <p:tgtEl>
                                          <p:spTgt spid="14"/>
                                        </p:tgtEl>
                                        <p:attrNameLst>
                                          <p:attrName>style.visibility</p:attrName>
                                        </p:attrNameLst>
                                      </p:cBhvr>
                                      <p:to>
                                        <p:strVal val="hidden"/>
                                      </p:to>
                                    </p:set>
                                  </p:childTnLst>
                                </p:cTn>
                              </p:par>
                              <p:par>
                                <p:cTn id="20" presetID="5" presetClass="exit" presetSubtype="10" fill="hold" nodeType="withEffect">
                                  <p:stCondLst>
                                    <p:cond delay="0"/>
                                  </p:stCondLst>
                                  <p:childTnLst>
                                    <p:animEffect transition="out" filter="checkerboard(across)">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par>
                                <p:cTn id="23" presetID="3" presetClass="entr" presetSubtype="1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blinds(horizontal)">
                                      <p:cBhvr>
                                        <p:cTn id="25" dur="500"/>
                                        <p:tgtEl>
                                          <p:spTgt spid="26"/>
                                        </p:tgtEl>
                                      </p:cBhvr>
                                    </p:animEffect>
                                  </p:childTnLst>
                                </p:cTn>
                              </p:par>
                              <p:par>
                                <p:cTn id="26" presetID="3" presetClass="entr" presetSubtype="1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blinds(horizontal)">
                                      <p:cBhvr>
                                        <p:cTn id="28" dur="500"/>
                                        <p:tgtEl>
                                          <p:spTgt spid="27"/>
                                        </p:tgtEl>
                                      </p:cBhvr>
                                    </p:animEffect>
                                  </p:childTnLst>
                                </p:cTn>
                              </p:par>
                              <p:par>
                                <p:cTn id="29" presetID="22" presetClass="entr" presetSubtype="8"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wipe(left)">
                                      <p:cBhvr>
                                        <p:cTn id="31" dur="1000"/>
                                        <p:tgtEl>
                                          <p:spTgt spid="32"/>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3"/>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1" nodeType="clickEffect">
                                  <p:stCondLst>
                                    <p:cond delay="0"/>
                                  </p:stCondLst>
                                  <p:childTnLst>
                                    <p:set>
                                      <p:cBhvr>
                                        <p:cTn id="43" dur="1" fill="hold">
                                          <p:stCondLst>
                                            <p:cond delay="0"/>
                                          </p:stCondLst>
                                        </p:cTn>
                                        <p:tgtEl>
                                          <p:spTgt spid="33"/>
                                        </p:tgtEl>
                                        <p:attrNameLst>
                                          <p:attrName>style.visibility</p:attrName>
                                        </p:attrNameLst>
                                      </p:cBhvr>
                                      <p:to>
                                        <p:strVal val="hidden"/>
                                      </p:to>
                                    </p:set>
                                  </p:childTnLst>
                                </p:cTn>
                              </p:par>
                              <p:par>
                                <p:cTn id="44" presetID="1"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childTnLst>
                                </p:cTn>
                              </p:par>
                              <p:par>
                                <p:cTn id="46" presetID="1" presetClass="exit" presetSubtype="0" fill="hold" grpId="1" nodeType="withEffect">
                                  <p:stCondLst>
                                    <p:cond delay="0"/>
                                  </p:stCondLst>
                                  <p:childTnLst>
                                    <p:set>
                                      <p:cBhvr>
                                        <p:cTn id="47" dur="1" fill="hold">
                                          <p:stCondLst>
                                            <p:cond delay="0"/>
                                          </p:stCondLst>
                                        </p:cTn>
                                        <p:tgtEl>
                                          <p:spTgt spid="34"/>
                                        </p:tgtEl>
                                        <p:attrNameLst>
                                          <p:attrName>style.visibility</p:attrName>
                                        </p:attrNameLst>
                                      </p:cBhvr>
                                      <p:to>
                                        <p:strVal val="hidden"/>
                                      </p:to>
                                    </p:set>
                                  </p:childTnLst>
                                </p:cTn>
                              </p:par>
                              <p:par>
                                <p:cTn id="48" presetID="1" presetClass="entr" presetSubtype="0" fill="hold" grpId="0" nodeType="withEffect">
                                  <p:stCondLst>
                                    <p:cond delay="0"/>
                                  </p:stCondLst>
                                  <p:childTnLst>
                                    <p:set>
                                      <p:cBhvr>
                                        <p:cTn id="49" dur="1" fill="hold">
                                          <p:stCondLst>
                                            <p:cond delay="0"/>
                                          </p:stCondLst>
                                        </p:cTn>
                                        <p:tgtEl>
                                          <p:spTgt spid="37"/>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33" grpId="0" animBg="1"/>
      <p:bldP spid="33" grpId="1" animBg="1"/>
      <p:bldP spid="34" grpId="0" animBg="1"/>
      <p:bldP spid="34" grpId="1" animBg="1"/>
      <p:bldP spid="35" grpId="0" animBg="1"/>
      <p:bldP spid="36" grpId="0" animBg="1"/>
      <p:bldP spid="37" grpId="0" animBg="1"/>
      <p:bldP spid="3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F72BD4-D407-5444-B378-2FDE25C292A7}"/>
              </a:ext>
            </a:extLst>
          </p:cNvPr>
          <p:cNvSpPr>
            <a:spLocks noGrp="1"/>
          </p:cNvSpPr>
          <p:nvPr>
            <p:ph type="title"/>
          </p:nvPr>
        </p:nvSpPr>
        <p:spPr/>
        <p:txBody>
          <a:bodyPr/>
          <a:lstStyle/>
          <a:p>
            <a:r>
              <a:rPr kumimoji="1" lang="en-US" altLang="zh-CN" dirty="0"/>
              <a:t>Function Summaries</a:t>
            </a:r>
            <a:endParaRPr kumimoji="1" lang="zh-CN" altLang="en-US" dirty="0"/>
          </a:p>
        </p:txBody>
      </p:sp>
      <p:sp>
        <p:nvSpPr>
          <p:cNvPr id="4" name="灯片编号占位符 3">
            <a:extLst>
              <a:ext uri="{FF2B5EF4-FFF2-40B4-BE49-F238E27FC236}">
                <a16:creationId xmlns:a16="http://schemas.microsoft.com/office/drawing/2014/main" id="{CDBC8AFF-A103-7746-A2CD-1AAD62D6831D}"/>
              </a:ext>
            </a:extLst>
          </p:cNvPr>
          <p:cNvSpPr>
            <a:spLocks noGrp="1"/>
          </p:cNvSpPr>
          <p:nvPr>
            <p:ph type="sldNum" sz="quarter" idx="12"/>
          </p:nvPr>
        </p:nvSpPr>
        <p:spPr/>
        <p:txBody>
          <a:bodyPr/>
          <a:lstStyle/>
          <a:p>
            <a:fld id="{C53D9380-AD50-0C4E-BD20-74B8F0FD34CE}" type="slidenum">
              <a:rPr kumimoji="1" lang="zh-CN" altLang="en-US" smtClean="0"/>
              <a:t>13</a:t>
            </a:fld>
            <a:endParaRPr kumimoji="1" lang="zh-CN" altLang="en-US"/>
          </a:p>
        </p:txBody>
      </p:sp>
      <p:sp>
        <p:nvSpPr>
          <p:cNvPr id="5" name="文本框 4">
            <a:extLst>
              <a:ext uri="{FF2B5EF4-FFF2-40B4-BE49-F238E27FC236}">
                <a16:creationId xmlns:a16="http://schemas.microsoft.com/office/drawing/2014/main" id="{167AEA43-46FD-414B-AF1E-72BEDFCB50D8}"/>
              </a:ext>
            </a:extLst>
          </p:cNvPr>
          <p:cNvSpPr txBox="1"/>
          <p:nvPr/>
        </p:nvSpPr>
        <p:spPr>
          <a:xfrm>
            <a:off x="1524813" y="2570133"/>
            <a:ext cx="2485937" cy="2862322"/>
          </a:xfrm>
          <a:prstGeom prst="rect">
            <a:avLst/>
          </a:prstGeom>
          <a:noFill/>
        </p:spPr>
        <p:txBody>
          <a:bodyPr wrap="none" rtlCol="0">
            <a:spAutoFit/>
          </a:bodyPr>
          <a:lstStyle/>
          <a:p>
            <a:pPr marL="342900" indent="-342900">
              <a:buClr>
                <a:schemeClr val="tx1"/>
              </a:buClr>
              <a:buSzPct val="80000"/>
              <a:buFont typeface="+mj-lt"/>
              <a:buAutoNum type="arabicPeriod"/>
            </a:pPr>
            <a:r>
              <a:rPr kumimoji="1" lang="en-US" altLang="zh-CN" dirty="0">
                <a:solidFill>
                  <a:srgbClr val="0000FD"/>
                </a:solidFill>
                <a:latin typeface="Gill Sans MT" panose="020B0502020104020203" pitchFamily="34" charset="0"/>
              </a:rPr>
              <a:t>bool </a:t>
            </a:r>
            <a:r>
              <a:rPr kumimoji="1" lang="en-US" altLang="zh-CN" dirty="0">
                <a:latin typeface="Gill Sans MT" panose="020B0502020104020203" pitchFamily="34" charset="0"/>
              </a:rPr>
              <a:t>y = …;</a:t>
            </a:r>
            <a:endParaRPr kumimoji="1" lang="en-US" altLang="zh-CN" dirty="0">
              <a:solidFill>
                <a:srgbClr val="0000FD"/>
              </a:solidFill>
              <a:latin typeface="Gill Sans MT" panose="020B0502020104020203" pitchFamily="34" charset="0"/>
            </a:endParaRPr>
          </a:p>
          <a:p>
            <a:pPr marL="342900" indent="-342900">
              <a:buClr>
                <a:schemeClr val="tx1"/>
              </a:buClr>
              <a:buSzPct val="80000"/>
              <a:buFont typeface="+mj-lt"/>
              <a:buAutoNum type="arabicPeriod"/>
            </a:pPr>
            <a:r>
              <a:rPr kumimoji="1" lang="en-US" altLang="zh-CN" dirty="0" err="1">
                <a:solidFill>
                  <a:srgbClr val="0000FD"/>
                </a:solidFill>
                <a:latin typeface="Gill Sans MT" panose="020B0502020104020203" pitchFamily="34" charset="0"/>
              </a:rPr>
              <a:t>int</a:t>
            </a:r>
            <a:r>
              <a:rPr kumimoji="1" lang="en-US" altLang="zh-CN" dirty="0">
                <a:latin typeface="Gill Sans MT" panose="020B0502020104020203" pitchFamily="34" charset="0"/>
              </a:rPr>
              <a:t>* foo() {</a:t>
            </a:r>
          </a:p>
          <a:p>
            <a:pPr marL="342900" indent="-342900">
              <a:buClr>
                <a:schemeClr val="tx1"/>
              </a:buClr>
              <a:buSzPct val="80000"/>
              <a:buFont typeface="+mj-lt"/>
              <a:buAutoNum type="arabicPeriod"/>
            </a:pPr>
            <a:r>
              <a:rPr kumimoji="1" lang="en-US" altLang="zh-CN" dirty="0">
                <a:solidFill>
                  <a:srgbClr val="0000FD"/>
                </a:solidFill>
                <a:latin typeface="Gill Sans MT" panose="020B0502020104020203" pitchFamily="34" charset="0"/>
              </a:rPr>
              <a:t>    </a:t>
            </a:r>
            <a:r>
              <a:rPr kumimoji="1" lang="en-US" altLang="zh-CN" dirty="0" err="1">
                <a:solidFill>
                  <a:srgbClr val="0000FD"/>
                </a:solidFill>
                <a:latin typeface="Gill Sans MT" panose="020B0502020104020203" pitchFamily="34" charset="0"/>
              </a:rPr>
              <a:t>int</a:t>
            </a:r>
            <a:r>
              <a:rPr kumimoji="1" lang="en-US" altLang="zh-CN" dirty="0">
                <a:latin typeface="Gill Sans MT" panose="020B0502020104020203" pitchFamily="34" charset="0"/>
              </a:rPr>
              <a:t>* p = bar(null</a:t>
            </a:r>
            <a:r>
              <a:rPr kumimoji="1" lang="en-US" altLang="zh-CN" baseline="-25000" dirty="0">
                <a:latin typeface="Gill Sans MT" panose="020B0502020104020203" pitchFamily="34" charset="0"/>
              </a:rPr>
              <a:t>1</a:t>
            </a:r>
            <a:r>
              <a:rPr kumimoji="1" lang="en-US" altLang="zh-CN" dirty="0">
                <a:latin typeface="Gill Sans MT" panose="020B0502020104020203" pitchFamily="34" charset="0"/>
              </a:rPr>
              <a:t>);</a:t>
            </a:r>
          </a:p>
          <a:p>
            <a:pPr marL="342900" indent="-342900">
              <a:buClr>
                <a:schemeClr val="tx1"/>
              </a:buClr>
              <a:buSzPct val="80000"/>
              <a:buFont typeface="+mj-lt"/>
              <a:buAutoNum type="arabicPeriod"/>
            </a:pPr>
            <a:r>
              <a:rPr kumimoji="1" lang="en-US" altLang="zh-CN" dirty="0">
                <a:latin typeface="Gill Sans MT" panose="020B0502020104020203" pitchFamily="34" charset="0"/>
              </a:rPr>
              <a:t>    </a:t>
            </a:r>
            <a:r>
              <a:rPr kumimoji="1" lang="en-US" altLang="zh-CN" dirty="0">
                <a:solidFill>
                  <a:srgbClr val="0000FD"/>
                </a:solidFill>
                <a:latin typeface="Gill Sans MT" panose="020B0502020104020203" pitchFamily="34" charset="0"/>
              </a:rPr>
              <a:t>return</a:t>
            </a:r>
            <a:r>
              <a:rPr kumimoji="1" lang="en-US" altLang="zh-CN" dirty="0">
                <a:latin typeface="Gill Sans MT" panose="020B0502020104020203" pitchFamily="34" charset="0"/>
              </a:rPr>
              <a:t> p;</a:t>
            </a:r>
          </a:p>
          <a:p>
            <a:pPr marL="342900" indent="-342900">
              <a:buClr>
                <a:schemeClr val="tx1"/>
              </a:buClr>
              <a:buSzPct val="80000"/>
              <a:buFont typeface="+mj-lt"/>
              <a:buAutoNum type="arabicPeriod"/>
            </a:pPr>
            <a:r>
              <a:rPr kumimoji="1" lang="en-US" altLang="zh-CN" dirty="0">
                <a:latin typeface="Gill Sans MT" panose="020B0502020104020203" pitchFamily="34" charset="0"/>
              </a:rPr>
              <a:t>}</a:t>
            </a:r>
          </a:p>
          <a:p>
            <a:pPr marL="342900" indent="-342900">
              <a:buClr>
                <a:schemeClr val="tx1"/>
              </a:buClr>
              <a:buSzPct val="80000"/>
              <a:buFont typeface="+mj-lt"/>
              <a:buAutoNum type="arabicPeriod"/>
            </a:pPr>
            <a:r>
              <a:rPr kumimoji="1" lang="en-US" altLang="zh-CN" dirty="0" err="1">
                <a:solidFill>
                  <a:srgbClr val="0000FD"/>
                </a:solidFill>
                <a:latin typeface="Gill Sans MT" panose="020B0502020104020203" pitchFamily="34" charset="0"/>
              </a:rPr>
              <a:t>int</a:t>
            </a:r>
            <a:r>
              <a:rPr kumimoji="1" lang="en-US" altLang="zh-CN" dirty="0">
                <a:latin typeface="Gill Sans MT" panose="020B0502020104020203" pitchFamily="34" charset="0"/>
              </a:rPr>
              <a:t>* bar(</a:t>
            </a:r>
            <a:r>
              <a:rPr kumimoji="1" lang="en-US" altLang="zh-CN" dirty="0" err="1">
                <a:solidFill>
                  <a:srgbClr val="0000FD"/>
                </a:solidFill>
                <a:latin typeface="Gill Sans MT" panose="020B0502020104020203" pitchFamily="34" charset="0"/>
              </a:rPr>
              <a:t>int</a:t>
            </a:r>
            <a:r>
              <a:rPr kumimoji="1" lang="en-US" altLang="zh-CN" dirty="0">
                <a:latin typeface="Gill Sans MT" panose="020B0502020104020203" pitchFamily="34" charset="0"/>
              </a:rPr>
              <a:t>* a) {</a:t>
            </a:r>
          </a:p>
          <a:p>
            <a:pPr marL="342900" indent="-342900">
              <a:buClr>
                <a:schemeClr val="tx1"/>
              </a:buClr>
              <a:buSzPct val="80000"/>
              <a:buFont typeface="+mj-lt"/>
              <a:buAutoNum type="arabicPeriod"/>
            </a:pPr>
            <a:r>
              <a:rPr kumimoji="1" lang="en-US" altLang="zh-CN" dirty="0">
                <a:latin typeface="Gill Sans MT" panose="020B0502020104020203" pitchFamily="34" charset="0"/>
              </a:rPr>
              <a:t>    </a:t>
            </a:r>
            <a:r>
              <a:rPr kumimoji="1" lang="en-US" altLang="zh-CN" dirty="0" err="1">
                <a:solidFill>
                  <a:srgbClr val="0000FD"/>
                </a:solidFill>
                <a:latin typeface="Gill Sans MT" panose="020B0502020104020203" pitchFamily="34" charset="0"/>
              </a:rPr>
              <a:t>int</a:t>
            </a:r>
            <a:r>
              <a:rPr kumimoji="1" lang="en-US" altLang="zh-CN" dirty="0">
                <a:latin typeface="Gill Sans MT" panose="020B0502020104020203" pitchFamily="34" charset="0"/>
              </a:rPr>
              <a:t>* b = null</a:t>
            </a:r>
            <a:r>
              <a:rPr kumimoji="1" lang="en-US" altLang="zh-CN" baseline="-25000" dirty="0">
                <a:latin typeface="Gill Sans MT" panose="020B0502020104020203" pitchFamily="34" charset="0"/>
              </a:rPr>
              <a:t>2</a:t>
            </a:r>
            <a:r>
              <a:rPr kumimoji="1" lang="en-US" altLang="zh-CN" dirty="0">
                <a:latin typeface="Gill Sans MT" panose="020B0502020104020203" pitchFamily="34" charset="0"/>
              </a:rPr>
              <a:t>;</a:t>
            </a:r>
          </a:p>
          <a:p>
            <a:pPr marL="342900" indent="-342900">
              <a:buClr>
                <a:schemeClr val="tx1"/>
              </a:buClr>
              <a:buSzPct val="80000"/>
              <a:buFont typeface="+mj-lt"/>
              <a:buAutoNum type="arabicPeriod"/>
            </a:pPr>
            <a:r>
              <a:rPr kumimoji="1" lang="en-US" altLang="zh-CN" dirty="0">
                <a:solidFill>
                  <a:srgbClr val="0000FD"/>
                </a:solidFill>
                <a:latin typeface="Gill Sans MT" panose="020B0502020104020203" pitchFamily="34" charset="0"/>
              </a:rPr>
              <a:t>    </a:t>
            </a:r>
            <a:r>
              <a:rPr kumimoji="1" lang="en-US" altLang="zh-CN" dirty="0" err="1">
                <a:solidFill>
                  <a:srgbClr val="0000FD"/>
                </a:solidFill>
                <a:latin typeface="Gill Sans MT" panose="020B0502020104020203" pitchFamily="34" charset="0"/>
              </a:rPr>
              <a:t>int</a:t>
            </a:r>
            <a:r>
              <a:rPr kumimoji="1" lang="en-US" altLang="zh-CN" dirty="0">
                <a:latin typeface="Gill Sans MT" panose="020B0502020104020203" pitchFamily="34" charset="0"/>
              </a:rPr>
              <a:t>* c = y ? a : b;</a:t>
            </a:r>
          </a:p>
          <a:p>
            <a:pPr marL="342900" indent="-342900">
              <a:buClr>
                <a:schemeClr val="tx1"/>
              </a:buClr>
              <a:buSzPct val="80000"/>
              <a:buFont typeface="+mj-lt"/>
              <a:buAutoNum type="arabicPeriod"/>
            </a:pPr>
            <a:r>
              <a:rPr kumimoji="1" lang="en-US" altLang="zh-CN" dirty="0">
                <a:solidFill>
                  <a:srgbClr val="0000FD"/>
                </a:solidFill>
                <a:latin typeface="Gill Sans MT" panose="020B0502020104020203" pitchFamily="34" charset="0"/>
              </a:rPr>
              <a:t>    return</a:t>
            </a:r>
            <a:r>
              <a:rPr kumimoji="1" lang="en-US" altLang="zh-CN" dirty="0">
                <a:latin typeface="Gill Sans MT" panose="020B0502020104020203" pitchFamily="34" charset="0"/>
              </a:rPr>
              <a:t> c;</a:t>
            </a:r>
          </a:p>
          <a:p>
            <a:pPr marL="342900" indent="-342900">
              <a:buClr>
                <a:schemeClr val="tx1"/>
              </a:buClr>
              <a:buSzPct val="80000"/>
              <a:buFont typeface="+mj-lt"/>
              <a:buAutoNum type="arabicPeriod"/>
            </a:pPr>
            <a:r>
              <a:rPr kumimoji="1" lang="en-US" altLang="zh-CN" dirty="0">
                <a:latin typeface="Gill Sans MT" panose="020B0502020104020203" pitchFamily="34" charset="0"/>
              </a:rPr>
              <a:t>}</a:t>
            </a:r>
          </a:p>
        </p:txBody>
      </p:sp>
      <p:grpSp>
        <p:nvGrpSpPr>
          <p:cNvPr id="3" name="组合 2">
            <a:extLst>
              <a:ext uri="{FF2B5EF4-FFF2-40B4-BE49-F238E27FC236}">
                <a16:creationId xmlns:a16="http://schemas.microsoft.com/office/drawing/2014/main" id="{ADE931DF-9C07-164D-BE5C-E7497CAAD143}"/>
              </a:ext>
            </a:extLst>
          </p:cNvPr>
          <p:cNvGrpSpPr/>
          <p:nvPr/>
        </p:nvGrpSpPr>
        <p:grpSpPr>
          <a:xfrm>
            <a:off x="4818991" y="1300431"/>
            <a:ext cx="5482550" cy="2508728"/>
            <a:chOff x="5398868" y="1494061"/>
            <a:chExt cx="5482550" cy="2508728"/>
          </a:xfrm>
        </p:grpSpPr>
        <p:cxnSp>
          <p:nvCxnSpPr>
            <p:cNvPr id="6" name="直线箭头连接符 5">
              <a:extLst>
                <a:ext uri="{FF2B5EF4-FFF2-40B4-BE49-F238E27FC236}">
                  <a16:creationId xmlns:a16="http://schemas.microsoft.com/office/drawing/2014/main" id="{A65C78DC-31B4-2D47-B3A8-F1F183237A6E}"/>
                </a:ext>
              </a:extLst>
            </p:cNvPr>
            <p:cNvCxnSpPr>
              <a:cxnSpLocks/>
            </p:cNvCxnSpPr>
            <p:nvPr/>
          </p:nvCxnSpPr>
          <p:spPr>
            <a:xfrm>
              <a:off x="5398868" y="3624685"/>
              <a:ext cx="5482550" cy="0"/>
            </a:xfrm>
            <a:prstGeom prst="straightConnector1">
              <a:avLst/>
            </a:prstGeom>
            <a:ln w="25400" cap="flat">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5A8A3C53-7B6B-EA43-AB02-450A0ABCE977}"/>
                </a:ext>
              </a:extLst>
            </p:cNvPr>
            <p:cNvSpPr txBox="1"/>
            <p:nvPr/>
          </p:nvSpPr>
          <p:spPr>
            <a:xfrm>
              <a:off x="10329664" y="3664235"/>
              <a:ext cx="551754" cy="338554"/>
            </a:xfrm>
            <a:prstGeom prst="rect">
              <a:avLst/>
            </a:prstGeom>
            <a:noFill/>
          </p:spPr>
          <p:txBody>
            <a:bodyPr wrap="none" rtlCol="0">
              <a:spAutoFit/>
            </a:bodyPr>
            <a:lstStyle/>
            <a:p>
              <a:r>
                <a:rPr kumimoji="1" lang="en-US" altLang="zh-CN" sz="1600" dirty="0">
                  <a:latin typeface="Gill Sans MT" panose="020B0502020104020203" pitchFamily="34" charset="0"/>
                  <a:ea typeface="Times New Roman" charset="0"/>
                  <a:cs typeface="Times New Roman" charset="0"/>
                </a:rPr>
                <a:t>time</a:t>
              </a:r>
              <a:endParaRPr kumimoji="1" lang="zh-CN" altLang="en-US" sz="1600" dirty="0">
                <a:latin typeface="Gill Sans MT" panose="020B0502020104020203" pitchFamily="34" charset="0"/>
                <a:ea typeface="Times New Roman" charset="0"/>
                <a:cs typeface="Times New Roman" charset="0"/>
              </a:endParaRPr>
            </a:p>
          </p:txBody>
        </p:sp>
        <p:sp>
          <p:nvSpPr>
            <p:cNvPr id="8" name="矩形 7">
              <a:extLst>
                <a:ext uri="{FF2B5EF4-FFF2-40B4-BE49-F238E27FC236}">
                  <a16:creationId xmlns:a16="http://schemas.microsoft.com/office/drawing/2014/main" id="{20C50BD7-B5BE-C84F-97B5-8B4F9B55F011}"/>
                </a:ext>
              </a:extLst>
            </p:cNvPr>
            <p:cNvSpPr/>
            <p:nvPr/>
          </p:nvSpPr>
          <p:spPr>
            <a:xfrm>
              <a:off x="8106380" y="2712775"/>
              <a:ext cx="2698837" cy="703084"/>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latin typeface="Gill Sans MT" panose="020B0502020104020203" pitchFamily="34" charset="0"/>
                  <a:ea typeface="Times New Roman" charset="0"/>
                  <a:cs typeface="Times New Roman" charset="0"/>
                </a:rPr>
                <a:t>null</a:t>
              </a:r>
              <a:r>
                <a:rPr kumimoji="1" lang="en-US" altLang="zh-CN" baseline="-25000" dirty="0">
                  <a:latin typeface="Gill Sans MT" panose="020B0502020104020203" pitchFamily="34" charset="0"/>
                  <a:ea typeface="Times New Roman" charset="0"/>
                  <a:cs typeface="Times New Roman" charset="0"/>
                </a:rPr>
                <a:t>1</a:t>
              </a:r>
              <a:r>
                <a:rPr kumimoji="1" lang="en-US" altLang="zh-CN" dirty="0">
                  <a:latin typeface="Gill Sans MT" panose="020B0502020104020203" pitchFamily="34" charset="0"/>
                  <a:ea typeface="Times New Roman" charset="0"/>
                  <a:cs typeface="Times New Roman" charset="0"/>
                </a:rPr>
                <a:t>⤳</a:t>
              </a:r>
              <a:r>
                <a:rPr kumimoji="1" lang="en-US" altLang="zh-CN" dirty="0">
                  <a:solidFill>
                    <a:srgbClr val="FF0000"/>
                  </a:solidFill>
                  <a:latin typeface="Gill Sans MT" panose="020B0502020104020203" pitchFamily="34" charset="0"/>
                  <a:ea typeface="Times New Roman" charset="0"/>
                  <a:cs typeface="Times New Roman" charset="0"/>
                  <a:sym typeface="Wingdings" pitchFamily="2" charset="2"/>
                </a:rPr>
                <a:t>a</a:t>
              </a:r>
              <a:r>
                <a:rPr kumimoji="1" lang="en-US" altLang="zh-CN" dirty="0">
                  <a:solidFill>
                    <a:srgbClr val="FF0000"/>
                  </a:solidFill>
                  <a:latin typeface="Gill Sans MT" panose="020B0502020104020203" pitchFamily="34" charset="0"/>
                  <a:ea typeface="Times New Roman" charset="0"/>
                  <a:cs typeface="Times New Roman" charset="0"/>
                </a:rPr>
                <a:t>⤳</a:t>
              </a:r>
              <a:r>
                <a:rPr kumimoji="1" lang="en-US" altLang="zh-CN" dirty="0">
                  <a:solidFill>
                    <a:srgbClr val="FF0000"/>
                  </a:solidFill>
                  <a:latin typeface="Gill Sans MT" panose="020B0502020104020203" pitchFamily="34" charset="0"/>
                  <a:ea typeface="Times New Roman" charset="0"/>
                  <a:cs typeface="Times New Roman" charset="0"/>
                  <a:sym typeface="Wingdings" pitchFamily="2" charset="2"/>
                </a:rPr>
                <a:t>ret </a:t>
              </a:r>
              <a:r>
                <a:rPr kumimoji="1" lang="en-US" altLang="zh-CN" dirty="0" err="1">
                  <a:solidFill>
                    <a:srgbClr val="FF0000"/>
                  </a:solidFill>
                  <a:latin typeface="Gill Sans MT" panose="020B0502020104020203" pitchFamily="34" charset="0"/>
                  <a:ea typeface="Times New Roman" charset="0"/>
                  <a:cs typeface="Times New Roman" charset="0"/>
                  <a:sym typeface="Wingdings" pitchFamily="2" charset="2"/>
                </a:rPr>
                <a:t>c</a:t>
              </a:r>
              <a:r>
                <a:rPr kumimoji="1" lang="en-US" altLang="zh-CN" dirty="0" err="1">
                  <a:latin typeface="Gill Sans MT" panose="020B0502020104020203" pitchFamily="34" charset="0"/>
                  <a:ea typeface="Times New Roman" charset="0"/>
                  <a:cs typeface="Times New Roman" charset="0"/>
                </a:rPr>
                <a:t>⤳</a:t>
              </a:r>
              <a:r>
                <a:rPr kumimoji="1" lang="en-US" altLang="zh-CN" dirty="0" err="1">
                  <a:latin typeface="Gill Sans MT" panose="020B0502020104020203" pitchFamily="34" charset="0"/>
                  <a:ea typeface="Times New Roman" charset="0"/>
                  <a:cs typeface="Times New Roman" charset="0"/>
                  <a:sym typeface="Wingdings" pitchFamily="2" charset="2"/>
                </a:rPr>
                <a:t>p</a:t>
              </a:r>
              <a:r>
                <a:rPr kumimoji="1" lang="en-US" altLang="zh-CN" dirty="0" err="1">
                  <a:latin typeface="Gill Sans MT" panose="020B0502020104020203" pitchFamily="34" charset="0"/>
                  <a:ea typeface="Times New Roman" charset="0"/>
                  <a:cs typeface="Times New Roman" charset="0"/>
                </a:rPr>
                <a:t>⤳</a:t>
              </a:r>
              <a:r>
                <a:rPr kumimoji="1" lang="en-US" altLang="zh-CN" dirty="0" err="1">
                  <a:latin typeface="Gill Sans MT" panose="020B0502020104020203" pitchFamily="34" charset="0"/>
                  <a:ea typeface="Times New Roman" charset="0"/>
                  <a:cs typeface="Times New Roman" charset="0"/>
                  <a:sym typeface="Wingdings" pitchFamily="2" charset="2"/>
                </a:rPr>
                <a:t>ret</a:t>
              </a:r>
              <a:r>
                <a:rPr kumimoji="1" lang="en-US" altLang="zh-CN" dirty="0">
                  <a:latin typeface="Gill Sans MT" panose="020B0502020104020203" pitchFamily="34" charset="0"/>
                  <a:ea typeface="Times New Roman" charset="0"/>
                  <a:cs typeface="Times New Roman" charset="0"/>
                  <a:sym typeface="Wingdings" pitchFamily="2" charset="2"/>
                </a:rPr>
                <a:t> p</a:t>
              </a:r>
              <a:endParaRPr kumimoji="1" lang="zh-CN" altLang="en-US" dirty="0">
                <a:latin typeface="Gill Sans MT" panose="020B0502020104020203" pitchFamily="34" charset="0"/>
                <a:ea typeface="Times New Roman" charset="0"/>
                <a:cs typeface="Times New Roman" charset="0"/>
              </a:endParaRPr>
            </a:p>
            <a:p>
              <a:pPr algn="ctr"/>
              <a:r>
                <a:rPr kumimoji="1" lang="en-US" altLang="zh-CN" dirty="0">
                  <a:solidFill>
                    <a:srgbClr val="FF0000"/>
                  </a:solidFill>
                  <a:latin typeface="Gill Sans MT" panose="020B0502020104020203" pitchFamily="34" charset="0"/>
                  <a:ea typeface="Times New Roman" charset="0"/>
                  <a:cs typeface="Times New Roman" charset="0"/>
                </a:rPr>
                <a:t>null</a:t>
              </a:r>
              <a:r>
                <a:rPr kumimoji="1" lang="en-US" altLang="zh-CN" baseline="-25000" dirty="0">
                  <a:solidFill>
                    <a:srgbClr val="FF0000"/>
                  </a:solidFill>
                  <a:latin typeface="Gill Sans MT" panose="020B0502020104020203" pitchFamily="34" charset="0"/>
                  <a:ea typeface="Times New Roman" charset="0"/>
                  <a:cs typeface="Times New Roman" charset="0"/>
                </a:rPr>
                <a:t>2</a:t>
              </a:r>
              <a:r>
                <a:rPr kumimoji="1" lang="en-US" altLang="zh-CN" dirty="0">
                  <a:solidFill>
                    <a:srgbClr val="FF0000"/>
                  </a:solidFill>
                  <a:latin typeface="Gill Sans MT" panose="020B0502020104020203" pitchFamily="34" charset="0"/>
                  <a:ea typeface="Times New Roman" charset="0"/>
                  <a:cs typeface="Times New Roman" charset="0"/>
                </a:rPr>
                <a:t>⤳</a:t>
              </a:r>
              <a:r>
                <a:rPr kumimoji="1" lang="en-US" altLang="zh-CN" dirty="0">
                  <a:solidFill>
                    <a:srgbClr val="FF0000"/>
                  </a:solidFill>
                  <a:latin typeface="Gill Sans MT" panose="020B0502020104020203" pitchFamily="34" charset="0"/>
                  <a:ea typeface="Times New Roman" charset="0"/>
                  <a:cs typeface="Times New Roman" charset="0"/>
                  <a:sym typeface="Wingdings" pitchFamily="2" charset="2"/>
                </a:rPr>
                <a:t>ret </a:t>
              </a:r>
              <a:r>
                <a:rPr kumimoji="1" lang="en-US" altLang="zh-CN" dirty="0" err="1">
                  <a:solidFill>
                    <a:srgbClr val="FF0000"/>
                  </a:solidFill>
                  <a:latin typeface="Gill Sans MT" panose="020B0502020104020203" pitchFamily="34" charset="0"/>
                  <a:ea typeface="Times New Roman" charset="0"/>
                  <a:cs typeface="Times New Roman" charset="0"/>
                  <a:sym typeface="Wingdings" pitchFamily="2" charset="2"/>
                </a:rPr>
                <a:t>c</a:t>
              </a:r>
              <a:r>
                <a:rPr kumimoji="1" lang="en-US" altLang="zh-CN" dirty="0" err="1">
                  <a:latin typeface="Gill Sans MT" panose="020B0502020104020203" pitchFamily="34" charset="0"/>
                  <a:ea typeface="Times New Roman" charset="0"/>
                  <a:cs typeface="Times New Roman" charset="0"/>
                </a:rPr>
                <a:t>⤳</a:t>
              </a:r>
              <a:r>
                <a:rPr kumimoji="1" lang="en-US" altLang="zh-CN" dirty="0" err="1">
                  <a:latin typeface="Gill Sans MT" panose="020B0502020104020203" pitchFamily="34" charset="0"/>
                  <a:ea typeface="Times New Roman" charset="0"/>
                  <a:cs typeface="Times New Roman" charset="0"/>
                  <a:sym typeface="Wingdings" pitchFamily="2" charset="2"/>
                </a:rPr>
                <a:t>p</a:t>
              </a:r>
              <a:r>
                <a:rPr kumimoji="1" lang="en-US" altLang="zh-CN" dirty="0" err="1">
                  <a:latin typeface="Gill Sans MT" panose="020B0502020104020203" pitchFamily="34" charset="0"/>
                  <a:ea typeface="Times New Roman" charset="0"/>
                  <a:cs typeface="Times New Roman" charset="0"/>
                </a:rPr>
                <a:t>⤳</a:t>
              </a:r>
              <a:r>
                <a:rPr kumimoji="1" lang="en-US" altLang="zh-CN" dirty="0" err="1">
                  <a:latin typeface="Gill Sans MT" panose="020B0502020104020203" pitchFamily="34" charset="0"/>
                  <a:ea typeface="Times New Roman" charset="0"/>
                  <a:cs typeface="Times New Roman" charset="0"/>
                  <a:sym typeface="Wingdings" pitchFamily="2" charset="2"/>
                </a:rPr>
                <a:t>ret</a:t>
              </a:r>
              <a:r>
                <a:rPr kumimoji="1" lang="en-US" altLang="zh-CN" dirty="0">
                  <a:latin typeface="Gill Sans MT" panose="020B0502020104020203" pitchFamily="34" charset="0"/>
                  <a:ea typeface="Times New Roman" charset="0"/>
                  <a:cs typeface="Times New Roman" charset="0"/>
                  <a:sym typeface="Wingdings" pitchFamily="2" charset="2"/>
                </a:rPr>
                <a:t> p</a:t>
              </a:r>
            </a:p>
          </p:txBody>
        </p:sp>
        <p:sp>
          <p:nvSpPr>
            <p:cNvPr id="9" name="矩形 8">
              <a:extLst>
                <a:ext uri="{FF2B5EF4-FFF2-40B4-BE49-F238E27FC236}">
                  <a16:creationId xmlns:a16="http://schemas.microsoft.com/office/drawing/2014/main" id="{928284E5-3E40-7E4C-B863-F2B34D9321A6}"/>
                </a:ext>
              </a:extLst>
            </p:cNvPr>
            <p:cNvSpPr/>
            <p:nvPr/>
          </p:nvSpPr>
          <p:spPr>
            <a:xfrm>
              <a:off x="5398868" y="1871412"/>
              <a:ext cx="2698837" cy="703084"/>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err="1">
                  <a:solidFill>
                    <a:srgbClr val="FF0000"/>
                  </a:solidFill>
                  <a:latin typeface="Gill Sans MT" panose="020B0502020104020203" pitchFamily="34" charset="0"/>
                  <a:ea typeface="Times New Roman" charset="0"/>
                  <a:cs typeface="Times New Roman" charset="0"/>
                  <a:sym typeface="Wingdings" pitchFamily="2" charset="2"/>
                </a:rPr>
                <a:t>a</a:t>
              </a:r>
              <a:r>
                <a:rPr kumimoji="1" lang="en-US" altLang="zh-CN" dirty="0" err="1">
                  <a:solidFill>
                    <a:srgbClr val="FF0000"/>
                  </a:solidFill>
                  <a:latin typeface="Gill Sans MT" panose="020B0502020104020203" pitchFamily="34" charset="0"/>
                  <a:ea typeface="Times New Roman" charset="0"/>
                  <a:cs typeface="Times New Roman" charset="0"/>
                </a:rPr>
                <a:t>⤳</a:t>
              </a:r>
              <a:r>
                <a:rPr kumimoji="1" lang="en-US" altLang="zh-CN" dirty="0" err="1">
                  <a:solidFill>
                    <a:srgbClr val="FF0000"/>
                  </a:solidFill>
                  <a:latin typeface="Gill Sans MT" panose="020B0502020104020203" pitchFamily="34" charset="0"/>
                  <a:ea typeface="Times New Roman" charset="0"/>
                  <a:cs typeface="Times New Roman" charset="0"/>
                  <a:sym typeface="Wingdings" pitchFamily="2" charset="2"/>
                </a:rPr>
                <a:t>ret</a:t>
              </a:r>
              <a:r>
                <a:rPr kumimoji="1" lang="en-US" altLang="zh-CN" dirty="0">
                  <a:solidFill>
                    <a:srgbClr val="FF0000"/>
                  </a:solidFill>
                  <a:latin typeface="Gill Sans MT" panose="020B0502020104020203" pitchFamily="34" charset="0"/>
                  <a:ea typeface="Times New Roman" charset="0"/>
                  <a:cs typeface="Times New Roman" charset="0"/>
                  <a:sym typeface="Wingdings" pitchFamily="2" charset="2"/>
                </a:rPr>
                <a:t> c</a:t>
              </a:r>
              <a:endParaRPr kumimoji="1" lang="en-US" altLang="zh-CN" dirty="0">
                <a:solidFill>
                  <a:srgbClr val="FF0000"/>
                </a:solidFill>
                <a:latin typeface="Gill Sans MT" panose="020B0502020104020203" pitchFamily="34" charset="0"/>
                <a:ea typeface="Times New Roman" charset="0"/>
                <a:cs typeface="Times New Roman" charset="0"/>
              </a:endParaRPr>
            </a:p>
            <a:p>
              <a:pPr algn="ctr"/>
              <a:r>
                <a:rPr kumimoji="1" lang="en-US" altLang="zh-CN" dirty="0">
                  <a:solidFill>
                    <a:srgbClr val="FF0000"/>
                  </a:solidFill>
                  <a:latin typeface="Gill Sans MT" panose="020B0502020104020203" pitchFamily="34" charset="0"/>
                  <a:ea typeface="Times New Roman" charset="0"/>
                  <a:cs typeface="Times New Roman" charset="0"/>
                </a:rPr>
                <a:t>null</a:t>
              </a:r>
              <a:r>
                <a:rPr kumimoji="1" lang="en-US" altLang="zh-CN" baseline="-25000" dirty="0">
                  <a:solidFill>
                    <a:srgbClr val="FF0000"/>
                  </a:solidFill>
                  <a:latin typeface="Gill Sans MT" panose="020B0502020104020203" pitchFamily="34" charset="0"/>
                  <a:ea typeface="Times New Roman" charset="0"/>
                  <a:cs typeface="Times New Roman" charset="0"/>
                </a:rPr>
                <a:t>2</a:t>
              </a:r>
              <a:r>
                <a:rPr kumimoji="1" lang="en-US" altLang="zh-CN" dirty="0">
                  <a:solidFill>
                    <a:srgbClr val="FF0000"/>
                  </a:solidFill>
                  <a:latin typeface="Gill Sans MT" panose="020B0502020104020203" pitchFamily="34" charset="0"/>
                  <a:ea typeface="Times New Roman" charset="0"/>
                  <a:cs typeface="Times New Roman" charset="0"/>
                </a:rPr>
                <a:t>⤳</a:t>
              </a:r>
              <a:r>
                <a:rPr kumimoji="1" lang="en-US" altLang="zh-CN" dirty="0">
                  <a:solidFill>
                    <a:srgbClr val="FF0000"/>
                  </a:solidFill>
                  <a:latin typeface="Gill Sans MT" panose="020B0502020104020203" pitchFamily="34" charset="0"/>
                  <a:ea typeface="Times New Roman" charset="0"/>
                  <a:cs typeface="Times New Roman" charset="0"/>
                  <a:sym typeface="Wingdings" pitchFamily="2" charset="2"/>
                </a:rPr>
                <a:t>ret c</a:t>
              </a:r>
            </a:p>
          </p:txBody>
        </p:sp>
        <p:sp>
          <p:nvSpPr>
            <p:cNvPr id="10" name="文本框 9">
              <a:extLst>
                <a:ext uri="{FF2B5EF4-FFF2-40B4-BE49-F238E27FC236}">
                  <a16:creationId xmlns:a16="http://schemas.microsoft.com/office/drawing/2014/main" id="{702653DE-35AF-D34C-91F4-ABCB8E761101}"/>
                </a:ext>
              </a:extLst>
            </p:cNvPr>
            <p:cNvSpPr txBox="1"/>
            <p:nvPr/>
          </p:nvSpPr>
          <p:spPr>
            <a:xfrm>
              <a:off x="6503668" y="1494061"/>
              <a:ext cx="489236" cy="369332"/>
            </a:xfrm>
            <a:prstGeom prst="rect">
              <a:avLst/>
            </a:prstGeom>
            <a:noFill/>
          </p:spPr>
          <p:txBody>
            <a:bodyPr wrap="none" rtlCol="0">
              <a:spAutoFit/>
            </a:bodyPr>
            <a:lstStyle/>
            <a:p>
              <a:r>
                <a:rPr kumimoji="1" lang="en-US" altLang="zh-CN" dirty="0">
                  <a:latin typeface="Gill Sans MT" panose="020B0502020104020203" pitchFamily="34" charset="0"/>
                </a:rPr>
                <a:t>bar</a:t>
              </a:r>
              <a:endParaRPr kumimoji="1" lang="zh-CN" altLang="en-US" dirty="0">
                <a:latin typeface="Gill Sans MT" panose="020B0502020104020203" pitchFamily="34" charset="0"/>
              </a:endParaRPr>
            </a:p>
          </p:txBody>
        </p:sp>
        <p:sp>
          <p:nvSpPr>
            <p:cNvPr id="11" name="文本框 10">
              <a:extLst>
                <a:ext uri="{FF2B5EF4-FFF2-40B4-BE49-F238E27FC236}">
                  <a16:creationId xmlns:a16="http://schemas.microsoft.com/office/drawing/2014/main" id="{8B9E720C-56CE-4748-8AFB-CAEC8B2955BD}"/>
                </a:ext>
              </a:extLst>
            </p:cNvPr>
            <p:cNvSpPr txBox="1"/>
            <p:nvPr/>
          </p:nvSpPr>
          <p:spPr>
            <a:xfrm>
              <a:off x="9209095" y="2343443"/>
              <a:ext cx="493405" cy="369332"/>
            </a:xfrm>
            <a:prstGeom prst="rect">
              <a:avLst/>
            </a:prstGeom>
            <a:noFill/>
          </p:spPr>
          <p:txBody>
            <a:bodyPr wrap="none" rtlCol="0">
              <a:spAutoFit/>
            </a:bodyPr>
            <a:lstStyle/>
            <a:p>
              <a:r>
                <a:rPr kumimoji="1" lang="en-US" altLang="zh-CN" dirty="0">
                  <a:latin typeface="Gill Sans MT" panose="020B0502020104020203" pitchFamily="34" charset="0"/>
                </a:rPr>
                <a:t>foo</a:t>
              </a:r>
              <a:endParaRPr kumimoji="1" lang="zh-CN" altLang="en-US" dirty="0">
                <a:latin typeface="Gill Sans MT" panose="020B0502020104020203" pitchFamily="34" charset="0"/>
              </a:endParaRPr>
            </a:p>
          </p:txBody>
        </p:sp>
      </p:grpSp>
      <p:grpSp>
        <p:nvGrpSpPr>
          <p:cNvPr id="12" name="组合 11">
            <a:extLst>
              <a:ext uri="{FF2B5EF4-FFF2-40B4-BE49-F238E27FC236}">
                <a16:creationId xmlns:a16="http://schemas.microsoft.com/office/drawing/2014/main" id="{DC5CB345-4A6C-4646-980C-B4A6352B63E8}"/>
              </a:ext>
            </a:extLst>
          </p:cNvPr>
          <p:cNvGrpSpPr/>
          <p:nvPr/>
        </p:nvGrpSpPr>
        <p:grpSpPr>
          <a:xfrm>
            <a:off x="5587375" y="4272418"/>
            <a:ext cx="4168514" cy="2123955"/>
            <a:chOff x="2924352" y="3501794"/>
            <a:chExt cx="4168514" cy="2123955"/>
          </a:xfrm>
        </p:grpSpPr>
        <p:cxnSp>
          <p:nvCxnSpPr>
            <p:cNvPr id="13" name="直线箭头连接符 12">
              <a:extLst>
                <a:ext uri="{FF2B5EF4-FFF2-40B4-BE49-F238E27FC236}">
                  <a16:creationId xmlns:a16="http://schemas.microsoft.com/office/drawing/2014/main" id="{D92C72AE-2CCA-2341-88BF-D239D1F1B3A8}"/>
                </a:ext>
              </a:extLst>
            </p:cNvPr>
            <p:cNvCxnSpPr>
              <a:cxnSpLocks/>
            </p:cNvCxnSpPr>
            <p:nvPr/>
          </p:nvCxnSpPr>
          <p:spPr>
            <a:xfrm>
              <a:off x="2924352" y="5255068"/>
              <a:ext cx="4121908" cy="0"/>
            </a:xfrm>
            <a:prstGeom prst="straightConnector1">
              <a:avLst/>
            </a:prstGeom>
            <a:ln w="25400" cap="flat">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4F7CE736-7924-4A49-96DA-8F9FA59F2BBA}"/>
                </a:ext>
              </a:extLst>
            </p:cNvPr>
            <p:cNvSpPr txBox="1"/>
            <p:nvPr/>
          </p:nvSpPr>
          <p:spPr>
            <a:xfrm>
              <a:off x="6541112" y="5287195"/>
              <a:ext cx="551754" cy="338554"/>
            </a:xfrm>
            <a:prstGeom prst="rect">
              <a:avLst/>
            </a:prstGeom>
            <a:noFill/>
          </p:spPr>
          <p:txBody>
            <a:bodyPr wrap="none" rtlCol="0">
              <a:spAutoFit/>
            </a:bodyPr>
            <a:lstStyle/>
            <a:p>
              <a:r>
                <a:rPr kumimoji="1" lang="en-US" altLang="zh-CN" sz="1600" dirty="0">
                  <a:latin typeface="Gill Sans MT" panose="020B0502020104020203" pitchFamily="34" charset="0"/>
                  <a:ea typeface="Times New Roman" charset="0"/>
                  <a:cs typeface="Times New Roman" charset="0"/>
                </a:rPr>
                <a:t>time</a:t>
              </a:r>
              <a:endParaRPr kumimoji="1" lang="zh-CN" altLang="en-US" sz="1600" dirty="0">
                <a:latin typeface="Gill Sans MT" panose="020B0502020104020203" pitchFamily="34" charset="0"/>
                <a:ea typeface="Times New Roman" charset="0"/>
                <a:cs typeface="Times New Roman" charset="0"/>
              </a:endParaRPr>
            </a:p>
          </p:txBody>
        </p:sp>
        <p:sp>
          <p:nvSpPr>
            <p:cNvPr id="15" name="矩形 14">
              <a:extLst>
                <a:ext uri="{FF2B5EF4-FFF2-40B4-BE49-F238E27FC236}">
                  <a16:creationId xmlns:a16="http://schemas.microsoft.com/office/drawing/2014/main" id="{93F79DE0-E946-CD49-AFC5-FC56EC3880A3}"/>
                </a:ext>
              </a:extLst>
            </p:cNvPr>
            <p:cNvSpPr/>
            <p:nvPr/>
          </p:nvSpPr>
          <p:spPr>
            <a:xfrm>
              <a:off x="2924353" y="3501795"/>
              <a:ext cx="1349420" cy="703084"/>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err="1">
                  <a:solidFill>
                    <a:srgbClr val="00B050"/>
                  </a:solidFill>
                  <a:latin typeface="Gill Sans MT" panose="020B0502020104020203" pitchFamily="34" charset="0"/>
                  <a:ea typeface="Times New Roman" charset="0"/>
                  <a:cs typeface="Times New Roman" charset="0"/>
                  <a:sym typeface="Wingdings" pitchFamily="2" charset="2"/>
                </a:rPr>
                <a:t>a</a:t>
              </a:r>
              <a:r>
                <a:rPr kumimoji="1" lang="en-US" altLang="zh-CN" dirty="0" err="1">
                  <a:solidFill>
                    <a:srgbClr val="00B050"/>
                  </a:solidFill>
                  <a:latin typeface="Gill Sans MT" panose="020B0502020104020203" pitchFamily="34" charset="0"/>
                  <a:ea typeface="Times New Roman" charset="0"/>
                  <a:cs typeface="Times New Roman" charset="0"/>
                </a:rPr>
                <a:t>⤳</a:t>
              </a:r>
              <a:r>
                <a:rPr kumimoji="1" lang="en-US" altLang="zh-CN" dirty="0" err="1">
                  <a:solidFill>
                    <a:srgbClr val="00B050"/>
                  </a:solidFill>
                  <a:latin typeface="Gill Sans MT" panose="020B0502020104020203" pitchFamily="34" charset="0"/>
                  <a:ea typeface="Times New Roman" charset="0"/>
                  <a:cs typeface="Times New Roman" charset="0"/>
                  <a:sym typeface="Wingdings" pitchFamily="2" charset="2"/>
                </a:rPr>
                <a:t>ret</a:t>
              </a:r>
              <a:r>
                <a:rPr kumimoji="1" lang="en-US" altLang="zh-CN" dirty="0">
                  <a:solidFill>
                    <a:srgbClr val="00B050"/>
                  </a:solidFill>
                  <a:latin typeface="Gill Sans MT" panose="020B0502020104020203" pitchFamily="34" charset="0"/>
                  <a:ea typeface="Times New Roman" charset="0"/>
                  <a:cs typeface="Times New Roman" charset="0"/>
                  <a:sym typeface="Wingdings" pitchFamily="2" charset="2"/>
                </a:rPr>
                <a:t> c</a:t>
              </a:r>
              <a:endParaRPr kumimoji="1" lang="zh-CN" altLang="en-US" dirty="0">
                <a:solidFill>
                  <a:srgbClr val="00B050"/>
                </a:solidFill>
                <a:latin typeface="Gill Sans MT" panose="020B0502020104020203" pitchFamily="34" charset="0"/>
                <a:ea typeface="Times New Roman" charset="0"/>
                <a:cs typeface="Times New Roman" charset="0"/>
              </a:endParaRPr>
            </a:p>
          </p:txBody>
        </p:sp>
        <p:sp>
          <p:nvSpPr>
            <p:cNvPr id="16" name="矩形 15">
              <a:extLst>
                <a:ext uri="{FF2B5EF4-FFF2-40B4-BE49-F238E27FC236}">
                  <a16:creationId xmlns:a16="http://schemas.microsoft.com/office/drawing/2014/main" id="{66C2CACB-AF02-AA4F-9110-0F3589D60B67}"/>
                </a:ext>
              </a:extLst>
            </p:cNvPr>
            <p:cNvSpPr/>
            <p:nvPr/>
          </p:nvSpPr>
          <p:spPr>
            <a:xfrm>
              <a:off x="4273479" y="3501794"/>
              <a:ext cx="1419108" cy="703084"/>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solidFill>
                    <a:srgbClr val="FF0000"/>
                  </a:solidFill>
                  <a:latin typeface="Gill Sans MT" panose="020B0502020104020203" pitchFamily="34" charset="0"/>
                  <a:ea typeface="Times New Roman" charset="0"/>
                  <a:cs typeface="Times New Roman" charset="0"/>
                </a:rPr>
                <a:t>null</a:t>
              </a:r>
              <a:r>
                <a:rPr kumimoji="1" lang="en-US" altLang="zh-CN" baseline="-25000" dirty="0">
                  <a:solidFill>
                    <a:srgbClr val="FF0000"/>
                  </a:solidFill>
                  <a:latin typeface="Gill Sans MT" panose="020B0502020104020203" pitchFamily="34" charset="0"/>
                  <a:ea typeface="Times New Roman" charset="0"/>
                  <a:cs typeface="Times New Roman" charset="0"/>
                </a:rPr>
                <a:t>2</a:t>
              </a:r>
              <a:r>
                <a:rPr kumimoji="1" lang="en-US" altLang="zh-CN" dirty="0">
                  <a:solidFill>
                    <a:srgbClr val="FF0000"/>
                  </a:solidFill>
                  <a:latin typeface="Gill Sans MT" panose="020B0502020104020203" pitchFamily="34" charset="0"/>
                  <a:ea typeface="Times New Roman" charset="0"/>
                  <a:cs typeface="Times New Roman" charset="0"/>
                </a:rPr>
                <a:t>⤳</a:t>
              </a:r>
              <a:r>
                <a:rPr kumimoji="1" lang="en-US" altLang="zh-CN" dirty="0">
                  <a:solidFill>
                    <a:srgbClr val="FF0000"/>
                  </a:solidFill>
                  <a:latin typeface="Gill Sans MT" panose="020B0502020104020203" pitchFamily="34" charset="0"/>
                  <a:ea typeface="Times New Roman" charset="0"/>
                  <a:cs typeface="Times New Roman" charset="0"/>
                  <a:sym typeface="Wingdings" pitchFamily="2" charset="2"/>
                </a:rPr>
                <a:t>ret c</a:t>
              </a:r>
              <a:endParaRPr kumimoji="1" lang="zh-CN" altLang="en-US" dirty="0">
                <a:solidFill>
                  <a:srgbClr val="00B050"/>
                </a:solidFill>
                <a:latin typeface="Gill Sans MT" panose="020B0502020104020203" pitchFamily="34" charset="0"/>
                <a:ea typeface="Times New Roman" charset="0"/>
                <a:cs typeface="Times New Roman" charset="0"/>
              </a:endParaRPr>
            </a:p>
          </p:txBody>
        </p:sp>
        <p:sp>
          <p:nvSpPr>
            <p:cNvPr id="17" name="矩形 16">
              <a:extLst>
                <a:ext uri="{FF2B5EF4-FFF2-40B4-BE49-F238E27FC236}">
                  <a16:creationId xmlns:a16="http://schemas.microsoft.com/office/drawing/2014/main" id="{DB09D392-83C6-BB42-B4B4-5A12A3C26C70}"/>
                </a:ext>
              </a:extLst>
            </p:cNvPr>
            <p:cNvSpPr/>
            <p:nvPr/>
          </p:nvSpPr>
          <p:spPr>
            <a:xfrm>
              <a:off x="4273772" y="4350000"/>
              <a:ext cx="1418815" cy="703084"/>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latin typeface="Gill Sans MT" panose="020B0502020104020203" pitchFamily="34" charset="0"/>
                  <a:ea typeface="Times New Roman" charset="0"/>
                  <a:cs typeface="Times New Roman" charset="0"/>
                </a:rPr>
                <a:t>null</a:t>
              </a:r>
              <a:r>
                <a:rPr kumimoji="1" lang="en-US" altLang="zh-CN" baseline="-25000" dirty="0">
                  <a:latin typeface="Gill Sans MT" panose="020B0502020104020203" pitchFamily="34" charset="0"/>
                  <a:ea typeface="Times New Roman" charset="0"/>
                  <a:cs typeface="Times New Roman" charset="0"/>
                </a:rPr>
                <a:t>1</a:t>
              </a:r>
              <a:r>
                <a:rPr kumimoji="1" lang="en-US" altLang="zh-CN" dirty="0">
                  <a:latin typeface="Gill Sans MT" panose="020B0502020104020203" pitchFamily="34" charset="0"/>
                  <a:ea typeface="Times New Roman" charset="0"/>
                  <a:cs typeface="Times New Roman" charset="0"/>
                </a:rPr>
                <a:t>⤳</a:t>
              </a:r>
              <a:r>
                <a:rPr kumimoji="1" lang="en-US" altLang="zh-CN" dirty="0">
                  <a:solidFill>
                    <a:srgbClr val="00B050"/>
                  </a:solidFill>
                  <a:latin typeface="Gill Sans MT" panose="020B0502020104020203" pitchFamily="34" charset="0"/>
                  <a:ea typeface="Times New Roman" charset="0"/>
                  <a:cs typeface="Times New Roman" charset="0"/>
                  <a:sym typeface="Wingdings" pitchFamily="2" charset="2"/>
                </a:rPr>
                <a:t>a</a:t>
              </a:r>
              <a:r>
                <a:rPr kumimoji="1" lang="en-US" altLang="zh-CN" dirty="0">
                  <a:solidFill>
                    <a:srgbClr val="00B050"/>
                  </a:solidFill>
                  <a:latin typeface="Gill Sans MT" panose="020B0502020104020203" pitchFamily="34" charset="0"/>
                  <a:ea typeface="Times New Roman" charset="0"/>
                  <a:cs typeface="Times New Roman" charset="0"/>
                </a:rPr>
                <a:t>⤳</a:t>
              </a:r>
              <a:r>
                <a:rPr kumimoji="1" lang="en-US" altLang="zh-CN" dirty="0">
                  <a:solidFill>
                    <a:srgbClr val="00B050"/>
                  </a:solidFill>
                  <a:latin typeface="Gill Sans MT" panose="020B0502020104020203" pitchFamily="34" charset="0"/>
                  <a:ea typeface="Times New Roman" charset="0"/>
                  <a:cs typeface="Times New Roman" charset="0"/>
                  <a:sym typeface="Wingdings" pitchFamily="2" charset="2"/>
                </a:rPr>
                <a:t>ret </a:t>
              </a:r>
              <a:r>
                <a:rPr kumimoji="1" lang="en-US" altLang="zh-CN" dirty="0" err="1">
                  <a:solidFill>
                    <a:srgbClr val="00B050"/>
                  </a:solidFill>
                  <a:latin typeface="Gill Sans MT" panose="020B0502020104020203" pitchFamily="34" charset="0"/>
                  <a:ea typeface="Times New Roman" charset="0"/>
                  <a:cs typeface="Times New Roman" charset="0"/>
                  <a:sym typeface="Wingdings" pitchFamily="2" charset="2"/>
                </a:rPr>
                <a:t>c</a:t>
              </a:r>
              <a:r>
                <a:rPr kumimoji="1" lang="en-US" altLang="zh-CN" dirty="0" err="1">
                  <a:latin typeface="Gill Sans MT" panose="020B0502020104020203" pitchFamily="34" charset="0"/>
                  <a:ea typeface="Times New Roman" charset="0"/>
                  <a:cs typeface="Times New Roman" charset="0"/>
                </a:rPr>
                <a:t>⤳</a:t>
              </a:r>
              <a:r>
                <a:rPr kumimoji="1" lang="en-US" altLang="zh-CN" dirty="0" err="1">
                  <a:latin typeface="Gill Sans MT" panose="020B0502020104020203" pitchFamily="34" charset="0"/>
                  <a:ea typeface="Times New Roman" charset="0"/>
                  <a:cs typeface="Times New Roman" charset="0"/>
                  <a:sym typeface="Wingdings" pitchFamily="2" charset="2"/>
                </a:rPr>
                <a:t>p</a:t>
              </a:r>
              <a:r>
                <a:rPr kumimoji="1" lang="en-US" altLang="zh-CN" dirty="0" err="1">
                  <a:latin typeface="Gill Sans MT" panose="020B0502020104020203" pitchFamily="34" charset="0"/>
                  <a:ea typeface="Times New Roman" charset="0"/>
                  <a:cs typeface="Times New Roman" charset="0"/>
                </a:rPr>
                <a:t>⤳</a:t>
              </a:r>
              <a:r>
                <a:rPr kumimoji="1" lang="en-US" altLang="zh-CN" dirty="0" err="1">
                  <a:latin typeface="Gill Sans MT" panose="020B0502020104020203" pitchFamily="34" charset="0"/>
                  <a:ea typeface="Times New Roman" charset="0"/>
                  <a:cs typeface="Times New Roman" charset="0"/>
                  <a:sym typeface="Wingdings" pitchFamily="2" charset="2"/>
                </a:rPr>
                <a:t>ret</a:t>
              </a:r>
              <a:r>
                <a:rPr kumimoji="1" lang="en-US" altLang="zh-CN" dirty="0">
                  <a:latin typeface="Gill Sans MT" panose="020B0502020104020203" pitchFamily="34" charset="0"/>
                  <a:ea typeface="Times New Roman" charset="0"/>
                  <a:cs typeface="Times New Roman" charset="0"/>
                  <a:sym typeface="Wingdings" pitchFamily="2" charset="2"/>
                </a:rPr>
                <a:t> p</a:t>
              </a:r>
              <a:endParaRPr kumimoji="1" lang="zh-CN" altLang="en-US" dirty="0">
                <a:latin typeface="Gill Sans MT" panose="020B0502020104020203" pitchFamily="34" charset="0"/>
                <a:ea typeface="Times New Roman" charset="0"/>
                <a:cs typeface="Times New Roman" charset="0"/>
              </a:endParaRPr>
            </a:p>
          </p:txBody>
        </p:sp>
        <p:sp>
          <p:nvSpPr>
            <p:cNvPr id="18" name="矩形 17">
              <a:extLst>
                <a:ext uri="{FF2B5EF4-FFF2-40B4-BE49-F238E27FC236}">
                  <a16:creationId xmlns:a16="http://schemas.microsoft.com/office/drawing/2014/main" id="{F74FA1A6-9990-E847-BF0B-613DCCF6CB88}"/>
                </a:ext>
              </a:extLst>
            </p:cNvPr>
            <p:cNvSpPr/>
            <p:nvPr/>
          </p:nvSpPr>
          <p:spPr>
            <a:xfrm>
              <a:off x="5692587" y="4350000"/>
              <a:ext cx="1349420" cy="703084"/>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solidFill>
                    <a:srgbClr val="FF0000"/>
                  </a:solidFill>
                  <a:latin typeface="Gill Sans MT" panose="020B0502020104020203" pitchFamily="34" charset="0"/>
                  <a:ea typeface="Times New Roman" charset="0"/>
                  <a:cs typeface="Times New Roman" charset="0"/>
                </a:rPr>
                <a:t>null</a:t>
              </a:r>
              <a:r>
                <a:rPr kumimoji="1" lang="en-US" altLang="zh-CN" baseline="-25000" dirty="0">
                  <a:solidFill>
                    <a:srgbClr val="FF0000"/>
                  </a:solidFill>
                  <a:latin typeface="Gill Sans MT" panose="020B0502020104020203" pitchFamily="34" charset="0"/>
                  <a:ea typeface="Times New Roman" charset="0"/>
                  <a:cs typeface="Times New Roman" charset="0"/>
                </a:rPr>
                <a:t>2</a:t>
              </a:r>
              <a:r>
                <a:rPr kumimoji="1" lang="en-US" altLang="zh-CN" dirty="0">
                  <a:solidFill>
                    <a:srgbClr val="FF0000"/>
                  </a:solidFill>
                  <a:latin typeface="Gill Sans MT" panose="020B0502020104020203" pitchFamily="34" charset="0"/>
                  <a:ea typeface="Times New Roman" charset="0"/>
                  <a:cs typeface="Times New Roman" charset="0"/>
                </a:rPr>
                <a:t>⤳</a:t>
              </a:r>
              <a:r>
                <a:rPr kumimoji="1" lang="en-US" altLang="zh-CN" dirty="0">
                  <a:solidFill>
                    <a:srgbClr val="FF0000"/>
                  </a:solidFill>
                  <a:latin typeface="Gill Sans MT" panose="020B0502020104020203" pitchFamily="34" charset="0"/>
                  <a:ea typeface="Times New Roman" charset="0"/>
                  <a:cs typeface="Times New Roman" charset="0"/>
                  <a:sym typeface="Wingdings" pitchFamily="2" charset="2"/>
                </a:rPr>
                <a:t>ret c </a:t>
              </a:r>
              <a:r>
                <a:rPr kumimoji="1" lang="en-US" altLang="zh-CN" dirty="0">
                  <a:latin typeface="Gill Sans MT" panose="020B0502020104020203" pitchFamily="34" charset="0"/>
                  <a:ea typeface="Times New Roman" charset="0"/>
                  <a:cs typeface="Times New Roman" charset="0"/>
                </a:rPr>
                <a:t>⤳</a:t>
              </a:r>
              <a:r>
                <a:rPr kumimoji="1" lang="en-US" altLang="zh-CN" dirty="0" err="1">
                  <a:latin typeface="Gill Sans MT" panose="020B0502020104020203" pitchFamily="34" charset="0"/>
                  <a:ea typeface="Times New Roman" charset="0"/>
                  <a:cs typeface="Times New Roman" charset="0"/>
                  <a:sym typeface="Wingdings" pitchFamily="2" charset="2"/>
                </a:rPr>
                <a:t>p</a:t>
              </a:r>
              <a:r>
                <a:rPr kumimoji="1" lang="en-US" altLang="zh-CN" dirty="0" err="1">
                  <a:latin typeface="Gill Sans MT" panose="020B0502020104020203" pitchFamily="34" charset="0"/>
                  <a:ea typeface="Times New Roman" charset="0"/>
                  <a:cs typeface="Times New Roman" charset="0"/>
                </a:rPr>
                <a:t>⤳</a:t>
              </a:r>
              <a:r>
                <a:rPr kumimoji="1" lang="en-US" altLang="zh-CN" dirty="0" err="1">
                  <a:latin typeface="Gill Sans MT" panose="020B0502020104020203" pitchFamily="34" charset="0"/>
                  <a:ea typeface="Times New Roman" charset="0"/>
                  <a:cs typeface="Times New Roman" charset="0"/>
                  <a:sym typeface="Wingdings" pitchFamily="2" charset="2"/>
                </a:rPr>
                <a:t>ret</a:t>
              </a:r>
              <a:r>
                <a:rPr kumimoji="1" lang="en-US" altLang="zh-CN" dirty="0">
                  <a:latin typeface="Gill Sans MT" panose="020B0502020104020203" pitchFamily="34" charset="0"/>
                  <a:ea typeface="Times New Roman" charset="0"/>
                  <a:cs typeface="Times New Roman" charset="0"/>
                  <a:sym typeface="Wingdings" pitchFamily="2" charset="2"/>
                </a:rPr>
                <a:t> p</a:t>
              </a:r>
            </a:p>
          </p:txBody>
        </p:sp>
      </p:grpSp>
      <p:sp>
        <p:nvSpPr>
          <p:cNvPr id="19" name="文本框 18">
            <a:extLst>
              <a:ext uri="{FF2B5EF4-FFF2-40B4-BE49-F238E27FC236}">
                <a16:creationId xmlns:a16="http://schemas.microsoft.com/office/drawing/2014/main" id="{24C86314-5B65-F94A-9E6B-06DFF17C8F62}"/>
              </a:ext>
            </a:extLst>
          </p:cNvPr>
          <p:cNvSpPr txBox="1"/>
          <p:nvPr/>
        </p:nvSpPr>
        <p:spPr>
          <a:xfrm>
            <a:off x="11181678" y="4660927"/>
            <a:ext cx="748923" cy="769441"/>
          </a:xfrm>
          <a:prstGeom prst="rect">
            <a:avLst/>
          </a:prstGeom>
          <a:noFill/>
        </p:spPr>
        <p:txBody>
          <a:bodyPr wrap="none" rtlCol="0">
            <a:spAutoFit/>
          </a:bodyPr>
          <a:lstStyle/>
          <a:p>
            <a:r>
              <a:rPr kumimoji="1" lang="en-US" altLang="zh-CN" sz="4400" b="1" dirty="0">
                <a:solidFill>
                  <a:schemeClr val="accent6"/>
                </a:solidFill>
              </a:rPr>
              <a:t>√</a:t>
            </a:r>
            <a:endParaRPr kumimoji="1" lang="zh-CN" altLang="en-US" sz="4400" b="1" dirty="0">
              <a:solidFill>
                <a:schemeClr val="accent6"/>
              </a:solidFill>
            </a:endParaRPr>
          </a:p>
        </p:txBody>
      </p:sp>
      <p:sp>
        <p:nvSpPr>
          <p:cNvPr id="20" name="文本框 19">
            <a:extLst>
              <a:ext uri="{FF2B5EF4-FFF2-40B4-BE49-F238E27FC236}">
                <a16:creationId xmlns:a16="http://schemas.microsoft.com/office/drawing/2014/main" id="{5C5A69D3-A814-9E4B-8938-E1FF7BAE61C5}"/>
              </a:ext>
            </a:extLst>
          </p:cNvPr>
          <p:cNvSpPr txBox="1"/>
          <p:nvPr/>
        </p:nvSpPr>
        <p:spPr>
          <a:xfrm>
            <a:off x="11181678" y="1984761"/>
            <a:ext cx="534121" cy="769441"/>
          </a:xfrm>
          <a:prstGeom prst="rect">
            <a:avLst/>
          </a:prstGeom>
          <a:noFill/>
        </p:spPr>
        <p:txBody>
          <a:bodyPr wrap="none" rtlCol="0">
            <a:spAutoFit/>
          </a:bodyPr>
          <a:lstStyle/>
          <a:p>
            <a:r>
              <a:rPr kumimoji="1" lang="en-US" altLang="zh-CN" sz="4400" b="1" dirty="0">
                <a:solidFill>
                  <a:srgbClr val="FF0000"/>
                </a:solidFill>
              </a:rPr>
              <a:t>X</a:t>
            </a:r>
            <a:endParaRPr kumimoji="1" lang="zh-CN" altLang="en-US" sz="4400" b="1" dirty="0">
              <a:solidFill>
                <a:srgbClr val="FF0000"/>
              </a:solidFill>
            </a:endParaRPr>
          </a:p>
        </p:txBody>
      </p:sp>
    </p:spTree>
    <p:extLst>
      <p:ext uri="{BB962C8B-B14F-4D97-AF65-F5344CB8AC3E}">
        <p14:creationId xmlns:p14="http://schemas.microsoft.com/office/powerpoint/2010/main" val="3828783888"/>
      </p:ext>
    </p:extLst>
  </p:cSld>
  <p:clrMapOvr>
    <a:masterClrMapping/>
  </p:clrMapOvr>
  <mc:AlternateContent xmlns:mc="http://schemas.openxmlformats.org/markup-compatibility/2006" xmlns:p14="http://schemas.microsoft.com/office/powerpoint/2010/main">
    <mc:Choice Requires="p14">
      <p:transition spd="slow" p14:dur="2000" advTm="34689"/>
    </mc:Choice>
    <mc:Fallback xmlns="">
      <p:transition spd="slow" advTm="34689"/>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4FC05A-A3E7-E74A-B0BF-01EB227CB3F5}"/>
              </a:ext>
            </a:extLst>
          </p:cNvPr>
          <p:cNvSpPr>
            <a:spLocks noGrp="1"/>
          </p:cNvSpPr>
          <p:nvPr>
            <p:ph type="title"/>
          </p:nvPr>
        </p:nvSpPr>
        <p:spPr/>
        <p:txBody>
          <a:bodyPr/>
          <a:lstStyle/>
          <a:p>
            <a:r>
              <a:rPr kumimoji="1" lang="en-US" altLang="zh-CN" dirty="0"/>
              <a:t>A Pipeline Parallel Strategy</a:t>
            </a:r>
            <a:endParaRPr kumimoji="1" lang="zh-CN" altLang="en-US" dirty="0"/>
          </a:p>
        </p:txBody>
      </p:sp>
      <p:sp>
        <p:nvSpPr>
          <p:cNvPr id="3" name="内容占位符 2">
            <a:extLst>
              <a:ext uri="{FF2B5EF4-FFF2-40B4-BE49-F238E27FC236}">
                <a16:creationId xmlns:a16="http://schemas.microsoft.com/office/drawing/2014/main" id="{ED238538-2DA0-8F49-A5DD-C9D04974F5B0}"/>
              </a:ext>
            </a:extLst>
          </p:cNvPr>
          <p:cNvSpPr>
            <a:spLocks noGrp="1"/>
          </p:cNvSpPr>
          <p:nvPr>
            <p:ph idx="1"/>
          </p:nvPr>
        </p:nvSpPr>
        <p:spPr>
          <a:xfrm>
            <a:off x="838200" y="1825624"/>
            <a:ext cx="10515600" cy="1307319"/>
          </a:xfrm>
        </p:spPr>
        <p:txBody>
          <a:bodyPr>
            <a:noAutofit/>
          </a:bodyPr>
          <a:lstStyle/>
          <a:p>
            <a:pPr marL="0" indent="0" algn="ctr">
              <a:buNone/>
            </a:pPr>
            <a:r>
              <a:rPr kumimoji="1" lang="en-US" altLang="zh-CN" sz="2400" dirty="0">
                <a:latin typeface="Helvetica" pitchFamily="2" charset="0"/>
              </a:rPr>
              <a:t>We formalize the idea in IFDS/IDE framework for a wide range of problems </a:t>
            </a:r>
          </a:p>
          <a:p>
            <a:pPr marL="0" indent="0" algn="ctr">
              <a:buNone/>
            </a:pPr>
            <a:r>
              <a:rPr kumimoji="1" lang="en-US" altLang="zh-CN" sz="2400" b="1" dirty="0">
                <a:latin typeface="Helvetica" pitchFamily="2" charset="0"/>
              </a:rPr>
              <a:t>they can be reduced to a graph reachability problem </a:t>
            </a:r>
          </a:p>
          <a:p>
            <a:pPr marL="0" indent="0" algn="ctr">
              <a:buNone/>
            </a:pPr>
            <a:r>
              <a:rPr kumimoji="1" lang="en-US" altLang="zh-CN" sz="2400" b="1" dirty="0">
                <a:latin typeface="Helvetica" pitchFamily="2" charset="0"/>
              </a:rPr>
              <a:t>like our value flow analysis</a:t>
            </a:r>
          </a:p>
        </p:txBody>
      </p:sp>
      <p:sp>
        <p:nvSpPr>
          <p:cNvPr id="4" name="灯片编号占位符 3">
            <a:extLst>
              <a:ext uri="{FF2B5EF4-FFF2-40B4-BE49-F238E27FC236}">
                <a16:creationId xmlns:a16="http://schemas.microsoft.com/office/drawing/2014/main" id="{FF43B431-57BE-E34A-A137-796E92D7CE27}"/>
              </a:ext>
            </a:extLst>
          </p:cNvPr>
          <p:cNvSpPr>
            <a:spLocks noGrp="1"/>
          </p:cNvSpPr>
          <p:nvPr>
            <p:ph type="sldNum" sz="quarter" idx="12"/>
          </p:nvPr>
        </p:nvSpPr>
        <p:spPr/>
        <p:txBody>
          <a:bodyPr/>
          <a:lstStyle/>
          <a:p>
            <a:fld id="{C53D9380-AD50-0C4E-BD20-74B8F0FD34CE}" type="slidenum">
              <a:rPr kumimoji="1" lang="zh-CN" altLang="en-US" smtClean="0"/>
              <a:t>14</a:t>
            </a:fld>
            <a:endParaRPr kumimoji="1" lang="zh-CN" altLang="en-US"/>
          </a:p>
        </p:txBody>
      </p:sp>
      <p:graphicFrame>
        <p:nvGraphicFramePr>
          <p:cNvPr id="13" name="图示 12">
            <a:extLst>
              <a:ext uri="{FF2B5EF4-FFF2-40B4-BE49-F238E27FC236}">
                <a16:creationId xmlns:a16="http://schemas.microsoft.com/office/drawing/2014/main" id="{608CD477-0C9E-684F-B029-BA8C56D8CB12}"/>
              </a:ext>
            </a:extLst>
          </p:cNvPr>
          <p:cNvGraphicFramePr/>
          <p:nvPr>
            <p:extLst/>
          </p:nvPr>
        </p:nvGraphicFramePr>
        <p:xfrm>
          <a:off x="1227102" y="3233571"/>
          <a:ext cx="9737795" cy="33610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74971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95662E-C246-3349-AFAA-5A7B2E3AFFA2}"/>
              </a:ext>
            </a:extLst>
          </p:cNvPr>
          <p:cNvSpPr>
            <a:spLocks noGrp="1"/>
          </p:cNvSpPr>
          <p:nvPr>
            <p:ph type="title"/>
          </p:nvPr>
        </p:nvSpPr>
        <p:spPr/>
        <p:txBody>
          <a:bodyPr/>
          <a:lstStyle/>
          <a:p>
            <a:r>
              <a:rPr kumimoji="1" lang="en-US" altLang="zh-CN" dirty="0"/>
              <a:t>Evaluation</a:t>
            </a:r>
            <a:endParaRPr kumimoji="1" lang="zh-CN" altLang="en-US" dirty="0"/>
          </a:p>
        </p:txBody>
      </p:sp>
      <p:sp>
        <p:nvSpPr>
          <p:cNvPr id="3" name="内容占位符 2">
            <a:extLst>
              <a:ext uri="{FF2B5EF4-FFF2-40B4-BE49-F238E27FC236}">
                <a16:creationId xmlns:a16="http://schemas.microsoft.com/office/drawing/2014/main" id="{8AD4433F-13AF-E34E-B20F-9E7E87A6C354}"/>
              </a:ext>
            </a:extLst>
          </p:cNvPr>
          <p:cNvSpPr>
            <a:spLocks noGrp="1"/>
          </p:cNvSpPr>
          <p:nvPr>
            <p:ph idx="1"/>
          </p:nvPr>
        </p:nvSpPr>
        <p:spPr/>
        <p:txBody>
          <a:bodyPr>
            <a:normAutofit/>
          </a:bodyPr>
          <a:lstStyle/>
          <a:p>
            <a:r>
              <a:rPr kumimoji="1" lang="en-US" altLang="zh-CN" sz="2400" dirty="0">
                <a:latin typeface="Helvetica" pitchFamily="2" charset="0"/>
              </a:rPr>
              <a:t>Standard benchmarks and real-world projects</a:t>
            </a:r>
          </a:p>
          <a:p>
            <a:endParaRPr kumimoji="1" lang="en-US" altLang="zh-CN" sz="2000" dirty="0">
              <a:latin typeface="Helvetica" pitchFamily="2" charset="0"/>
            </a:endParaRPr>
          </a:p>
          <a:p>
            <a:endParaRPr kumimoji="1" lang="en-US" altLang="zh-CN" sz="2000" dirty="0">
              <a:latin typeface="Helvetica" pitchFamily="2" charset="0"/>
            </a:endParaRPr>
          </a:p>
          <a:p>
            <a:endParaRPr kumimoji="1" lang="en-US" altLang="zh-CN" sz="2000" dirty="0">
              <a:latin typeface="Helvetica" pitchFamily="2" charset="0"/>
            </a:endParaRPr>
          </a:p>
          <a:p>
            <a:pPr marL="0" indent="0">
              <a:buNone/>
            </a:pPr>
            <a:endParaRPr kumimoji="1" lang="en-US" altLang="zh-CN" sz="2000" dirty="0">
              <a:latin typeface="Helvetica" pitchFamily="2" charset="0"/>
            </a:endParaRPr>
          </a:p>
          <a:p>
            <a:pPr marL="0" indent="0">
              <a:buNone/>
            </a:pPr>
            <a:endParaRPr kumimoji="1" lang="en-US" altLang="zh-CN" sz="2000" dirty="0">
              <a:latin typeface="Helvetica" pitchFamily="2" charset="0"/>
            </a:endParaRPr>
          </a:p>
          <a:p>
            <a:r>
              <a:rPr kumimoji="1" lang="en-US" altLang="zh-CN" sz="2400" dirty="0">
                <a:latin typeface="Helvetica" pitchFamily="2" charset="0"/>
              </a:rPr>
              <a:t>Comparing with the conventional parallel design</a:t>
            </a:r>
          </a:p>
          <a:p>
            <a:endParaRPr kumimoji="1" lang="en-US" altLang="zh-CN" sz="2000" dirty="0">
              <a:latin typeface="Helvetica" pitchFamily="2" charset="0"/>
            </a:endParaRPr>
          </a:p>
          <a:p>
            <a:pPr lvl="1"/>
            <a:r>
              <a:rPr kumimoji="1" lang="en-US" altLang="zh-CN" sz="1800" dirty="0">
                <a:latin typeface="Helvetica" pitchFamily="2" charset="0"/>
              </a:rPr>
              <a:t>CPU utilization rate</a:t>
            </a:r>
          </a:p>
          <a:p>
            <a:pPr lvl="1"/>
            <a:r>
              <a:rPr kumimoji="1" lang="en-US" altLang="zh-CN" sz="1800" dirty="0">
                <a:latin typeface="Helvetica" pitchFamily="2" charset="0"/>
              </a:rPr>
              <a:t>Speedup</a:t>
            </a:r>
          </a:p>
          <a:p>
            <a:pPr lvl="1"/>
            <a:endParaRPr kumimoji="1" lang="en-US" altLang="zh-CN" sz="1600" dirty="0">
              <a:latin typeface="Helvetica" pitchFamily="2" charset="0"/>
            </a:endParaRPr>
          </a:p>
        </p:txBody>
      </p:sp>
      <p:sp>
        <p:nvSpPr>
          <p:cNvPr id="4" name="灯片编号占位符 3">
            <a:extLst>
              <a:ext uri="{FF2B5EF4-FFF2-40B4-BE49-F238E27FC236}">
                <a16:creationId xmlns:a16="http://schemas.microsoft.com/office/drawing/2014/main" id="{A7EA8D93-17E1-0C48-AE71-AADEF4B20100}"/>
              </a:ext>
            </a:extLst>
          </p:cNvPr>
          <p:cNvSpPr>
            <a:spLocks noGrp="1"/>
          </p:cNvSpPr>
          <p:nvPr>
            <p:ph type="sldNum" sz="quarter" idx="12"/>
          </p:nvPr>
        </p:nvSpPr>
        <p:spPr/>
        <p:txBody>
          <a:bodyPr/>
          <a:lstStyle/>
          <a:p>
            <a:fld id="{C53D9380-AD50-0C4E-BD20-74B8F0FD34CE}" type="slidenum">
              <a:rPr kumimoji="1" lang="zh-CN" altLang="en-US" smtClean="0"/>
              <a:t>15</a:t>
            </a:fld>
            <a:endParaRPr kumimoji="1" lang="zh-CN" altLang="en-US"/>
          </a:p>
        </p:txBody>
      </p:sp>
      <p:pic>
        <p:nvPicPr>
          <p:cNvPr id="5" name="Picture 2" descr="PEC logo">
            <a:extLst>
              <a:ext uri="{FF2B5EF4-FFF2-40B4-BE49-F238E27FC236}">
                <a16:creationId xmlns:a16="http://schemas.microsoft.com/office/drawing/2014/main" id="{D33AF68D-B86E-424C-8CD9-F2C575DEF2E6}"/>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428474" y="2708424"/>
            <a:ext cx="647207" cy="9442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mage result for github">
            <a:extLst>
              <a:ext uri="{FF2B5EF4-FFF2-40B4-BE49-F238E27FC236}">
                <a16:creationId xmlns:a16="http://schemas.microsoft.com/office/drawing/2014/main" id="{3E59916E-D68C-394B-807E-C269A2125ABD}"/>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5918502" y="2743674"/>
            <a:ext cx="2255912" cy="750091"/>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0D4B55C0-AFE9-5A4D-AC1B-22F7468EF99D}"/>
              </a:ext>
            </a:extLst>
          </p:cNvPr>
          <p:cNvSpPr txBox="1"/>
          <p:nvPr/>
        </p:nvSpPr>
        <p:spPr>
          <a:xfrm>
            <a:off x="3508359" y="2921000"/>
            <a:ext cx="712054" cy="400110"/>
          </a:xfrm>
          <a:prstGeom prst="rect">
            <a:avLst/>
          </a:prstGeom>
          <a:noFill/>
        </p:spPr>
        <p:txBody>
          <a:bodyPr wrap="none" rtlCol="0">
            <a:spAutoFit/>
          </a:bodyPr>
          <a:lstStyle/>
          <a:p>
            <a:r>
              <a:rPr kumimoji="1" lang="en-US" altLang="zh-CN" sz="2000" dirty="0">
                <a:latin typeface="Helvetica" pitchFamily="2" charset="0"/>
              </a:rPr>
              <a:t>X 12</a:t>
            </a:r>
            <a:endParaRPr kumimoji="1" lang="zh-CN" altLang="en-US" sz="2000" dirty="0">
              <a:latin typeface="Helvetica" pitchFamily="2" charset="0"/>
            </a:endParaRPr>
          </a:p>
        </p:txBody>
      </p:sp>
      <p:sp>
        <p:nvSpPr>
          <p:cNvPr id="8" name="文本框 7">
            <a:extLst>
              <a:ext uri="{FF2B5EF4-FFF2-40B4-BE49-F238E27FC236}">
                <a16:creationId xmlns:a16="http://schemas.microsoft.com/office/drawing/2014/main" id="{19E0F7FB-8355-E643-A4FB-4A3EF47DB72F}"/>
              </a:ext>
            </a:extLst>
          </p:cNvPr>
          <p:cNvSpPr txBox="1"/>
          <p:nvPr/>
        </p:nvSpPr>
        <p:spPr>
          <a:xfrm>
            <a:off x="8811155" y="2921000"/>
            <a:ext cx="2249334" cy="400110"/>
          </a:xfrm>
          <a:prstGeom prst="rect">
            <a:avLst/>
          </a:prstGeom>
          <a:noFill/>
        </p:spPr>
        <p:txBody>
          <a:bodyPr wrap="none" rtlCol="0">
            <a:spAutoFit/>
          </a:bodyPr>
          <a:lstStyle/>
          <a:p>
            <a:r>
              <a:rPr kumimoji="1" lang="en-US" altLang="zh-CN" sz="2000" dirty="0">
                <a:latin typeface="Helvetica" pitchFamily="2" charset="0"/>
              </a:rPr>
              <a:t>X 10 up to 2MLoC</a:t>
            </a:r>
            <a:endParaRPr kumimoji="1" lang="zh-CN" altLang="en-US" sz="2000" dirty="0">
              <a:latin typeface="Helvetica" pitchFamily="2" charset="0"/>
            </a:endParaRPr>
          </a:p>
        </p:txBody>
      </p:sp>
      <p:pic>
        <p:nvPicPr>
          <p:cNvPr id="9" name="图片 8">
            <a:extLst>
              <a:ext uri="{FF2B5EF4-FFF2-40B4-BE49-F238E27FC236}">
                <a16:creationId xmlns:a16="http://schemas.microsoft.com/office/drawing/2014/main" id="{98565D45-9986-4246-BBA4-E1B3AD3D3AB4}"/>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l="24513" r="23691"/>
          <a:stretch/>
        </p:blipFill>
        <p:spPr>
          <a:xfrm>
            <a:off x="8811155" y="5021467"/>
            <a:ext cx="2483480" cy="1260000"/>
          </a:xfrm>
          <a:prstGeom prst="rect">
            <a:avLst/>
          </a:prstGeom>
        </p:spPr>
      </p:pic>
      <p:pic>
        <p:nvPicPr>
          <p:cNvPr id="10" name="图片 9">
            <a:extLst>
              <a:ext uri="{FF2B5EF4-FFF2-40B4-BE49-F238E27FC236}">
                <a16:creationId xmlns:a16="http://schemas.microsoft.com/office/drawing/2014/main" id="{6C8B1E01-26A1-3640-B446-92E8FCB13E03}"/>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l="33068"/>
          <a:stretch/>
        </p:blipFill>
        <p:spPr>
          <a:xfrm>
            <a:off x="5105175" y="5021467"/>
            <a:ext cx="2891446" cy="1260000"/>
          </a:xfrm>
          <a:prstGeom prst="rect">
            <a:avLst/>
          </a:prstGeom>
        </p:spPr>
      </p:pic>
      <p:sp>
        <p:nvSpPr>
          <p:cNvPr id="11" name="文本框 10">
            <a:extLst>
              <a:ext uri="{FF2B5EF4-FFF2-40B4-BE49-F238E27FC236}">
                <a16:creationId xmlns:a16="http://schemas.microsoft.com/office/drawing/2014/main" id="{2AC06258-20D0-CF4E-B703-EB59919971E3}"/>
              </a:ext>
            </a:extLst>
          </p:cNvPr>
          <p:cNvSpPr txBox="1"/>
          <p:nvPr/>
        </p:nvSpPr>
        <p:spPr>
          <a:xfrm>
            <a:off x="8090853" y="5189802"/>
            <a:ext cx="626069" cy="461665"/>
          </a:xfrm>
          <a:prstGeom prst="rect">
            <a:avLst/>
          </a:prstGeom>
          <a:noFill/>
        </p:spPr>
        <p:txBody>
          <a:bodyPr wrap="none" rtlCol="0">
            <a:spAutoFit/>
          </a:bodyPr>
          <a:lstStyle/>
          <a:p>
            <a:r>
              <a:rPr kumimoji="1" lang="en-US" altLang="zh-CN" sz="2400" b="1" i="1" dirty="0" err="1">
                <a:latin typeface="Iowan Old Style Titling" panose="02040602040506020204" pitchFamily="18" charset="0"/>
              </a:rPr>
              <a:t>v.s</a:t>
            </a:r>
            <a:r>
              <a:rPr kumimoji="1" lang="en-US" altLang="zh-CN" sz="2400" b="1" i="1" dirty="0">
                <a:latin typeface="Iowan Old Style Titling" panose="02040602040506020204" pitchFamily="18" charset="0"/>
              </a:rPr>
              <a:t>.</a:t>
            </a:r>
            <a:endParaRPr kumimoji="1" lang="zh-CN" altLang="en-US" sz="2400" b="1" i="1" dirty="0">
              <a:latin typeface="Iowan Old Style Titling" panose="02040602040506020204" pitchFamily="18" charset="0"/>
            </a:endParaRPr>
          </a:p>
        </p:txBody>
      </p:sp>
    </p:spTree>
    <p:extLst>
      <p:ext uri="{BB962C8B-B14F-4D97-AF65-F5344CB8AC3E}">
        <p14:creationId xmlns:p14="http://schemas.microsoft.com/office/powerpoint/2010/main" val="2314228560"/>
      </p:ext>
    </p:extLst>
  </p:cSld>
  <p:clrMapOvr>
    <a:masterClrMapping/>
  </p:clrMapOvr>
  <mc:AlternateContent xmlns:mc="http://schemas.openxmlformats.org/markup-compatibility/2006" xmlns:p14="http://schemas.microsoft.com/office/powerpoint/2010/main">
    <mc:Choice Requires="p14">
      <p:transition spd="slow" p14:dur="2000" advTm="27643"/>
    </mc:Choice>
    <mc:Fallback xmlns="">
      <p:transition spd="slow" advTm="2764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F42C62-6F96-224A-A61A-75BAA847835E}"/>
              </a:ext>
            </a:extLst>
          </p:cNvPr>
          <p:cNvSpPr>
            <a:spLocks noGrp="1"/>
          </p:cNvSpPr>
          <p:nvPr>
            <p:ph type="title"/>
          </p:nvPr>
        </p:nvSpPr>
        <p:spPr/>
        <p:txBody>
          <a:bodyPr/>
          <a:lstStyle/>
          <a:p>
            <a:r>
              <a:rPr kumimoji="1" lang="en-US" altLang="zh-CN" dirty="0"/>
              <a:t>CPU Utilization Rate</a:t>
            </a:r>
            <a:endParaRPr kumimoji="1" lang="zh-CN" altLang="en-US" dirty="0"/>
          </a:p>
        </p:txBody>
      </p:sp>
      <p:pic>
        <p:nvPicPr>
          <p:cNvPr id="6" name="内容占位符 5">
            <a:extLst>
              <a:ext uri="{FF2B5EF4-FFF2-40B4-BE49-F238E27FC236}">
                <a16:creationId xmlns:a16="http://schemas.microsoft.com/office/drawing/2014/main" id="{5191B100-0411-9F44-9A58-41939AFFFB41}"/>
              </a:ext>
            </a:extLst>
          </p:cNvPr>
          <p:cNvPicPr>
            <a:picLocks noGrp="1" noChangeAspect="1"/>
          </p:cNvPicPr>
          <p:nvPr>
            <p:ph idx="1"/>
          </p:nvPr>
        </p:nvPicPr>
        <p:blipFill>
          <a:blip r:embed="rId3"/>
          <a:stretch>
            <a:fillRect/>
          </a:stretch>
        </p:blipFill>
        <p:spPr>
          <a:xfrm>
            <a:off x="1098550" y="1956594"/>
            <a:ext cx="9994900" cy="4089400"/>
          </a:xfrm>
        </p:spPr>
      </p:pic>
      <p:sp>
        <p:nvSpPr>
          <p:cNvPr id="4" name="灯片编号占位符 3">
            <a:extLst>
              <a:ext uri="{FF2B5EF4-FFF2-40B4-BE49-F238E27FC236}">
                <a16:creationId xmlns:a16="http://schemas.microsoft.com/office/drawing/2014/main" id="{4E3CDCDB-2791-A14E-AFBE-C41C0C0B4470}"/>
              </a:ext>
            </a:extLst>
          </p:cNvPr>
          <p:cNvSpPr>
            <a:spLocks noGrp="1"/>
          </p:cNvSpPr>
          <p:nvPr>
            <p:ph type="sldNum" sz="quarter" idx="12"/>
          </p:nvPr>
        </p:nvSpPr>
        <p:spPr/>
        <p:txBody>
          <a:bodyPr/>
          <a:lstStyle/>
          <a:p>
            <a:fld id="{C53D9380-AD50-0C4E-BD20-74B8F0FD34CE}" type="slidenum">
              <a:rPr kumimoji="1" lang="zh-CN" altLang="en-US" smtClean="0"/>
              <a:t>16</a:t>
            </a:fld>
            <a:endParaRPr kumimoji="1" lang="zh-CN" altLang="en-US"/>
          </a:p>
        </p:txBody>
      </p:sp>
    </p:spTree>
    <p:extLst>
      <p:ext uri="{BB962C8B-B14F-4D97-AF65-F5344CB8AC3E}">
        <p14:creationId xmlns:p14="http://schemas.microsoft.com/office/powerpoint/2010/main" val="2028894340"/>
      </p:ext>
    </p:extLst>
  </p:cSld>
  <p:clrMapOvr>
    <a:masterClrMapping/>
  </p:clrMapOvr>
  <mc:AlternateContent xmlns:mc="http://schemas.openxmlformats.org/markup-compatibility/2006" xmlns:p14="http://schemas.microsoft.com/office/powerpoint/2010/main">
    <mc:Choice Requires="p14">
      <p:transition spd="slow" p14:dur="2000" advTm="61644"/>
    </mc:Choice>
    <mc:Fallback xmlns="">
      <p:transition spd="slow" advTm="61644"/>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34DE8E-098E-D340-999F-563BBB5135F7}"/>
              </a:ext>
            </a:extLst>
          </p:cNvPr>
          <p:cNvSpPr>
            <a:spLocks noGrp="1"/>
          </p:cNvSpPr>
          <p:nvPr>
            <p:ph type="title"/>
          </p:nvPr>
        </p:nvSpPr>
        <p:spPr/>
        <p:txBody>
          <a:bodyPr/>
          <a:lstStyle/>
          <a:p>
            <a:r>
              <a:rPr kumimoji="1" lang="en-US" altLang="zh-CN" dirty="0"/>
              <a:t>Speedup</a:t>
            </a:r>
            <a:endParaRPr kumimoji="1" lang="zh-CN" altLang="en-US" dirty="0"/>
          </a:p>
        </p:txBody>
      </p:sp>
      <p:pic>
        <p:nvPicPr>
          <p:cNvPr id="6" name="内容占位符 5">
            <a:extLst>
              <a:ext uri="{FF2B5EF4-FFF2-40B4-BE49-F238E27FC236}">
                <a16:creationId xmlns:a16="http://schemas.microsoft.com/office/drawing/2014/main" id="{FA54AEC4-712F-DB4E-9BBA-3097E2321509}"/>
              </a:ext>
            </a:extLst>
          </p:cNvPr>
          <p:cNvPicPr>
            <a:picLocks noGrp="1" noChangeAspect="1"/>
          </p:cNvPicPr>
          <p:nvPr>
            <p:ph idx="1"/>
          </p:nvPr>
        </p:nvPicPr>
        <p:blipFill>
          <a:blip r:embed="rId3"/>
          <a:stretch>
            <a:fillRect/>
          </a:stretch>
        </p:blipFill>
        <p:spPr>
          <a:xfrm>
            <a:off x="1025525" y="2140744"/>
            <a:ext cx="5930900" cy="3568700"/>
          </a:xfrm>
        </p:spPr>
      </p:pic>
      <p:sp>
        <p:nvSpPr>
          <p:cNvPr id="4" name="灯片编号占位符 3">
            <a:extLst>
              <a:ext uri="{FF2B5EF4-FFF2-40B4-BE49-F238E27FC236}">
                <a16:creationId xmlns:a16="http://schemas.microsoft.com/office/drawing/2014/main" id="{EA82813B-9A2D-F240-8404-3AD13DCEB1F4}"/>
              </a:ext>
            </a:extLst>
          </p:cNvPr>
          <p:cNvSpPr>
            <a:spLocks noGrp="1"/>
          </p:cNvSpPr>
          <p:nvPr>
            <p:ph type="sldNum" sz="quarter" idx="12"/>
          </p:nvPr>
        </p:nvSpPr>
        <p:spPr/>
        <p:txBody>
          <a:bodyPr/>
          <a:lstStyle/>
          <a:p>
            <a:fld id="{C53D9380-AD50-0C4E-BD20-74B8F0FD34CE}" type="slidenum">
              <a:rPr kumimoji="1" lang="zh-CN" altLang="en-US" smtClean="0"/>
              <a:t>17</a:t>
            </a:fld>
            <a:endParaRPr kumimoji="1" lang="zh-CN" altLang="en-US"/>
          </a:p>
        </p:txBody>
      </p:sp>
      <p:sp>
        <p:nvSpPr>
          <p:cNvPr id="3" name="文本框 2">
            <a:extLst>
              <a:ext uri="{FF2B5EF4-FFF2-40B4-BE49-F238E27FC236}">
                <a16:creationId xmlns:a16="http://schemas.microsoft.com/office/drawing/2014/main" id="{53E1AA4D-2BBA-0740-B95F-4DA968952D1E}"/>
              </a:ext>
            </a:extLst>
          </p:cNvPr>
          <p:cNvSpPr txBox="1"/>
          <p:nvPr/>
        </p:nvSpPr>
        <p:spPr>
          <a:xfrm>
            <a:off x="7538218" y="2695575"/>
            <a:ext cx="3663182" cy="1631216"/>
          </a:xfrm>
          <a:prstGeom prst="rect">
            <a:avLst/>
          </a:prstGeom>
          <a:noFill/>
        </p:spPr>
        <p:txBody>
          <a:bodyPr wrap="none" rtlCol="0">
            <a:spAutoFit/>
          </a:bodyPr>
          <a:lstStyle/>
          <a:p>
            <a:pPr marL="342900" indent="-342900">
              <a:buFont typeface="Arial" panose="020B0604020202020204" pitchFamily="34" charset="0"/>
              <a:buChar char="•"/>
            </a:pPr>
            <a:r>
              <a:rPr kumimoji="1" lang="en-US" altLang="zh-CN" sz="2000" dirty="0">
                <a:latin typeface="Helvetica" pitchFamily="2" charset="0"/>
              </a:rPr>
              <a:t>2×-3× faster is non-trivial</a:t>
            </a:r>
          </a:p>
          <a:p>
            <a:pPr marL="342900" indent="-342900">
              <a:buFont typeface="Arial" panose="020B0604020202020204" pitchFamily="34" charset="0"/>
              <a:buChar char="•"/>
            </a:pPr>
            <a:endParaRPr kumimoji="1" lang="en-US" altLang="zh-CN" sz="2000" dirty="0">
              <a:latin typeface="Helvetica" pitchFamily="2" charset="0"/>
            </a:endParaRPr>
          </a:p>
          <a:p>
            <a:pPr marL="800100" lvl="1" indent="-342900">
              <a:buFont typeface="Arial" panose="020B0604020202020204" pitchFamily="34" charset="0"/>
              <a:buChar char="•"/>
            </a:pPr>
            <a:r>
              <a:rPr kumimoji="1" lang="en-US" altLang="zh-CN" sz="2000" dirty="0">
                <a:latin typeface="Helvetica" pitchFamily="2" charset="0"/>
              </a:rPr>
              <a:t>12 hours </a:t>
            </a:r>
            <a:r>
              <a:rPr kumimoji="1" lang="en-US" altLang="zh-CN" sz="2000" dirty="0">
                <a:latin typeface="Helvetica" pitchFamily="2" charset="0"/>
                <a:sym typeface="Wingdings" pitchFamily="2" charset="2"/>
              </a:rPr>
              <a:t> 4 – 6 hours</a:t>
            </a:r>
          </a:p>
          <a:p>
            <a:pPr marL="800100" lvl="1" indent="-342900">
              <a:buFont typeface="Arial" panose="020B0604020202020204" pitchFamily="34" charset="0"/>
              <a:buChar char="•"/>
            </a:pPr>
            <a:endParaRPr kumimoji="1" lang="en-US" altLang="zh-CN" sz="2000" dirty="0">
              <a:latin typeface="Helvetica" pitchFamily="2" charset="0"/>
              <a:sym typeface="Wingdings" pitchFamily="2" charset="2"/>
            </a:endParaRPr>
          </a:p>
          <a:p>
            <a:pPr marL="800100" lvl="1" indent="-342900">
              <a:buFont typeface="Arial" panose="020B0604020202020204" pitchFamily="34" charset="0"/>
              <a:buChar char="•"/>
            </a:pPr>
            <a:r>
              <a:rPr kumimoji="1" lang="en-US" altLang="zh-CN" sz="2000" dirty="0">
                <a:latin typeface="Helvetica" pitchFamily="2" charset="0"/>
                <a:sym typeface="Wingdings" pitchFamily="2" charset="2"/>
              </a:rPr>
              <a:t>impractical  practical</a:t>
            </a:r>
            <a:endParaRPr kumimoji="1" lang="zh-CN" altLang="en-US" sz="2000" dirty="0">
              <a:latin typeface="Helvetica" pitchFamily="2" charset="0"/>
            </a:endParaRPr>
          </a:p>
        </p:txBody>
      </p:sp>
    </p:spTree>
    <p:extLst>
      <p:ext uri="{BB962C8B-B14F-4D97-AF65-F5344CB8AC3E}">
        <p14:creationId xmlns:p14="http://schemas.microsoft.com/office/powerpoint/2010/main" val="1297051049"/>
      </p:ext>
    </p:extLst>
  </p:cSld>
  <p:clrMapOvr>
    <a:masterClrMapping/>
  </p:clrMapOvr>
  <mc:AlternateContent xmlns:mc="http://schemas.openxmlformats.org/markup-compatibility/2006" xmlns:p14="http://schemas.microsoft.com/office/powerpoint/2010/main">
    <mc:Choice Requires="p14">
      <p:transition spd="slow" p14:dur="2000" advTm="29439"/>
    </mc:Choice>
    <mc:Fallback xmlns="">
      <p:transition spd="slow" advTm="29439"/>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65EF28-3884-554E-834A-5763A8F51AFB}"/>
              </a:ext>
            </a:extLst>
          </p:cNvPr>
          <p:cNvSpPr>
            <a:spLocks noGrp="1"/>
          </p:cNvSpPr>
          <p:nvPr>
            <p:ph type="title"/>
          </p:nvPr>
        </p:nvSpPr>
        <p:spPr/>
        <p:txBody>
          <a:bodyPr/>
          <a:lstStyle/>
          <a:p>
            <a:r>
              <a:rPr kumimoji="1" lang="en-US" altLang="zh-CN" dirty="0"/>
              <a:t>Factors Affecting the Results</a:t>
            </a:r>
            <a:endParaRPr kumimoji="1" lang="zh-CN" altLang="en-US" dirty="0"/>
          </a:p>
        </p:txBody>
      </p:sp>
      <p:sp>
        <p:nvSpPr>
          <p:cNvPr id="4" name="灯片编号占位符 3">
            <a:extLst>
              <a:ext uri="{FF2B5EF4-FFF2-40B4-BE49-F238E27FC236}">
                <a16:creationId xmlns:a16="http://schemas.microsoft.com/office/drawing/2014/main" id="{EFC5216F-E296-A14E-8E0B-1DBA13C091B2}"/>
              </a:ext>
            </a:extLst>
          </p:cNvPr>
          <p:cNvSpPr>
            <a:spLocks noGrp="1"/>
          </p:cNvSpPr>
          <p:nvPr>
            <p:ph type="sldNum" sz="quarter" idx="12"/>
          </p:nvPr>
        </p:nvSpPr>
        <p:spPr/>
        <p:txBody>
          <a:bodyPr/>
          <a:lstStyle/>
          <a:p>
            <a:fld id="{C53D9380-AD50-0C4E-BD20-74B8F0FD34CE}" type="slidenum">
              <a:rPr kumimoji="1" lang="zh-CN" altLang="en-US" smtClean="0"/>
              <a:t>18</a:t>
            </a:fld>
            <a:endParaRPr kumimoji="1" lang="zh-CN" altLang="en-US"/>
          </a:p>
        </p:txBody>
      </p:sp>
      <p:graphicFrame>
        <p:nvGraphicFramePr>
          <p:cNvPr id="7" name="图示 6">
            <a:extLst>
              <a:ext uri="{FF2B5EF4-FFF2-40B4-BE49-F238E27FC236}">
                <a16:creationId xmlns:a16="http://schemas.microsoft.com/office/drawing/2014/main" id="{FDD0472A-ECD0-7A4D-A367-DDBFB9085318}"/>
              </a:ext>
            </a:extLst>
          </p:cNvPr>
          <p:cNvGraphicFramePr/>
          <p:nvPr>
            <p:extLst/>
          </p:nvPr>
        </p:nvGraphicFramePr>
        <p:xfrm>
          <a:off x="2218880" y="1633927"/>
          <a:ext cx="8128000" cy="37084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文本框 9">
            <a:extLst>
              <a:ext uri="{FF2B5EF4-FFF2-40B4-BE49-F238E27FC236}">
                <a16:creationId xmlns:a16="http://schemas.microsoft.com/office/drawing/2014/main" id="{F8CD2DA4-D171-1B41-B944-A8E0742ECFA4}"/>
              </a:ext>
            </a:extLst>
          </p:cNvPr>
          <p:cNvSpPr txBox="1"/>
          <p:nvPr/>
        </p:nvSpPr>
        <p:spPr>
          <a:xfrm>
            <a:off x="2818150" y="5604339"/>
            <a:ext cx="6929461" cy="400110"/>
          </a:xfrm>
          <a:prstGeom prst="rect">
            <a:avLst/>
          </a:prstGeom>
          <a:noFill/>
        </p:spPr>
        <p:txBody>
          <a:bodyPr wrap="none" rtlCol="0">
            <a:spAutoFit/>
          </a:bodyPr>
          <a:lstStyle/>
          <a:p>
            <a:r>
              <a:rPr kumimoji="1" lang="en-US" altLang="zh-CN" sz="2000" dirty="0">
                <a:latin typeface="Helvetica" pitchFamily="2" charset="0"/>
              </a:rPr>
              <a:t>More Threads, More Effective; More Dense, More Effective!</a:t>
            </a:r>
            <a:endParaRPr kumimoji="1" lang="zh-CN" altLang="en-US" sz="2000" dirty="0">
              <a:latin typeface="Helvetica" pitchFamily="2" charset="0"/>
            </a:endParaRPr>
          </a:p>
        </p:txBody>
      </p:sp>
    </p:spTree>
    <p:extLst>
      <p:ext uri="{BB962C8B-B14F-4D97-AF65-F5344CB8AC3E}">
        <p14:creationId xmlns:p14="http://schemas.microsoft.com/office/powerpoint/2010/main" val="3982110877"/>
      </p:ext>
    </p:extLst>
  </p:cSld>
  <p:clrMapOvr>
    <a:masterClrMapping/>
  </p:clrMapOvr>
  <mc:AlternateContent xmlns:mc="http://schemas.openxmlformats.org/markup-compatibility/2006" xmlns:p14="http://schemas.microsoft.com/office/powerpoint/2010/main">
    <mc:Choice Requires="p14">
      <p:transition spd="slow" p14:dur="2000" advTm="80850"/>
    </mc:Choice>
    <mc:Fallback xmlns="">
      <p:transition spd="slow" advTm="8085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6D1B36-CCB9-DA49-A534-3247CCAD4E17}"/>
              </a:ext>
            </a:extLst>
          </p:cNvPr>
          <p:cNvSpPr>
            <a:spLocks noGrp="1"/>
          </p:cNvSpPr>
          <p:nvPr>
            <p:ph type="title"/>
          </p:nvPr>
        </p:nvSpPr>
        <p:spPr/>
        <p:txBody>
          <a:bodyPr/>
          <a:lstStyle/>
          <a:p>
            <a:r>
              <a:rPr kumimoji="1" lang="en-US" altLang="zh-CN" dirty="0"/>
              <a:t>Summary</a:t>
            </a:r>
            <a:endParaRPr kumimoji="1" lang="zh-CN" altLang="en-US" dirty="0"/>
          </a:p>
        </p:txBody>
      </p:sp>
      <p:sp>
        <p:nvSpPr>
          <p:cNvPr id="4" name="矩形 3">
            <a:extLst>
              <a:ext uri="{FF2B5EF4-FFF2-40B4-BE49-F238E27FC236}">
                <a16:creationId xmlns:a16="http://schemas.microsoft.com/office/drawing/2014/main" id="{39388F40-E91F-594C-B64C-9ADFDA8FBE4A}"/>
              </a:ext>
            </a:extLst>
          </p:cNvPr>
          <p:cNvSpPr/>
          <p:nvPr/>
        </p:nvSpPr>
        <p:spPr>
          <a:xfrm>
            <a:off x="851263" y="2639929"/>
            <a:ext cx="10528664" cy="2246769"/>
          </a:xfrm>
          <a:prstGeom prst="rect">
            <a:avLst/>
          </a:prstGeom>
        </p:spPr>
        <p:txBody>
          <a:bodyPr wrap="square">
            <a:spAutoFit/>
          </a:bodyPr>
          <a:lstStyle/>
          <a:p>
            <a:pPr algn="ctr"/>
            <a:r>
              <a:rPr kumimoji="1" lang="en-US" altLang="zh-CN" sz="2800" dirty="0">
                <a:latin typeface="Helvetica" pitchFamily="2" charset="0"/>
              </a:rPr>
              <a:t>Relaxing Calling Dependence to </a:t>
            </a:r>
          </a:p>
          <a:p>
            <a:pPr algn="ctr"/>
            <a:r>
              <a:rPr kumimoji="1" lang="en-US" altLang="zh-CN" sz="2800" dirty="0">
                <a:latin typeface="Helvetica" pitchFamily="2" charset="0"/>
              </a:rPr>
              <a:t>Improve the Parallelism of Bottom-up Data Flow Analysis</a:t>
            </a:r>
          </a:p>
          <a:p>
            <a:pPr algn="ctr"/>
            <a:endParaRPr kumimoji="1" lang="en-US" altLang="zh-CN" sz="2800" dirty="0">
              <a:latin typeface="Helvetica" pitchFamily="2" charset="0"/>
            </a:endParaRPr>
          </a:p>
          <a:p>
            <a:pPr algn="ctr"/>
            <a:r>
              <a:rPr kumimoji="1" lang="en-US" altLang="zh-CN" sz="2800" dirty="0">
                <a:latin typeface="Helvetica" pitchFamily="2" charset="0"/>
              </a:rPr>
              <a:t>Parallelizing/Pipelining Your Data Flow Analysis to </a:t>
            </a:r>
          </a:p>
          <a:p>
            <a:pPr algn="ctr"/>
            <a:r>
              <a:rPr kumimoji="1" lang="en-US" altLang="zh-CN" sz="2800" dirty="0">
                <a:latin typeface="Helvetica" pitchFamily="2" charset="0"/>
              </a:rPr>
              <a:t>Take Advantage of Multiple Cores</a:t>
            </a:r>
          </a:p>
        </p:txBody>
      </p:sp>
      <p:cxnSp>
        <p:nvCxnSpPr>
          <p:cNvPr id="7" name="直线连接符 6">
            <a:extLst>
              <a:ext uri="{FF2B5EF4-FFF2-40B4-BE49-F238E27FC236}">
                <a16:creationId xmlns:a16="http://schemas.microsoft.com/office/drawing/2014/main" id="{76992D48-DA7C-D04A-BA99-322BF35CF75C}"/>
              </a:ext>
            </a:extLst>
          </p:cNvPr>
          <p:cNvCxnSpPr>
            <a:cxnSpLocks/>
          </p:cNvCxnSpPr>
          <p:nvPr/>
        </p:nvCxnSpPr>
        <p:spPr>
          <a:xfrm>
            <a:off x="2194560" y="4010297"/>
            <a:ext cx="1881051" cy="31350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线连接符 8">
            <a:extLst>
              <a:ext uri="{FF2B5EF4-FFF2-40B4-BE49-F238E27FC236}">
                <a16:creationId xmlns:a16="http://schemas.microsoft.com/office/drawing/2014/main" id="{BF04F7D2-AEA9-CF4D-B41B-F84ABB08D1C6}"/>
              </a:ext>
            </a:extLst>
          </p:cNvPr>
          <p:cNvCxnSpPr>
            <a:cxnSpLocks/>
          </p:cNvCxnSpPr>
          <p:nvPr/>
        </p:nvCxnSpPr>
        <p:spPr>
          <a:xfrm flipV="1">
            <a:off x="2194559" y="4010297"/>
            <a:ext cx="1881051" cy="31350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灯片编号占位符 3">
            <a:extLst>
              <a:ext uri="{FF2B5EF4-FFF2-40B4-BE49-F238E27FC236}">
                <a16:creationId xmlns:a16="http://schemas.microsoft.com/office/drawing/2014/main" id="{A8D55B35-EE1A-EF4B-A2A0-C2D25DB6A04D}"/>
              </a:ext>
            </a:extLst>
          </p:cNvPr>
          <p:cNvSpPr>
            <a:spLocks noGrp="1"/>
          </p:cNvSpPr>
          <p:nvPr>
            <p:ph type="sldNum" sz="quarter" idx="12"/>
          </p:nvPr>
        </p:nvSpPr>
        <p:spPr>
          <a:xfrm>
            <a:off x="8610600" y="6356350"/>
            <a:ext cx="2743200" cy="365125"/>
          </a:xfrm>
        </p:spPr>
        <p:txBody>
          <a:bodyPr/>
          <a:lstStyle/>
          <a:p>
            <a:fld id="{C53D9380-AD50-0C4E-BD20-74B8F0FD34CE}" type="slidenum">
              <a:rPr kumimoji="1" lang="zh-CN" altLang="en-US" smtClean="0"/>
              <a:t>19</a:t>
            </a:fld>
            <a:endParaRPr kumimoji="1" lang="zh-CN" altLang="en-US"/>
          </a:p>
        </p:txBody>
      </p:sp>
    </p:spTree>
    <p:extLst>
      <p:ext uri="{BB962C8B-B14F-4D97-AF65-F5344CB8AC3E}">
        <p14:creationId xmlns:p14="http://schemas.microsoft.com/office/powerpoint/2010/main" val="3872114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F4B6D7-BB78-7948-AD1C-9B08DF660E1E}"/>
              </a:ext>
            </a:extLst>
          </p:cNvPr>
          <p:cNvSpPr>
            <a:spLocks noGrp="1"/>
          </p:cNvSpPr>
          <p:nvPr>
            <p:ph type="title"/>
          </p:nvPr>
        </p:nvSpPr>
        <p:spPr>
          <a:xfrm>
            <a:off x="838200" y="2742569"/>
            <a:ext cx="10515600" cy="1325563"/>
          </a:xfrm>
        </p:spPr>
        <p:txBody>
          <a:bodyPr/>
          <a:lstStyle/>
          <a:p>
            <a:r>
              <a:rPr kumimoji="1" lang="en-US" altLang="zh-CN" dirty="0"/>
              <a:t>THANKS FOR YOUR TIME! Q&amp;A</a:t>
            </a:r>
            <a:endParaRPr kumimoji="1" lang="zh-CN" altLang="en-US" dirty="0"/>
          </a:p>
        </p:txBody>
      </p:sp>
    </p:spTree>
    <p:extLst>
      <p:ext uri="{BB962C8B-B14F-4D97-AF65-F5344CB8AC3E}">
        <p14:creationId xmlns:p14="http://schemas.microsoft.com/office/powerpoint/2010/main" val="3021570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1.4|15.7|7.9|5.3|15|9.1"/>
</p:tagLst>
</file>

<file path=ppt/tags/tag2.xml><?xml version="1.0" encoding="utf-8"?>
<p:tagLst xmlns:a="http://schemas.openxmlformats.org/drawingml/2006/main" xmlns:r="http://schemas.openxmlformats.org/officeDocument/2006/relationships" xmlns:p="http://schemas.openxmlformats.org/presentationml/2006/main">
  <p:tag name="TIMING" val="|35.9|6.3|4|9.5|8.1"/>
</p:tagLst>
</file>

<file path=ppt/tags/tag3.xml><?xml version="1.0" encoding="utf-8"?>
<p:tagLst xmlns:a="http://schemas.openxmlformats.org/drawingml/2006/main" xmlns:r="http://schemas.openxmlformats.org/officeDocument/2006/relationships" xmlns:p="http://schemas.openxmlformats.org/presentationml/2006/main">
  <p:tag name="TIMING" val="|23.9|16.7"/>
</p:tagLst>
</file>

<file path=ppt/tags/tag4.xml><?xml version="1.0" encoding="utf-8"?>
<p:tagLst xmlns:a="http://schemas.openxmlformats.org/drawingml/2006/main" xmlns:r="http://schemas.openxmlformats.org/officeDocument/2006/relationships" xmlns:p="http://schemas.openxmlformats.org/presentationml/2006/main">
  <p:tag name="TIMING" val="|22.2|6.3|3.1|3.9"/>
</p:tagLst>
</file>

<file path=ppt/tags/tag5.xml><?xml version="1.0" encoding="utf-8"?>
<p:tagLst xmlns:a="http://schemas.openxmlformats.org/drawingml/2006/main" xmlns:r="http://schemas.openxmlformats.org/officeDocument/2006/relationships" xmlns:p="http://schemas.openxmlformats.org/presentationml/2006/main">
  <p:tag name="TIMING" val="|20.5"/>
</p:tagLst>
</file>

<file path=ppt/tags/tag6.xml><?xml version="1.0" encoding="utf-8"?>
<p:tagLst xmlns:a="http://schemas.openxmlformats.org/drawingml/2006/main" xmlns:r="http://schemas.openxmlformats.org/officeDocument/2006/relationships" xmlns:p="http://schemas.openxmlformats.org/presentationml/2006/main">
  <p:tag name="TIMING" val="|7.4|7.2|14.2|7.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686</TotalTime>
  <Words>2419</Words>
  <Application>Microsoft Macintosh PowerPoint</Application>
  <PresentationFormat>宽屏</PresentationFormat>
  <Paragraphs>407</Paragraphs>
  <Slides>20</Slides>
  <Notes>20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等线</vt:lpstr>
      <vt:lpstr>等线 Light</vt:lpstr>
      <vt:lpstr>Arial</vt:lpstr>
      <vt:lpstr>Arial Hebrew</vt:lpstr>
      <vt:lpstr>Gill Sans MT</vt:lpstr>
      <vt:lpstr>Helvetica</vt:lpstr>
      <vt:lpstr>Iowan Old Style Titling</vt:lpstr>
      <vt:lpstr>Times New Roman</vt:lpstr>
      <vt:lpstr>Wingdings</vt:lpstr>
      <vt:lpstr>Office 主题​​</vt:lpstr>
      <vt:lpstr>Pipelining Bottom-up Data Flow Analysis</vt:lpstr>
      <vt:lpstr>Outline</vt:lpstr>
      <vt:lpstr>Bottom-up Analysis</vt:lpstr>
      <vt:lpstr>Parallelism is Limited</vt:lpstr>
      <vt:lpstr>Basic Idea</vt:lpstr>
      <vt:lpstr>Function Summaries</vt:lpstr>
      <vt:lpstr>Function Summaries</vt:lpstr>
      <vt:lpstr>Partition Criteria</vt:lpstr>
      <vt:lpstr>Dependence Analysis</vt:lpstr>
      <vt:lpstr>Dependence Analysis</vt:lpstr>
      <vt:lpstr>Dependence Analysis</vt:lpstr>
      <vt:lpstr>Pipeline Scheduling</vt:lpstr>
      <vt:lpstr>Function Summaries</vt:lpstr>
      <vt:lpstr>A Pipeline Parallel Strategy</vt:lpstr>
      <vt:lpstr>Evaluation</vt:lpstr>
      <vt:lpstr>CPU Utilization Rate</vt:lpstr>
      <vt:lpstr>Speedup</vt:lpstr>
      <vt:lpstr>Factors Affecting the Results</vt:lpstr>
      <vt:lpstr>Summary</vt:lpstr>
      <vt:lpstr>THANKS FOR YOUR TIME! Q&amp;A</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Qingkai Shi</dc:creator>
  <cp:lastModifiedBy>Qingkai Shi</cp:lastModifiedBy>
  <cp:revision>150</cp:revision>
  <dcterms:created xsi:type="dcterms:W3CDTF">2020-02-16T05:26:24Z</dcterms:created>
  <dcterms:modified xsi:type="dcterms:W3CDTF">2020-06-27T06:53:54Z</dcterms:modified>
</cp:coreProperties>
</file>
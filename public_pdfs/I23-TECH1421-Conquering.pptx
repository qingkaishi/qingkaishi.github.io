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62" r:id="rId2"/>
    <p:sldId id="402" r:id="rId3"/>
    <p:sldId id="257" r:id="rId4"/>
    <p:sldId id="259" r:id="rId5"/>
    <p:sldId id="260" r:id="rId6"/>
    <p:sldId id="428" r:id="rId7"/>
    <p:sldId id="270" r:id="rId8"/>
    <p:sldId id="429" r:id="rId9"/>
    <p:sldId id="430" r:id="rId10"/>
    <p:sldId id="409" r:id="rId11"/>
    <p:sldId id="384" r:id="rId12"/>
    <p:sldId id="431" r:id="rId13"/>
    <p:sldId id="432" r:id="rId14"/>
    <p:sldId id="433" r:id="rId15"/>
    <p:sldId id="401" r:id="rId16"/>
    <p:sldId id="266" r:id="rId17"/>
    <p:sldId id="385" r:id="rId18"/>
    <p:sldId id="386"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66"/>
    <p:restoredTop sz="70219"/>
  </p:normalViewPr>
  <p:slideViewPr>
    <p:cSldViewPr snapToGrid="0" snapToObjects="1">
      <p:cViewPr varScale="1">
        <p:scale>
          <a:sx n="40" d="100"/>
          <a:sy n="40" d="100"/>
        </p:scale>
        <p:origin x="13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CE2CB1-F30F-D24E-A58A-4334480D1B0A}" type="datetimeFigureOut">
              <a:rPr kumimoji="1" lang="zh-CN" altLang="en-US" smtClean="0"/>
              <a:t>2020/6/27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A776D7-DB70-2044-AA8B-A02B84598794}" type="slidenum">
              <a:rPr kumimoji="1" lang="zh-CN" altLang="en-US" smtClean="0"/>
              <a:t>‹#›</a:t>
            </a:fld>
            <a:endParaRPr kumimoji="1" lang="zh-CN" altLang="en-US"/>
          </a:p>
        </p:txBody>
      </p:sp>
    </p:spTree>
    <p:extLst>
      <p:ext uri="{BB962C8B-B14F-4D97-AF65-F5344CB8AC3E}">
        <p14:creationId xmlns:p14="http://schemas.microsoft.com/office/powerpoint/2010/main" val="2189442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Thanks very much. It is my great honor to have the opportunity to present my research.</a:t>
            </a:r>
          </a:p>
          <a:p>
            <a:r>
              <a:rPr kumimoji="1" lang="en-US" altLang="zh-CN" dirty="0"/>
              <a:t>In this talk, I will present our solution to a very important but long neglected problem, the extensional scalability problem. </a:t>
            </a:r>
          </a:p>
          <a:p>
            <a:r>
              <a:rPr kumimoji="1" lang="en-US" altLang="zh-CN" dirty="0"/>
              <a:t>That is, in face of many many software bugs, how we efficiently check them together. </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1</a:t>
            </a:fld>
            <a:endParaRPr kumimoji="1" lang="zh-CN" altLang="en-US"/>
          </a:p>
        </p:txBody>
      </p:sp>
    </p:spTree>
    <p:extLst>
      <p:ext uri="{BB962C8B-B14F-4D97-AF65-F5344CB8AC3E}">
        <p14:creationId xmlns:p14="http://schemas.microsoft.com/office/powerpoint/2010/main" val="672460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This talk has four parts, the background, approach, evaluation and a brief summary.</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2</a:t>
            </a:fld>
            <a:endParaRPr kumimoji="1" lang="zh-CN" altLang="en-US"/>
          </a:p>
        </p:txBody>
      </p:sp>
    </p:spTree>
    <p:extLst>
      <p:ext uri="{BB962C8B-B14F-4D97-AF65-F5344CB8AC3E}">
        <p14:creationId xmlns:p14="http://schemas.microsoft.com/office/powerpoint/2010/main" val="1371457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Although many bug detectors have been deployed and we already have many achievements, we still suffer from many many software bugs in our everyday life.</a:t>
            </a:r>
          </a:p>
          <a:p>
            <a:endParaRPr kumimoji="1" lang="en-US" altLang="zh-CN" dirty="0"/>
          </a:p>
          <a:p>
            <a:r>
              <a:rPr kumimoji="1" lang="en-US" altLang="zh-CN" dirty="0"/>
              <a:t>These bugs may be caused by invalid use of memory, such as double free, …</a:t>
            </a:r>
          </a:p>
          <a:p>
            <a:endParaRPr kumimoji="1" lang="en-US" altLang="zh-CN" dirty="0"/>
          </a:p>
          <a:p>
            <a:r>
              <a:rPr kumimoji="1" lang="en-US" altLang="zh-CN" dirty="0"/>
              <a:t>These bugs also include many taint issues, such as …</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3</a:t>
            </a:fld>
            <a:endParaRPr kumimoji="1" lang="zh-CN" altLang="en-US"/>
          </a:p>
        </p:txBody>
      </p:sp>
    </p:spTree>
    <p:extLst>
      <p:ext uri="{BB962C8B-B14F-4D97-AF65-F5344CB8AC3E}">
        <p14:creationId xmlns:p14="http://schemas.microsoft.com/office/powerpoint/2010/main" val="3998544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We call these software bugs value flow problems</a:t>
            </a:r>
          </a:p>
          <a:p>
            <a:endParaRPr kumimoji="1" lang="en-US" altLang="zh-CN" dirty="0"/>
          </a:p>
          <a:p>
            <a:r>
              <a:rPr kumimoji="1" lang="en-US" altLang="zh-CN" dirty="0"/>
              <a:t>Generally, we say the value of a variable x flows to the variable y if x is assigned to y directly through an assignment or indirectly via some pointer operations.</a:t>
            </a:r>
          </a:p>
          <a:p>
            <a:endParaRPr kumimoji="1" lang="en-US" altLang="zh-CN" dirty="0"/>
          </a:p>
          <a:p>
            <a:r>
              <a:rPr kumimoji="1" lang="en-US" altLang="zh-CN" dirty="0"/>
              <a:t>A value flow problem means that a value improperly flows to some sensitive program statements.</a:t>
            </a:r>
          </a:p>
          <a:p>
            <a:endParaRPr kumimoji="1" lang="en-US" altLang="zh-CN" dirty="0"/>
          </a:p>
          <a:p>
            <a:r>
              <a:rPr kumimoji="1" lang="en-US" altLang="zh-CN" dirty="0"/>
              <a:t>here is example where a null pointer flows to a dereference statement through two variables, p and q, causing a null pointer dereference bug.</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4</a:t>
            </a:fld>
            <a:endParaRPr kumimoji="1" lang="zh-CN" altLang="en-US"/>
          </a:p>
        </p:txBody>
      </p:sp>
    </p:spTree>
    <p:extLst>
      <p:ext uri="{BB962C8B-B14F-4D97-AF65-F5344CB8AC3E}">
        <p14:creationId xmlns:p14="http://schemas.microsoft.com/office/powerpoint/2010/main" val="3423521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So, to perform a value flow analysis to detect value flow problems, we need to build precise value-flow graph based on a precise pointer analysis.</a:t>
            </a:r>
          </a:p>
          <a:p>
            <a:r>
              <a:rPr lang="en-US" altLang="zh-CN" baseline="0" dirty="0"/>
              <a:t>this technique is published in PLDI 2018.</a:t>
            </a:r>
          </a:p>
          <a:p>
            <a:endParaRPr lang="en-US" altLang="zh-CN" baseline="0" dirty="0"/>
          </a:p>
          <a:p>
            <a:r>
              <a:rPr kumimoji="1" lang="en-US" altLang="zh-CN" dirty="0"/>
              <a:t>With a precise data dep graph or value flow graph, The next step is to search invalid value flows on the </a:t>
            </a:r>
            <a:r>
              <a:rPr kumimoji="1" lang="en-US" altLang="zh-CN" dirty="0" err="1"/>
              <a:t>ddg</a:t>
            </a:r>
            <a:r>
              <a:rPr kumimoji="1" lang="en-US" altLang="zh-CN" dirty="0"/>
              <a:t>, with the help of an SMT solver to solve path conditions and prune infeasible paths</a:t>
            </a:r>
          </a:p>
          <a:p>
            <a:endParaRPr kumimoji="1" lang="en-US" altLang="zh-CN" dirty="0"/>
          </a:p>
          <a:p>
            <a:r>
              <a:rPr kumimoji="1" lang="en-US" altLang="zh-CN" dirty="0"/>
              <a:t>The problem we addressed in this paper is how to efficiently check multiple bugs at the same time.</a:t>
            </a:r>
          </a:p>
          <a:p>
            <a:endParaRPr kumimoji="1" lang="en-US" altLang="zh-CN" dirty="0"/>
          </a:p>
          <a:p>
            <a:r>
              <a:rPr kumimoji="1" lang="en-US" altLang="zh-CN" dirty="0"/>
              <a:t>In the next talk, I will present our technique on how to improve the parallelism over existing parallel designs. We will also present out approach to fast </a:t>
            </a:r>
            <a:r>
              <a:rPr kumimoji="1" lang="en-US" altLang="zh-CN" dirty="0" err="1"/>
              <a:t>smt</a:t>
            </a:r>
            <a:r>
              <a:rPr kumimoji="1" lang="en-US" altLang="zh-CN" dirty="0"/>
              <a:t> solving in ISSTA this year.</a:t>
            </a:r>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5</a:t>
            </a:fld>
            <a:endParaRPr kumimoji="1" lang="zh-CN" altLang="en-US"/>
          </a:p>
        </p:txBody>
      </p:sp>
    </p:spTree>
    <p:extLst>
      <p:ext uri="{BB962C8B-B14F-4D97-AF65-F5344CB8AC3E}">
        <p14:creationId xmlns:p14="http://schemas.microsoft.com/office/powerpoint/2010/main" val="3914272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 an industrial setting, static analyzers often need to check many problems at the same time, which will be very time and memory consuming because more program states need to explore and there will be more computation redundancy.</a:t>
            </a:r>
          </a:p>
          <a:p>
            <a:endParaRPr kumimoji="1" lang="en-US" altLang="zh-CN" dirty="0"/>
          </a:p>
          <a:p>
            <a:endParaRPr kumimoji="1" lang="en-US" altLang="zh-CN" dirty="0"/>
          </a:p>
          <a:p>
            <a:r>
              <a:rPr kumimoji="1" lang="en-US" altLang="zh-CN" dirty="0"/>
              <a:t>The main problem is that the analysis logic of checking different problems are independently between each other, which leads to redundant graph traversals on the DDG and unnecessary invocations of the expensive SMT solver.</a:t>
            </a:r>
          </a:p>
          <a:p>
            <a:endParaRPr kumimoji="1" lang="en-US" altLang="zh-CN" dirty="0"/>
          </a:p>
          <a:p>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6</a:t>
            </a:fld>
            <a:endParaRPr kumimoji="1" lang="zh-CN" altLang="en-US"/>
          </a:p>
        </p:txBody>
      </p:sp>
    </p:spTree>
    <p:extLst>
      <p:ext uri="{BB962C8B-B14F-4D97-AF65-F5344CB8AC3E}">
        <p14:creationId xmlns:p14="http://schemas.microsoft.com/office/powerpoint/2010/main" val="2875835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Our work is an inter-property-aware analysis, which uses the analysis results of checking one problem to speed up the analysis of other problems.</a:t>
            </a:r>
          </a:p>
          <a:p>
            <a:endParaRPr kumimoji="1" lang="en-US" altLang="zh-CN" dirty="0"/>
          </a:p>
          <a:p>
            <a:r>
              <a:rPr kumimoji="1" lang="en-US" altLang="zh-CN" dirty="0"/>
              <a:t>The basic idea is to utilize the mutual synergy among different value flow problems to reduce unnecessary graph traversals and SMT solving.</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7</a:t>
            </a:fld>
            <a:endParaRPr kumimoji="1" lang="zh-CN" altLang="en-US"/>
          </a:p>
        </p:txBody>
      </p:sp>
    </p:spTree>
    <p:extLst>
      <p:ext uri="{BB962C8B-B14F-4D97-AF65-F5344CB8AC3E}">
        <p14:creationId xmlns:p14="http://schemas.microsoft.com/office/powerpoint/2010/main" val="194538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We observe that the mutual synergy among different value flow problems are mainly in the forms of path overlapping and path contradiction.</a:t>
            </a: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For path overlapping, let us look at the example, where we aim to detect memory leak bugs and free global </a:t>
            </a:r>
            <a:r>
              <a:rPr lang="en-US" altLang="zh-CN" sz="1200" kern="1200" dirty="0" err="1">
                <a:solidFill>
                  <a:schemeClr val="tx1"/>
                </a:solidFill>
                <a:effectLst/>
                <a:latin typeface="+mn-lt"/>
                <a:ea typeface="+mn-ea"/>
                <a:cs typeface="+mn-cs"/>
              </a:rPr>
              <a:t>var</a:t>
            </a:r>
            <a:r>
              <a:rPr lang="en-US" altLang="zh-CN" sz="1200" kern="1200" dirty="0">
                <a:solidFill>
                  <a:schemeClr val="tx1"/>
                </a:solidFill>
                <a:effectLst/>
                <a:latin typeface="+mn-lt"/>
                <a:ea typeface="+mn-ea"/>
                <a:cs typeface="+mn-cs"/>
              </a:rPr>
              <a:t> bugs on the DDG on the right.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To detect ml, we need to search path from a heap pointer to free statements. To detect </a:t>
            </a:r>
            <a:r>
              <a:rPr lang="en-US" altLang="zh-CN" sz="1200" kern="1200" dirty="0" err="1">
                <a:solidFill>
                  <a:schemeClr val="tx1"/>
                </a:solidFill>
                <a:effectLst/>
                <a:latin typeface="+mn-lt"/>
                <a:ea typeface="+mn-ea"/>
                <a:cs typeface="+mn-cs"/>
              </a:rPr>
              <a:t>fgv</a:t>
            </a:r>
            <a:r>
              <a:rPr lang="en-US" altLang="zh-CN" sz="1200" kern="1200" dirty="0">
                <a:solidFill>
                  <a:schemeClr val="tx1"/>
                </a:solidFill>
                <a:effectLst/>
                <a:latin typeface="+mn-lt"/>
                <a:ea typeface="+mn-ea"/>
                <a:cs typeface="+mn-cs"/>
              </a:rPr>
              <a:t> bugs, we need to search path from a global variable to free statements.</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Assume that we first check the memory leak bug by searching paths from the heap pointer a. during the graph traversal, we record the information that the vertex c cannot reach any free statements.</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we use this information to speed up the analysis of the </a:t>
            </a:r>
            <a:r>
              <a:rPr lang="en-US" altLang="zh-CN" sz="1200" kern="1200" dirty="0" err="1">
                <a:solidFill>
                  <a:schemeClr val="tx1"/>
                </a:solidFill>
                <a:effectLst/>
                <a:latin typeface="+mn-lt"/>
                <a:ea typeface="+mn-ea"/>
                <a:cs typeface="+mn-cs"/>
              </a:rPr>
              <a:t>fgv</a:t>
            </a:r>
            <a:r>
              <a:rPr lang="en-US" altLang="zh-CN" sz="1200" kern="1200" dirty="0">
                <a:solidFill>
                  <a:schemeClr val="tx1"/>
                </a:solidFill>
                <a:effectLst/>
                <a:latin typeface="+mn-lt"/>
                <a:ea typeface="+mn-ea"/>
                <a:cs typeface="+mn-cs"/>
              </a:rPr>
              <a:t> bugs</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when checking the </a:t>
            </a:r>
            <a:r>
              <a:rPr lang="en-US" altLang="zh-CN" sz="1200" kern="1200" dirty="0" err="1">
                <a:solidFill>
                  <a:schemeClr val="tx1"/>
                </a:solidFill>
                <a:effectLst/>
                <a:latin typeface="+mn-lt"/>
                <a:ea typeface="+mn-ea"/>
                <a:cs typeface="+mn-cs"/>
              </a:rPr>
              <a:t>fgv</a:t>
            </a:r>
            <a:r>
              <a:rPr lang="en-US" altLang="zh-CN" sz="1200" kern="1200" dirty="0">
                <a:solidFill>
                  <a:schemeClr val="tx1"/>
                </a:solidFill>
                <a:effectLst/>
                <a:latin typeface="+mn-lt"/>
                <a:ea typeface="+mn-ea"/>
                <a:cs typeface="+mn-cs"/>
              </a:rPr>
              <a:t> bug from the vertex b, we can directly stop at the vertex c, because we know that c cannot reach any free statement.</a:t>
            </a:r>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8</a:t>
            </a:fld>
            <a:endParaRPr kumimoji="1" lang="zh-CN" altLang="en-US"/>
          </a:p>
        </p:txBody>
      </p:sp>
    </p:spTree>
    <p:extLst>
      <p:ext uri="{BB962C8B-B14F-4D97-AF65-F5344CB8AC3E}">
        <p14:creationId xmlns:p14="http://schemas.microsoft.com/office/powerpoint/2010/main" val="819629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This is an example of path contradiction, where we attempt to check ML bugs and NPD bugs. For both bugs, we need to search path from the vertex a, because a is the return value of function malloc. The function may return a heap pointer when it succeeds allocating a memory space or a null pointer when it fails.</a:t>
            </a:r>
          </a:p>
          <a:p>
            <a:endParaRPr kumimoji="1" lang="en-US" altLang="zh-CN" dirty="0"/>
          </a:p>
          <a:p>
            <a:r>
              <a:rPr kumimoji="1" lang="en-US" altLang="zh-CN" dirty="0"/>
              <a:t>We use the condition a!=0 to represent the heap pointer, and a=0 to represent the null pointer.</a:t>
            </a:r>
          </a:p>
          <a:p>
            <a:endParaRPr kumimoji="1" lang="en-US" altLang="zh-CN" dirty="0"/>
          </a:p>
          <a:p>
            <a:r>
              <a:rPr kumimoji="1" lang="en-US" altLang="zh-CN" dirty="0"/>
              <a:t>During the path traversal, we need to check whether the path condition conflicts with these bug-specific conditions.</a:t>
            </a:r>
          </a:p>
          <a:p>
            <a:endParaRPr kumimoji="1" lang="en-US" altLang="zh-CN" dirty="0"/>
          </a:p>
          <a:p>
            <a:r>
              <a:rPr kumimoji="1" lang="en-US" altLang="zh-CN" dirty="0"/>
              <a:t>For instance, when traverse the graph for checking the ND bug, at the vertex b, we will use a SMT solver to check whether the path condition </a:t>
            </a:r>
            <a:r>
              <a:rPr kumimoji="1" lang="en-US" altLang="zh-CN" dirty="0" err="1"/>
              <a:t>gammar</a:t>
            </a:r>
            <a:r>
              <a:rPr kumimoji="1" lang="en-US" altLang="zh-CN" dirty="0"/>
              <a:t> conflicts with the null condition;</a:t>
            </a:r>
          </a:p>
          <a:p>
            <a:endParaRPr kumimoji="1" lang="en-US" altLang="zh-CN" dirty="0"/>
          </a:p>
          <a:p>
            <a:r>
              <a:rPr kumimoji="1" lang="en-US" altLang="zh-CN" dirty="0"/>
              <a:t>Assume that the path condition </a:t>
            </a:r>
            <a:r>
              <a:rPr kumimoji="1" lang="en-US" altLang="zh-CN" dirty="0" err="1"/>
              <a:t>gammar</a:t>
            </a:r>
            <a:r>
              <a:rPr kumimoji="1" lang="en-US" altLang="zh-CN" dirty="0"/>
              <a:t> is SAT, but conflicts with the null pointer condition.</a:t>
            </a:r>
          </a:p>
          <a:p>
            <a:endParaRPr kumimoji="1" lang="en-US" altLang="zh-CN" dirty="0"/>
          </a:p>
          <a:p>
            <a:r>
              <a:rPr kumimoji="1" lang="en-US" altLang="zh-CN" dirty="0"/>
              <a:t>According to this information,</a:t>
            </a:r>
          </a:p>
          <a:p>
            <a:r>
              <a:rPr kumimoji="1" lang="en-US" altLang="zh-CN" dirty="0"/>
              <a:t>when checking ML by searching paths from the vertex a, we can directly determine the path condition </a:t>
            </a:r>
            <a:r>
              <a:rPr kumimoji="1" lang="en-US" altLang="zh-CN" dirty="0" err="1"/>
              <a:t>gammar</a:t>
            </a:r>
            <a:r>
              <a:rPr kumimoji="1" lang="en-US" altLang="zh-CN" dirty="0"/>
              <a:t> does not conflict with the heap pointer condition without invoking the expensive SMT solver.</a:t>
            </a:r>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9</a:t>
            </a:fld>
            <a:endParaRPr kumimoji="1" lang="zh-CN" altLang="en-US"/>
          </a:p>
        </p:txBody>
      </p:sp>
    </p:spTree>
    <p:extLst>
      <p:ext uri="{BB962C8B-B14F-4D97-AF65-F5344CB8AC3E}">
        <p14:creationId xmlns:p14="http://schemas.microsoft.com/office/powerpoint/2010/main" val="4220400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This is the work flow of our approach, the input is the specification of value flow problems to check.</a:t>
            </a:r>
          </a:p>
          <a:p>
            <a:r>
              <a:rPr kumimoji="1" lang="en-US" altLang="zh-CN" dirty="0"/>
              <a:t>Each specification mainly consists of three parts: the source vertices and the sink vertices that determine what kind of value flow paths we need to search on the data dependence graph, as well as the specific conditions each bug type needs to satisfy.</a:t>
            </a:r>
          </a:p>
          <a:p>
            <a:endParaRPr kumimoji="1" lang="en-US" altLang="zh-CN" dirty="0"/>
          </a:p>
          <a:p>
            <a:r>
              <a:rPr kumimoji="1" lang="en-US" altLang="zh-CN" dirty="0"/>
              <a:t>With the specifications, we make optimization plans so that the subsequent graph traversal engine can utilize the mutual synergy for sharing or pruning paths for detecting different value flow problems.</a:t>
            </a:r>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10</a:t>
            </a:fld>
            <a:endParaRPr kumimoji="1" lang="zh-CN" altLang="en-US"/>
          </a:p>
        </p:txBody>
      </p:sp>
    </p:spTree>
    <p:extLst>
      <p:ext uri="{BB962C8B-B14F-4D97-AF65-F5344CB8AC3E}">
        <p14:creationId xmlns:p14="http://schemas.microsoft.com/office/powerpoint/2010/main" val="1319743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In the evaluation,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we use 22 programs from the standard Spec benchmark suite and </a:t>
            </a:r>
            <a:r>
              <a:rPr kumimoji="1" lang="en-US" altLang="zh-CN" dirty="0" err="1"/>
              <a:t>Github</a:t>
            </a:r>
            <a:r>
              <a:rPr kumimoji="1" lang="en-US" altLang="zh-CN" dirty="0"/>
              <a:t>. the sizes of the programs range from a few thousand lines of code to 2 million lines of code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11</a:t>
            </a:fld>
            <a:endParaRPr kumimoji="1" lang="zh-CN" altLang="en-US"/>
          </a:p>
        </p:txBody>
      </p:sp>
    </p:spTree>
    <p:extLst>
      <p:ext uri="{BB962C8B-B14F-4D97-AF65-F5344CB8AC3E}">
        <p14:creationId xmlns:p14="http://schemas.microsoft.com/office/powerpoint/2010/main" val="4039920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We compare the time and memory cost of our approach, catapult, with three industrial-strength tools. Pinpoint, a value flow analyzer where catapult is built on. Clang and Infer are powered by </a:t>
            </a:r>
            <a:r>
              <a:rPr kumimoji="1" lang="en-US" altLang="zh-CN" dirty="0" err="1"/>
              <a:t>LLVm</a:t>
            </a:r>
            <a:r>
              <a:rPr kumimoji="1" lang="en-US" altLang="zh-CN" dirty="0"/>
              <a:t> and </a:t>
            </a:r>
            <a:r>
              <a:rPr kumimoji="1" lang="en-US" altLang="zh-CN" dirty="0" err="1"/>
              <a:t>facebook</a:t>
            </a:r>
            <a:r>
              <a:rPr kumimoji="1" lang="en-US" altLang="zh-CN" dirty="0"/>
              <a:t>.</a:t>
            </a:r>
          </a:p>
          <a:p>
            <a:endParaRPr kumimoji="1" lang="en-US" altLang="zh-CN" dirty="0"/>
          </a:p>
          <a:p>
            <a:r>
              <a:rPr kumimoji="1" lang="en-US" altLang="zh-CN" dirty="0"/>
              <a:t>due to time limit, we only discuss the results of comparing to pinpoint in this talk</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12</a:t>
            </a:fld>
            <a:endParaRPr kumimoji="1" lang="zh-CN" altLang="en-US"/>
          </a:p>
        </p:txBody>
      </p:sp>
    </p:spTree>
    <p:extLst>
      <p:ext uri="{BB962C8B-B14F-4D97-AF65-F5344CB8AC3E}">
        <p14:creationId xmlns:p14="http://schemas.microsoft.com/office/powerpoint/2010/main" val="4136751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figure on the left illustrate the results of comparing our new approach to Pinpoint. The x axis is the benchmark programs ordered by their sizes and the y axis is the time and memory cost. The black lines are the time and memory cost of pinpoint and the red lines are the cost of the new approach.</a:t>
            </a:r>
          </a:p>
          <a:p>
            <a:endParaRPr kumimoji="1" lang="en-US" altLang="zh-CN" dirty="0"/>
          </a:p>
          <a:p>
            <a:r>
              <a:rPr kumimoji="1" lang="en-US" altLang="zh-CN" dirty="0"/>
              <a:t>Compared to Pinpoint, the new approach is 8 times faster but only consumes 1/7 memory. Sometimes Pinpoint exhausts all 200GB of memory and raises an out-of-memory exception. In comparison, the new approach never exhausts the memory.</a:t>
            </a:r>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13</a:t>
            </a:fld>
            <a:endParaRPr kumimoji="1" lang="zh-CN" altLang="en-US"/>
          </a:p>
        </p:txBody>
      </p:sp>
    </p:spTree>
    <p:extLst>
      <p:ext uri="{BB962C8B-B14F-4D97-AF65-F5344CB8AC3E}">
        <p14:creationId xmlns:p14="http://schemas.microsoft.com/office/powerpoint/2010/main" val="2099120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We also draw the growing curves of the memory and time cost against the number of value flow problems to check.</a:t>
            </a:r>
          </a:p>
          <a:p>
            <a:endParaRPr kumimoji="1" lang="en-US" altLang="zh-CN" dirty="0"/>
          </a:p>
          <a:p>
            <a:r>
              <a:rPr kumimoji="1" lang="en-US" altLang="zh-CN" dirty="0"/>
              <a:t>We observe that the time and memory cost grow much slower than pinpoint, so, we believe the new approach is more scalable with regard to the number of value flow problems.</a:t>
            </a:r>
          </a:p>
          <a:p>
            <a:endParaRPr kumimoji="1" lang="en-US" altLang="zh-CN" dirty="0"/>
          </a:p>
          <a:p>
            <a:r>
              <a:rPr kumimoji="1" lang="en-US" altLang="zh-CN" dirty="0"/>
              <a:t>30</a:t>
            </a:r>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14</a:t>
            </a:fld>
            <a:endParaRPr kumimoji="1" lang="zh-CN" altLang="en-US"/>
          </a:p>
        </p:txBody>
      </p:sp>
    </p:spTree>
    <p:extLst>
      <p:ext uri="{BB962C8B-B14F-4D97-AF65-F5344CB8AC3E}">
        <p14:creationId xmlns:p14="http://schemas.microsoft.com/office/powerpoint/2010/main" val="1729573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as a brief summary,  to address the </a:t>
            </a:r>
            <a:r>
              <a:rPr kumimoji="1" lang="en-US" altLang="zh-CN" dirty="0" err="1"/>
              <a:t>extensinoal</a:t>
            </a:r>
            <a:r>
              <a:rPr kumimoji="1" lang="en-US" altLang="zh-CN" dirty="0"/>
              <a:t> scalability problem,</a:t>
            </a:r>
          </a:p>
          <a:p>
            <a:r>
              <a:rPr kumimoji="1" lang="en-US" altLang="zh-CN" dirty="0"/>
              <a:t>we propose an inter property aware </a:t>
            </a:r>
            <a:r>
              <a:rPr kumimoji="1" lang="en-US" altLang="zh-CN" dirty="0" err="1"/>
              <a:t>anaysis</a:t>
            </a:r>
            <a:r>
              <a:rPr kumimoji="1" lang="en-US" altLang="zh-CN" dirty="0"/>
              <a:t> that uses mutual synergy among different bug types to accelerate bug finding.</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15</a:t>
            </a:fld>
            <a:endParaRPr kumimoji="1" lang="zh-CN" altLang="en-US"/>
          </a:p>
        </p:txBody>
      </p:sp>
    </p:spTree>
    <p:extLst>
      <p:ext uri="{BB962C8B-B14F-4D97-AF65-F5344CB8AC3E}">
        <p14:creationId xmlns:p14="http://schemas.microsoft.com/office/powerpoint/2010/main" val="1861452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We also compare catapult to clang static analyzer and infer static analyzer.</a:t>
            </a:r>
          </a:p>
          <a:p>
            <a:endParaRPr kumimoji="1" lang="en-US" altLang="zh-CN" dirty="0"/>
          </a:p>
          <a:p>
            <a:r>
              <a:rPr kumimoji="1" lang="en-US" altLang="zh-CN" dirty="0"/>
              <a:t>clang is based on symbolic execution, its default version uses an imprecise and range-based solver to solve path condition. we also compare to its full-</a:t>
            </a:r>
            <a:r>
              <a:rPr kumimoji="1" lang="en-US" altLang="zh-CN" dirty="0" err="1"/>
              <a:t>pathsensitive</a:t>
            </a:r>
            <a:r>
              <a:rPr kumimoji="1" lang="en-US" altLang="zh-CN" dirty="0"/>
              <a:t> version, where Z3 is used.</a:t>
            </a:r>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17</a:t>
            </a:fld>
            <a:endParaRPr kumimoji="1" lang="zh-CN" altLang="en-US"/>
          </a:p>
        </p:txBody>
      </p:sp>
    </p:spTree>
    <p:extLst>
      <p:ext uri="{BB962C8B-B14F-4D97-AF65-F5344CB8AC3E}">
        <p14:creationId xmlns:p14="http://schemas.microsoft.com/office/powerpoint/2010/main" val="3089947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We observe that, catapult is much faster than the full path-sensitive version of z3, and has similar time and memory cost with the default clang and infer static </a:t>
            </a:r>
            <a:r>
              <a:rPr kumimoji="1" lang="en-US" altLang="zh-CN" dirty="0" err="1"/>
              <a:t>anzlyer</a:t>
            </a:r>
            <a:r>
              <a:rPr kumimoji="1" lang="en-US" altLang="zh-CN" dirty="0"/>
              <a:t>. With similar time and memory cost, since our approach is full path sensitive, it has much higher precision than the others, reporting less than 30% false positives.</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18</a:t>
            </a:fld>
            <a:endParaRPr kumimoji="1" lang="zh-CN" altLang="en-US"/>
          </a:p>
        </p:txBody>
      </p:sp>
    </p:spTree>
    <p:extLst>
      <p:ext uri="{BB962C8B-B14F-4D97-AF65-F5344CB8AC3E}">
        <p14:creationId xmlns:p14="http://schemas.microsoft.com/office/powerpoint/2010/main" val="2014353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3CFB6B-F59D-2649-95A5-B4F0E14171B1}"/>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670918D9-FDCC-8541-95CE-3C8DC226F8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1988DBB-46AC-B246-A3D6-69BFAAE427EF}"/>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DDFB0F94-D1E1-6C4F-92B3-91CABFAD54B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F13B2AD-CE0B-7642-AD94-EA746D85B63D}"/>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2736927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887EDB-5F16-6147-8CFD-F9BC728E5E3D}"/>
              </a:ext>
            </a:extLst>
          </p:cNvPr>
          <p:cNvSpPr>
            <a:spLocks noGrp="1"/>
          </p:cNvSpPr>
          <p:nvPr>
            <p:ph type="title" hasCustomPrompt="1"/>
          </p:nvPr>
        </p:nvSpPr>
        <p:spPr/>
        <p:txBody>
          <a:bodyPr>
            <a:normAutofit/>
          </a:bodyPr>
          <a:lstStyle>
            <a:lvl1pPr algn="l" defTabSz="914400" rtl="0" eaLnBrk="1" latinLnBrk="0" hangingPunct="1">
              <a:lnSpc>
                <a:spcPct val="90000"/>
              </a:lnSpc>
              <a:spcBef>
                <a:spcPct val="0"/>
              </a:spcBef>
              <a:buNone/>
              <a:defRPr kumimoji="1" lang="zh-CN" altLang="en-US" sz="3600" kern="1200" dirty="0">
                <a:solidFill>
                  <a:schemeClr val="accent1">
                    <a:lumMod val="75000"/>
                  </a:schemeClr>
                </a:solidFill>
                <a:latin typeface="Helvetica" pitchFamily="2" charset="0"/>
                <a:ea typeface="+mj-ea"/>
                <a:cs typeface="+mj-cs"/>
              </a:defRPr>
            </a:lvl1pPr>
          </a:lstStyle>
          <a:p>
            <a:r>
              <a:rPr kumimoji="1" lang="en-US" altLang="zh-CN" dirty="0"/>
              <a:t>Title</a:t>
            </a:r>
            <a:endParaRPr kumimoji="1" lang="zh-CN" altLang="en-US" dirty="0"/>
          </a:p>
        </p:txBody>
      </p:sp>
      <p:sp>
        <p:nvSpPr>
          <p:cNvPr id="3" name="内容占位符 2">
            <a:extLst>
              <a:ext uri="{FF2B5EF4-FFF2-40B4-BE49-F238E27FC236}">
                <a16:creationId xmlns:a16="http://schemas.microsoft.com/office/drawing/2014/main" id="{D9564C31-C66B-4544-B934-CEE13C92BF76}"/>
              </a:ext>
            </a:extLst>
          </p:cNvPr>
          <p:cNvSpPr>
            <a:spLocks noGrp="1"/>
          </p:cNvSpPr>
          <p:nvPr>
            <p:ph idx="1"/>
          </p:nvPr>
        </p:nvSpPr>
        <p:spPr/>
        <p:txBody>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34E9208C-0EC6-5A42-B979-11253531BB16}"/>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D0129A1D-7330-D74C-AFC2-CBF161EA5B9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468B634-D793-F948-BBA1-56E3DD4EF87B}"/>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3136794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64832-E25C-6E43-AC69-B2B42DD4C51E}"/>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D2477BA3-19E5-2B4C-9CB8-B5D968B72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1698CACA-4152-D643-AC02-9F6E427CD3FD}"/>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B1AC7BB7-153F-5948-BF34-A82633BEA34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90B8E3F-C8EC-004F-B9C6-28A127F14941}"/>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1070833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6D175-0907-0045-BB40-4F4853194C6A}"/>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58C9751-1AE9-964E-9999-9EC2AC01231F}"/>
              </a:ext>
            </a:extLst>
          </p:cNvPr>
          <p:cNvSpPr>
            <a:spLocks noGrp="1"/>
          </p:cNvSpPr>
          <p:nvPr>
            <p:ph sz="half" idx="1"/>
          </p:nvPr>
        </p:nvSpPr>
        <p:spPr>
          <a:xfrm>
            <a:off x="838200" y="1825625"/>
            <a:ext cx="5181600" cy="4351338"/>
          </a:xfrm>
        </p:spPr>
        <p:txBody>
          <a:bodyPr/>
          <a:lstStyle/>
          <a:p>
            <a:r>
              <a:rPr kumimoji="1" lang="zh-CN" altLang="en-US"/>
              <a:t>编辑母版文本样式
第二级
第三级
第四级
第五级</a:t>
            </a:r>
          </a:p>
        </p:txBody>
      </p:sp>
      <p:sp>
        <p:nvSpPr>
          <p:cNvPr id="4" name="内容占位符 3">
            <a:extLst>
              <a:ext uri="{FF2B5EF4-FFF2-40B4-BE49-F238E27FC236}">
                <a16:creationId xmlns:a16="http://schemas.microsoft.com/office/drawing/2014/main" id="{7F5C7061-EE9D-4047-974E-91BC22779A46}"/>
              </a:ext>
            </a:extLst>
          </p:cNvPr>
          <p:cNvSpPr>
            <a:spLocks noGrp="1"/>
          </p:cNvSpPr>
          <p:nvPr>
            <p:ph sz="half" idx="2"/>
          </p:nvPr>
        </p:nvSpPr>
        <p:spPr>
          <a:xfrm>
            <a:off x="6172200" y="1825625"/>
            <a:ext cx="5181600" cy="4351338"/>
          </a:xfrm>
        </p:spPr>
        <p:txBody>
          <a:body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C8135D9E-C133-A24C-BCC0-380E2A2AC6EA}"/>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6" name="页脚占位符 5">
            <a:extLst>
              <a:ext uri="{FF2B5EF4-FFF2-40B4-BE49-F238E27FC236}">
                <a16:creationId xmlns:a16="http://schemas.microsoft.com/office/drawing/2014/main" id="{5E50AEC8-BA41-DE4C-A425-19815145476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2EA159F-8734-3E40-8D3E-3CABA4EF2746}"/>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2484583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B60B2E-22EC-484C-8288-576DBEF80C12}"/>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1ED21D2-19C9-F440-B8D3-FC82EC5DC2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4" name="内容占位符 3">
            <a:extLst>
              <a:ext uri="{FF2B5EF4-FFF2-40B4-BE49-F238E27FC236}">
                <a16:creationId xmlns:a16="http://schemas.microsoft.com/office/drawing/2014/main" id="{94547390-B514-E247-9D94-D5CBEFB264E6}"/>
              </a:ext>
            </a:extLst>
          </p:cNvPr>
          <p:cNvSpPr>
            <a:spLocks noGrp="1"/>
          </p:cNvSpPr>
          <p:nvPr>
            <p:ph sz="half" idx="2"/>
          </p:nvPr>
        </p:nvSpPr>
        <p:spPr>
          <a:xfrm>
            <a:off x="839788" y="2505075"/>
            <a:ext cx="5157787" cy="3684588"/>
          </a:xfrm>
        </p:spPr>
        <p:txBody>
          <a:bodyPr/>
          <a:lstStyle/>
          <a:p>
            <a:r>
              <a:rPr kumimoji="1" lang="zh-CN" altLang="en-US"/>
              <a:t>编辑母版文本样式
第二级
第三级
第四级
第五级</a:t>
            </a:r>
          </a:p>
        </p:txBody>
      </p:sp>
      <p:sp>
        <p:nvSpPr>
          <p:cNvPr id="5" name="文本占位符 4">
            <a:extLst>
              <a:ext uri="{FF2B5EF4-FFF2-40B4-BE49-F238E27FC236}">
                <a16:creationId xmlns:a16="http://schemas.microsoft.com/office/drawing/2014/main" id="{31C1B6E0-1CA2-954D-A19A-708C683B0C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6" name="内容占位符 5">
            <a:extLst>
              <a:ext uri="{FF2B5EF4-FFF2-40B4-BE49-F238E27FC236}">
                <a16:creationId xmlns:a16="http://schemas.microsoft.com/office/drawing/2014/main" id="{066C2FF8-DB95-644A-A0D5-07B39A8B8E97}"/>
              </a:ext>
            </a:extLst>
          </p:cNvPr>
          <p:cNvSpPr>
            <a:spLocks noGrp="1"/>
          </p:cNvSpPr>
          <p:nvPr>
            <p:ph sz="quarter" idx="4"/>
          </p:nvPr>
        </p:nvSpPr>
        <p:spPr>
          <a:xfrm>
            <a:off x="6172200" y="2505075"/>
            <a:ext cx="5183188" cy="3684588"/>
          </a:xfrm>
        </p:spPr>
        <p:txBody>
          <a:bodyPr/>
          <a:lstStyle/>
          <a:p>
            <a:r>
              <a:rPr kumimoji="1" lang="zh-CN" altLang="en-US"/>
              <a:t>编辑母版文本样式
第二级
第三级
第四级
第五级</a:t>
            </a:r>
          </a:p>
        </p:txBody>
      </p:sp>
      <p:sp>
        <p:nvSpPr>
          <p:cNvPr id="7" name="日期占位符 6">
            <a:extLst>
              <a:ext uri="{FF2B5EF4-FFF2-40B4-BE49-F238E27FC236}">
                <a16:creationId xmlns:a16="http://schemas.microsoft.com/office/drawing/2014/main" id="{37A4E8D9-02BA-2243-A385-F47916FA29FF}"/>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8" name="页脚占位符 7">
            <a:extLst>
              <a:ext uri="{FF2B5EF4-FFF2-40B4-BE49-F238E27FC236}">
                <a16:creationId xmlns:a16="http://schemas.microsoft.com/office/drawing/2014/main" id="{3445BD42-9B88-6649-95BE-67CBFD2D547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C4EFAF6F-5AFC-BE4F-B312-2993217DAC32}"/>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852262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19331D-DC5E-F842-92C1-AF6675E5093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2D03A56-3EE7-0442-A1F2-7972491EFFEE}"/>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4" name="页脚占位符 3">
            <a:extLst>
              <a:ext uri="{FF2B5EF4-FFF2-40B4-BE49-F238E27FC236}">
                <a16:creationId xmlns:a16="http://schemas.microsoft.com/office/drawing/2014/main" id="{78DF5D7A-39C2-BA4D-B53B-00878594753E}"/>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F4A079F3-A266-1B42-A82B-335519C9458A}"/>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83836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CBFDEC6-C4BF-2340-9606-1A938D63A1C0}"/>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3" name="页脚占位符 2">
            <a:extLst>
              <a:ext uri="{FF2B5EF4-FFF2-40B4-BE49-F238E27FC236}">
                <a16:creationId xmlns:a16="http://schemas.microsoft.com/office/drawing/2014/main" id="{6BBD115B-18EA-F64E-84DF-D705F422F6AE}"/>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116E56C7-1709-294E-88DD-4681BBB3F12A}"/>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3625998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7D1BD0-43D7-5B42-AB3F-47329E24520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A468DAD-B9EE-A047-B3F7-A932FB88C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kumimoji="1" lang="zh-CN" altLang="en-US"/>
              <a:t>编辑母版文本样式
第二级
第三级
第四级
第五级</a:t>
            </a:r>
          </a:p>
        </p:txBody>
      </p:sp>
      <p:sp>
        <p:nvSpPr>
          <p:cNvPr id="4" name="文本占位符 3">
            <a:extLst>
              <a:ext uri="{FF2B5EF4-FFF2-40B4-BE49-F238E27FC236}">
                <a16:creationId xmlns:a16="http://schemas.microsoft.com/office/drawing/2014/main" id="{6D4A6D64-0E64-3048-BB42-092DD257CC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17D92836-42F5-9B4E-A6E8-9E21FA9BDAF7}"/>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6" name="页脚占位符 5">
            <a:extLst>
              <a:ext uri="{FF2B5EF4-FFF2-40B4-BE49-F238E27FC236}">
                <a16:creationId xmlns:a16="http://schemas.microsoft.com/office/drawing/2014/main" id="{578F14D0-75E7-1C47-9264-A3A6DC41E69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247890C-CBA0-C949-AA55-6704F0A3A6AA}"/>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630495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24CFE8-60B7-E04F-A9E4-C57CAECC95E0}"/>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96C80AC5-678E-D140-B5FA-7E777FD7BD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28381A4-7F9F-6341-9BEE-7BDD3D21AD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FF205173-BFEB-0442-B094-9FF97E647125}"/>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6" name="页脚占位符 5">
            <a:extLst>
              <a:ext uri="{FF2B5EF4-FFF2-40B4-BE49-F238E27FC236}">
                <a16:creationId xmlns:a16="http://schemas.microsoft.com/office/drawing/2014/main" id="{923A376F-D86E-3B41-BF74-7F1F369648D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19532DE-DBBC-B641-BB2B-5F42F2D8AB24}"/>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534815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B48BDC-CB64-AC4A-B612-47FBD0C2EA2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85E76CE-AF04-F549-9FF0-1A2828926D23}"/>
              </a:ext>
            </a:extLst>
          </p:cNvPr>
          <p:cNvSpPr>
            <a:spLocks noGrp="1"/>
          </p:cNvSpPr>
          <p:nvPr>
            <p:ph type="body" orient="vert" idx="1"/>
          </p:nvPr>
        </p:nvSpPr>
        <p:spPr/>
        <p:txBody>
          <a:bodyPr vert="eaVert"/>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37E6C0B6-81F6-1F42-9211-204A7C58009D}"/>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6C7C2B0F-CED6-104F-8617-18AA745E5EE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33C9D63-821E-6F4C-9AA1-D8289B84F9C0}"/>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2021764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146ADF6-F48C-0042-853B-48737375C87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24EDAD5-E087-1846-B9CA-D489A315CCF7}"/>
              </a:ext>
            </a:extLst>
          </p:cNvPr>
          <p:cNvSpPr>
            <a:spLocks noGrp="1"/>
          </p:cNvSpPr>
          <p:nvPr>
            <p:ph type="body" orient="vert" idx="1"/>
          </p:nvPr>
        </p:nvSpPr>
        <p:spPr>
          <a:xfrm>
            <a:off x="838200" y="365125"/>
            <a:ext cx="7734300" cy="5811838"/>
          </a:xfrm>
        </p:spPr>
        <p:txBody>
          <a:bodyPr vert="eaVert"/>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1D22D87E-E0FF-B144-8365-9CB57FA2E47B}"/>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057DD06B-A5F7-0F42-A852-66686F1A17F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E48A0D5-08BE-5443-A8C2-77C253ADB27C}"/>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2176009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DB92C76-96CD-7143-85C7-976A261A28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8E997A1-BAF8-5049-8A8C-CA9090D4D1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7574D2DB-39FD-1449-A6E6-82EC721460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F365F2DC-F14F-6545-A3C3-B278FC2517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E594FE2-0CA9-8E4A-A2DE-46A5ADC1A7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251088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A8677E-A652-BC49-B008-84A3FCD06355}"/>
              </a:ext>
            </a:extLst>
          </p:cNvPr>
          <p:cNvSpPr>
            <a:spLocks noGrp="1"/>
          </p:cNvSpPr>
          <p:nvPr>
            <p:ph type="ctrTitle"/>
          </p:nvPr>
        </p:nvSpPr>
        <p:spPr>
          <a:xfrm>
            <a:off x="709808" y="1578281"/>
            <a:ext cx="10772383" cy="1393064"/>
          </a:xfrm>
        </p:spPr>
        <p:txBody>
          <a:bodyPr>
            <a:normAutofit/>
          </a:bodyPr>
          <a:lstStyle/>
          <a:p>
            <a:r>
              <a:rPr kumimoji="1" lang="en-US" altLang="zh-CN" sz="3600" dirty="0">
                <a:solidFill>
                  <a:schemeClr val="accent1">
                    <a:lumMod val="75000"/>
                  </a:schemeClr>
                </a:solidFill>
                <a:latin typeface="Helvetica" pitchFamily="2" charset="0"/>
              </a:rPr>
              <a:t>Conquering the Extensional Scalability Problem for Value-Flow Analysis Frameworks </a:t>
            </a:r>
            <a:endParaRPr kumimoji="1" lang="zh-CN" altLang="en-US" sz="3600" dirty="0">
              <a:solidFill>
                <a:schemeClr val="accent1">
                  <a:lumMod val="75000"/>
                </a:schemeClr>
              </a:solidFill>
              <a:latin typeface="Helvetica" pitchFamily="2" charset="0"/>
            </a:endParaRPr>
          </a:p>
        </p:txBody>
      </p:sp>
      <p:sp>
        <p:nvSpPr>
          <p:cNvPr id="3" name="副标题 2">
            <a:extLst>
              <a:ext uri="{FF2B5EF4-FFF2-40B4-BE49-F238E27FC236}">
                <a16:creationId xmlns:a16="http://schemas.microsoft.com/office/drawing/2014/main" id="{97C437BB-C761-4B45-97BD-0A9E79D04C0C}"/>
              </a:ext>
            </a:extLst>
          </p:cNvPr>
          <p:cNvSpPr>
            <a:spLocks noGrp="1"/>
          </p:cNvSpPr>
          <p:nvPr>
            <p:ph type="subTitle" idx="1"/>
          </p:nvPr>
        </p:nvSpPr>
        <p:spPr>
          <a:xfrm>
            <a:off x="1524000" y="3201205"/>
            <a:ext cx="9144000" cy="1867183"/>
          </a:xfrm>
        </p:spPr>
        <p:txBody>
          <a:bodyPr>
            <a:normAutofit/>
          </a:bodyPr>
          <a:lstStyle/>
          <a:p>
            <a:endParaRPr kumimoji="1" lang="en-US" altLang="zh-CN" dirty="0">
              <a:latin typeface="Gill Sans MT" panose="020B0502020104020203" pitchFamily="34" charset="0"/>
            </a:endParaRPr>
          </a:p>
          <a:p>
            <a:r>
              <a:rPr kumimoji="1" lang="en-US" altLang="zh-CN" dirty="0">
                <a:latin typeface="Gill Sans MT" panose="020B0502020104020203" pitchFamily="34" charset="0"/>
              </a:rPr>
              <a:t>Qingkai Shi, </a:t>
            </a:r>
            <a:r>
              <a:rPr kumimoji="1" lang="en-US" altLang="zh-CN" dirty="0" err="1">
                <a:latin typeface="Gill Sans MT" panose="020B0502020104020203" pitchFamily="34" charset="0"/>
              </a:rPr>
              <a:t>Rongxin</a:t>
            </a:r>
            <a:r>
              <a:rPr kumimoji="1" lang="en-US" altLang="zh-CN" dirty="0">
                <a:latin typeface="Gill Sans MT" panose="020B0502020104020203" pitchFamily="34" charset="0"/>
              </a:rPr>
              <a:t> Wu</a:t>
            </a:r>
            <a:r>
              <a:rPr kumimoji="1" lang="en-US" altLang="zh-CN" baseline="30000" dirty="0">
                <a:latin typeface="Gill Sans MT" panose="020B0502020104020203" pitchFamily="34" charset="0"/>
              </a:rPr>
              <a:t>†</a:t>
            </a:r>
            <a:r>
              <a:rPr kumimoji="1" lang="en-US" altLang="zh-CN" dirty="0">
                <a:latin typeface="Gill Sans MT" panose="020B0502020104020203" pitchFamily="34" charset="0"/>
              </a:rPr>
              <a:t>, Gang Fan, Charles Zhang</a:t>
            </a:r>
          </a:p>
          <a:p>
            <a:r>
              <a:rPr kumimoji="1" lang="en-US" altLang="zh-CN" dirty="0">
                <a:latin typeface="Gill Sans MT" panose="020B0502020104020203" pitchFamily="34" charset="0"/>
              </a:rPr>
              <a:t>The Hong Kong University of Science and Technology, China</a:t>
            </a:r>
          </a:p>
          <a:p>
            <a:r>
              <a:rPr kumimoji="1" lang="en-US" altLang="zh-CN" baseline="30000" dirty="0">
                <a:latin typeface="Gill Sans MT" panose="020B0502020104020203" pitchFamily="34" charset="0"/>
              </a:rPr>
              <a:t>†</a:t>
            </a:r>
            <a:r>
              <a:rPr kumimoji="1" lang="en-US" altLang="zh-CN" dirty="0">
                <a:latin typeface="Gill Sans MT" panose="020B0502020104020203" pitchFamily="34" charset="0"/>
              </a:rPr>
              <a:t>Xiamen University, China</a:t>
            </a:r>
            <a:endParaRPr kumimoji="1" lang="zh-CN" altLang="en-US" dirty="0">
              <a:latin typeface="Gill Sans MT" panose="020B0502020104020203" pitchFamily="34" charset="0"/>
            </a:endParaRPr>
          </a:p>
        </p:txBody>
      </p:sp>
      <p:pic>
        <p:nvPicPr>
          <p:cNvPr id="4" name="图片 3">
            <a:extLst>
              <a:ext uri="{FF2B5EF4-FFF2-40B4-BE49-F238E27FC236}">
                <a16:creationId xmlns:a16="http://schemas.microsoft.com/office/drawing/2014/main" id="{CDEBBBAB-2381-D64A-9B81-71E780B0EFF7}"/>
              </a:ext>
            </a:extLst>
          </p:cNvPr>
          <p:cNvPicPr>
            <a:picLocks noChangeAspect="1"/>
          </p:cNvPicPr>
          <p:nvPr/>
        </p:nvPicPr>
        <p:blipFill>
          <a:blip r:embed="rId3"/>
          <a:stretch>
            <a:fillRect/>
          </a:stretch>
        </p:blipFill>
        <p:spPr>
          <a:xfrm>
            <a:off x="205316" y="0"/>
            <a:ext cx="7327900" cy="1117600"/>
          </a:xfrm>
          <a:prstGeom prst="rect">
            <a:avLst/>
          </a:prstGeom>
        </p:spPr>
      </p:pic>
      <p:sp>
        <p:nvSpPr>
          <p:cNvPr id="6" name="矩形 5">
            <a:extLst>
              <a:ext uri="{FF2B5EF4-FFF2-40B4-BE49-F238E27FC236}">
                <a16:creationId xmlns:a16="http://schemas.microsoft.com/office/drawing/2014/main" id="{FA898BC4-B2F3-824A-9BF4-EB0539C5EEAB}"/>
              </a:ext>
            </a:extLst>
          </p:cNvPr>
          <p:cNvSpPr/>
          <p:nvPr/>
        </p:nvSpPr>
        <p:spPr>
          <a:xfrm>
            <a:off x="2392004" y="5857262"/>
            <a:ext cx="7407989" cy="646331"/>
          </a:xfrm>
          <a:prstGeom prst="rect">
            <a:avLst/>
          </a:prstGeom>
        </p:spPr>
        <p:txBody>
          <a:bodyPr wrap="none">
            <a:spAutoFit/>
          </a:bodyPr>
          <a:lstStyle/>
          <a:p>
            <a:pPr algn="ctr"/>
            <a:r>
              <a:rPr kumimoji="1" lang="en-US" altLang="zh-CN" dirty="0">
                <a:solidFill>
                  <a:schemeClr val="tx1">
                    <a:lumMod val="50000"/>
                    <a:lumOff val="50000"/>
                  </a:schemeClr>
                </a:solidFill>
                <a:latin typeface="Helvetica" pitchFamily="2" charset="0"/>
              </a:rPr>
              <a:t>July 10</a:t>
            </a:r>
            <a:r>
              <a:rPr kumimoji="1" lang="en-US" altLang="zh-CN" baseline="30000" dirty="0">
                <a:solidFill>
                  <a:schemeClr val="tx1">
                    <a:lumMod val="50000"/>
                    <a:lumOff val="50000"/>
                  </a:schemeClr>
                </a:solidFill>
                <a:latin typeface="Helvetica" pitchFamily="2" charset="0"/>
              </a:rPr>
              <a:t>th</a:t>
            </a:r>
            <a:r>
              <a:rPr kumimoji="1" lang="en-US" altLang="zh-CN" dirty="0">
                <a:solidFill>
                  <a:schemeClr val="tx1">
                    <a:lumMod val="50000"/>
                    <a:lumOff val="50000"/>
                  </a:schemeClr>
                </a:solidFill>
                <a:latin typeface="Helvetica" pitchFamily="2" charset="0"/>
              </a:rPr>
              <a:t> 2020</a:t>
            </a:r>
          </a:p>
          <a:p>
            <a:pPr algn="ctr"/>
            <a:r>
              <a:rPr kumimoji="1" lang="en-US" altLang="zh-CN" dirty="0">
                <a:solidFill>
                  <a:schemeClr val="tx1">
                    <a:lumMod val="50000"/>
                    <a:lumOff val="50000"/>
                  </a:schemeClr>
                </a:solidFill>
                <a:latin typeface="Helvetica" pitchFamily="2" charset="0"/>
              </a:rPr>
              <a:t>The 42</a:t>
            </a:r>
            <a:r>
              <a:rPr kumimoji="1" lang="en-US" altLang="zh-CN" baseline="30000" dirty="0">
                <a:solidFill>
                  <a:schemeClr val="tx1">
                    <a:lumMod val="50000"/>
                    <a:lumOff val="50000"/>
                  </a:schemeClr>
                </a:solidFill>
                <a:latin typeface="Helvetica" pitchFamily="2" charset="0"/>
              </a:rPr>
              <a:t>nd</a:t>
            </a:r>
            <a:r>
              <a:rPr kumimoji="1" lang="en-US" altLang="zh-CN" dirty="0">
                <a:solidFill>
                  <a:schemeClr val="tx1">
                    <a:lumMod val="50000"/>
                    <a:lumOff val="50000"/>
                  </a:schemeClr>
                </a:solidFill>
                <a:latin typeface="Helvetica" pitchFamily="2" charset="0"/>
              </a:rPr>
              <a:t> ACM/IEEE International Conference on Software Engineering</a:t>
            </a:r>
          </a:p>
        </p:txBody>
      </p:sp>
    </p:spTree>
    <p:extLst>
      <p:ext uri="{BB962C8B-B14F-4D97-AF65-F5344CB8AC3E}">
        <p14:creationId xmlns:p14="http://schemas.microsoft.com/office/powerpoint/2010/main" val="730470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CBA275-60CA-8D46-A194-E11CC2B63DE6}"/>
              </a:ext>
            </a:extLst>
          </p:cNvPr>
          <p:cNvSpPr>
            <a:spLocks noGrp="1"/>
          </p:cNvSpPr>
          <p:nvPr>
            <p:ph type="title"/>
          </p:nvPr>
        </p:nvSpPr>
        <p:spPr/>
        <p:txBody>
          <a:bodyPr/>
          <a:lstStyle/>
          <a:p>
            <a:r>
              <a:rPr kumimoji="1" lang="en-US" altLang="zh-CN" dirty="0"/>
              <a:t>Outline</a:t>
            </a:r>
            <a:endParaRPr kumimoji="1" lang="zh-CN" altLang="en-US" dirty="0"/>
          </a:p>
        </p:txBody>
      </p:sp>
      <p:sp>
        <p:nvSpPr>
          <p:cNvPr id="3" name="内容占位符 2">
            <a:extLst>
              <a:ext uri="{FF2B5EF4-FFF2-40B4-BE49-F238E27FC236}">
                <a16:creationId xmlns:a16="http://schemas.microsoft.com/office/drawing/2014/main" id="{FE6A20EA-FD4D-1E44-920D-7EC0B1C618BC}"/>
              </a:ext>
            </a:extLst>
          </p:cNvPr>
          <p:cNvSpPr>
            <a:spLocks noGrp="1"/>
          </p:cNvSpPr>
          <p:nvPr>
            <p:ph idx="1"/>
          </p:nvPr>
        </p:nvSpPr>
        <p:spPr/>
        <p:txBody>
          <a:bodyPr/>
          <a:lstStyle/>
          <a:p>
            <a:r>
              <a:rPr kumimoji="1" lang="en-US" altLang="zh-CN" sz="2400" dirty="0">
                <a:latin typeface="Helvetica" pitchFamily="2" charset="0"/>
              </a:rPr>
              <a:t>Background</a:t>
            </a:r>
          </a:p>
          <a:p>
            <a:endParaRPr kumimoji="1" lang="en-US" altLang="zh-CN" sz="2400" dirty="0">
              <a:latin typeface="Helvetica" pitchFamily="2" charset="0"/>
            </a:endParaRPr>
          </a:p>
          <a:p>
            <a:r>
              <a:rPr kumimoji="1" lang="en-US" altLang="zh-CN" sz="2400" dirty="0">
                <a:latin typeface="Helvetica" pitchFamily="2" charset="0"/>
              </a:rPr>
              <a:t>Approach</a:t>
            </a:r>
          </a:p>
          <a:p>
            <a:endParaRPr kumimoji="1" lang="en-US" altLang="zh-CN" sz="2400" dirty="0">
              <a:latin typeface="Helvetica" pitchFamily="2" charset="0"/>
            </a:endParaRPr>
          </a:p>
          <a:p>
            <a:r>
              <a:rPr kumimoji="1" lang="en-US" altLang="zh-CN" sz="2400" dirty="0">
                <a:latin typeface="Helvetica" pitchFamily="2" charset="0"/>
              </a:rPr>
              <a:t>Evaluation</a:t>
            </a:r>
          </a:p>
          <a:p>
            <a:endParaRPr kumimoji="1" lang="en-US" altLang="zh-CN" sz="2400" dirty="0">
              <a:latin typeface="Helvetica" pitchFamily="2" charset="0"/>
            </a:endParaRPr>
          </a:p>
          <a:p>
            <a:r>
              <a:rPr kumimoji="1" lang="en-US" altLang="zh-CN" sz="2400" dirty="0">
                <a:latin typeface="Helvetica" pitchFamily="2" charset="0"/>
              </a:rPr>
              <a:t>Summary</a:t>
            </a:r>
            <a:endParaRPr kumimoji="1" lang="en-US" altLang="zh-CN" sz="2000" dirty="0">
              <a:latin typeface="Helvetica" pitchFamily="2" charset="0"/>
            </a:endParaRPr>
          </a:p>
          <a:p>
            <a:endParaRPr kumimoji="1" lang="zh-CN" altLang="en-US" dirty="0"/>
          </a:p>
        </p:txBody>
      </p:sp>
      <p:sp>
        <p:nvSpPr>
          <p:cNvPr id="4" name="灯片编号占位符 3">
            <a:extLst>
              <a:ext uri="{FF2B5EF4-FFF2-40B4-BE49-F238E27FC236}">
                <a16:creationId xmlns:a16="http://schemas.microsoft.com/office/drawing/2014/main" id="{9D691DFA-AB74-724B-813E-746101A31946}"/>
              </a:ext>
            </a:extLst>
          </p:cNvPr>
          <p:cNvSpPr>
            <a:spLocks noGrp="1"/>
          </p:cNvSpPr>
          <p:nvPr>
            <p:ph type="sldNum" sz="quarter" idx="12"/>
          </p:nvPr>
        </p:nvSpPr>
        <p:spPr>
          <a:xfrm>
            <a:off x="8610600" y="6356350"/>
            <a:ext cx="2743200" cy="365125"/>
          </a:xfrm>
        </p:spPr>
        <p:txBody>
          <a:bodyPr/>
          <a:lstStyle/>
          <a:p>
            <a:fld id="{C53D9380-AD50-0C4E-BD20-74B8F0FD34CE}" type="slidenum">
              <a:rPr kumimoji="1" lang="zh-CN" altLang="en-US" smtClean="0"/>
              <a:t>2</a:t>
            </a:fld>
            <a:endParaRPr kumimoji="1" lang="zh-CN" altLang="en-US" dirty="0"/>
          </a:p>
        </p:txBody>
      </p:sp>
    </p:spTree>
    <p:extLst>
      <p:ext uri="{BB962C8B-B14F-4D97-AF65-F5344CB8AC3E}">
        <p14:creationId xmlns:p14="http://schemas.microsoft.com/office/powerpoint/2010/main" val="451117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F78AC2-8293-AC4C-A1C0-1B5B50CE04A0}"/>
              </a:ext>
            </a:extLst>
          </p:cNvPr>
          <p:cNvSpPr>
            <a:spLocks noGrp="1"/>
          </p:cNvSpPr>
          <p:nvPr>
            <p:ph type="title"/>
          </p:nvPr>
        </p:nvSpPr>
        <p:spPr/>
        <p:txBody>
          <a:bodyPr/>
          <a:lstStyle/>
          <a:p>
            <a:r>
              <a:rPr kumimoji="1" lang="en-US" altLang="zh-CN" dirty="0"/>
              <a:t>A Broad Range of Software Bugs</a:t>
            </a:r>
            <a:endParaRPr kumimoji="1" lang="zh-CN" altLang="en-US" dirty="0"/>
          </a:p>
        </p:txBody>
      </p:sp>
      <p:pic>
        <p:nvPicPr>
          <p:cNvPr id="5" name="图片 4">
            <a:extLst>
              <a:ext uri="{FF2B5EF4-FFF2-40B4-BE49-F238E27FC236}">
                <a16:creationId xmlns:a16="http://schemas.microsoft.com/office/drawing/2014/main" id="{159172D8-C071-9F4A-A9EA-5CFD11BB72A7}"/>
              </a:ext>
            </a:extLst>
          </p:cNvPr>
          <p:cNvPicPr>
            <a:picLocks noChangeAspect="1"/>
          </p:cNvPicPr>
          <p:nvPr/>
        </p:nvPicPr>
        <p:blipFill>
          <a:blip r:embed="rId3"/>
          <a:stretch>
            <a:fillRect/>
          </a:stretch>
        </p:blipFill>
        <p:spPr>
          <a:xfrm>
            <a:off x="563880" y="1825625"/>
            <a:ext cx="11062946" cy="4351338"/>
          </a:xfrm>
          <a:prstGeom prst="rect">
            <a:avLst/>
          </a:prstGeom>
        </p:spPr>
      </p:pic>
      <p:sp>
        <p:nvSpPr>
          <p:cNvPr id="6" name="灯片编号占位符 3">
            <a:extLst>
              <a:ext uri="{FF2B5EF4-FFF2-40B4-BE49-F238E27FC236}">
                <a16:creationId xmlns:a16="http://schemas.microsoft.com/office/drawing/2014/main" id="{84DAAF36-BF0C-354F-B309-2F69911B45FB}"/>
              </a:ext>
            </a:extLst>
          </p:cNvPr>
          <p:cNvSpPr>
            <a:spLocks noGrp="1"/>
          </p:cNvSpPr>
          <p:nvPr>
            <p:ph type="sldNum" sz="quarter" idx="12"/>
          </p:nvPr>
        </p:nvSpPr>
        <p:spPr>
          <a:xfrm>
            <a:off x="8610600" y="6356350"/>
            <a:ext cx="2743200" cy="365125"/>
          </a:xfrm>
        </p:spPr>
        <p:txBody>
          <a:bodyPr/>
          <a:lstStyle/>
          <a:p>
            <a:fld id="{C53D9380-AD50-0C4E-BD20-74B8F0FD34CE}" type="slidenum">
              <a:rPr kumimoji="1" lang="zh-CN" altLang="en-US" smtClean="0"/>
              <a:t>3</a:t>
            </a:fld>
            <a:endParaRPr kumimoji="1" lang="zh-CN" altLang="en-US" dirty="0"/>
          </a:p>
        </p:txBody>
      </p:sp>
    </p:spTree>
    <p:extLst>
      <p:ext uri="{BB962C8B-B14F-4D97-AF65-F5344CB8AC3E}">
        <p14:creationId xmlns:p14="http://schemas.microsoft.com/office/powerpoint/2010/main" val="1050092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F78AC2-8293-AC4C-A1C0-1B5B50CE04A0}"/>
              </a:ext>
            </a:extLst>
          </p:cNvPr>
          <p:cNvSpPr>
            <a:spLocks noGrp="1"/>
          </p:cNvSpPr>
          <p:nvPr>
            <p:ph type="title"/>
          </p:nvPr>
        </p:nvSpPr>
        <p:spPr/>
        <p:txBody>
          <a:bodyPr/>
          <a:lstStyle/>
          <a:p>
            <a:r>
              <a:rPr kumimoji="1" lang="en-US" altLang="zh-CN" dirty="0"/>
              <a:t>Value Flow Problems</a:t>
            </a:r>
            <a:endParaRPr kumimoji="1" lang="zh-CN" altLang="en-US" dirty="0"/>
          </a:p>
        </p:txBody>
      </p:sp>
      <p:sp>
        <p:nvSpPr>
          <p:cNvPr id="3" name="内容占位符 2">
            <a:extLst>
              <a:ext uri="{FF2B5EF4-FFF2-40B4-BE49-F238E27FC236}">
                <a16:creationId xmlns:a16="http://schemas.microsoft.com/office/drawing/2014/main" id="{9B9C67E1-873A-E548-9B0D-3F0827FA0974}"/>
              </a:ext>
            </a:extLst>
          </p:cNvPr>
          <p:cNvSpPr>
            <a:spLocks noGrp="1"/>
          </p:cNvSpPr>
          <p:nvPr>
            <p:ph idx="1"/>
          </p:nvPr>
        </p:nvSpPr>
        <p:spPr/>
        <p:txBody>
          <a:bodyPr/>
          <a:lstStyle/>
          <a:p>
            <a:r>
              <a:rPr kumimoji="1" lang="en-US" altLang="zh-CN" dirty="0">
                <a:latin typeface="Helvetica" pitchFamily="2" charset="0"/>
              </a:rPr>
              <a:t>Value Flow (Data Flow / Data Dependence)</a:t>
            </a: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r>
              <a:rPr kumimoji="1" lang="en-US" altLang="zh-CN" dirty="0">
                <a:latin typeface="Helvetica" pitchFamily="2" charset="0"/>
              </a:rPr>
              <a:t>Value Flow Problems</a:t>
            </a:r>
            <a:endParaRPr kumimoji="1" lang="zh-CN" altLang="en-US" dirty="0">
              <a:latin typeface="Helvetica" pitchFamily="2" charset="0"/>
            </a:endParaRPr>
          </a:p>
        </p:txBody>
      </p:sp>
      <p:sp>
        <p:nvSpPr>
          <p:cNvPr id="5" name="文本框 4">
            <a:extLst>
              <a:ext uri="{FF2B5EF4-FFF2-40B4-BE49-F238E27FC236}">
                <a16:creationId xmlns:a16="http://schemas.microsoft.com/office/drawing/2014/main" id="{00A8E79A-3779-BC47-B5E7-51D3F2FB21D0}"/>
              </a:ext>
            </a:extLst>
          </p:cNvPr>
          <p:cNvSpPr txBox="1"/>
          <p:nvPr/>
        </p:nvSpPr>
        <p:spPr>
          <a:xfrm>
            <a:off x="1676400" y="2679045"/>
            <a:ext cx="8839200" cy="1200329"/>
          </a:xfrm>
          <a:prstGeom prst="rect">
            <a:avLst/>
          </a:prstGeom>
          <a:solidFill>
            <a:schemeClr val="bg1">
              <a:lumMod val="85000"/>
            </a:schemeClr>
          </a:solidFill>
        </p:spPr>
        <p:txBody>
          <a:bodyPr wrap="square" rtlCol="0">
            <a:spAutoFit/>
          </a:bodyPr>
          <a:lstStyle/>
          <a:p>
            <a:r>
              <a:rPr kumimoji="1" lang="en-US" altLang="zh-CN" sz="2400" dirty="0">
                <a:latin typeface="Helvetica" pitchFamily="2" charset="0"/>
              </a:rPr>
              <a:t>We say the </a:t>
            </a:r>
            <a:r>
              <a:rPr kumimoji="1" lang="en-US" altLang="zh-CN" sz="2400" b="1" dirty="0">
                <a:solidFill>
                  <a:srgbClr val="FF0000"/>
                </a:solidFill>
                <a:latin typeface="Helvetica" pitchFamily="2" charset="0"/>
              </a:rPr>
              <a:t>value</a:t>
            </a:r>
            <a:r>
              <a:rPr kumimoji="1" lang="en-US" altLang="zh-CN" sz="2400" dirty="0">
                <a:latin typeface="Helvetica" pitchFamily="2" charset="0"/>
              </a:rPr>
              <a:t> of a variable </a:t>
            </a:r>
            <a:r>
              <a:rPr kumimoji="1" lang="en-US" altLang="zh-CN" sz="2400" b="1" i="1" dirty="0">
                <a:latin typeface="Iowan Old Style Titling" panose="02040602040506020204" pitchFamily="18" charset="0"/>
              </a:rPr>
              <a:t>x</a:t>
            </a:r>
            <a:r>
              <a:rPr kumimoji="1" lang="en-US" altLang="zh-CN" sz="2400" dirty="0">
                <a:latin typeface="Helvetica" pitchFamily="2" charset="0"/>
              </a:rPr>
              <a:t> </a:t>
            </a:r>
            <a:r>
              <a:rPr kumimoji="1" lang="en-US" altLang="zh-CN" sz="2400" b="1" dirty="0">
                <a:solidFill>
                  <a:srgbClr val="FF0000"/>
                </a:solidFill>
                <a:latin typeface="Helvetica" pitchFamily="2" charset="0"/>
              </a:rPr>
              <a:t>flows</a:t>
            </a:r>
            <a:r>
              <a:rPr kumimoji="1" lang="en-US" altLang="zh-CN" sz="2400" dirty="0">
                <a:latin typeface="Helvetica" pitchFamily="2" charset="0"/>
              </a:rPr>
              <a:t> to the other variable </a:t>
            </a:r>
            <a:r>
              <a:rPr kumimoji="1" lang="en-US" altLang="zh-CN" sz="2400" b="1" i="1" dirty="0">
                <a:latin typeface="Iowan Old Style Titling" panose="02040602040506020204" pitchFamily="18" charset="0"/>
              </a:rPr>
              <a:t>y </a:t>
            </a:r>
            <a:r>
              <a:rPr kumimoji="1" lang="en-US" altLang="zh-CN" sz="2400" dirty="0">
                <a:latin typeface="Helvetica" pitchFamily="2" charset="0"/>
              </a:rPr>
              <a:t>if</a:t>
            </a:r>
          </a:p>
          <a:p>
            <a:pPr marL="742950" lvl="1" indent="-285750">
              <a:buFont typeface="Arial" panose="020B0604020202020204" pitchFamily="34" charset="0"/>
              <a:buChar char="•"/>
            </a:pPr>
            <a:r>
              <a:rPr kumimoji="1" lang="en-US" altLang="zh-CN" sz="2400" b="1" i="1" dirty="0">
                <a:latin typeface="Iowan Old Style Titling" panose="02040602040506020204" pitchFamily="18" charset="0"/>
              </a:rPr>
              <a:t>y = x</a:t>
            </a:r>
            <a:r>
              <a:rPr kumimoji="1" lang="en-US" altLang="zh-CN" sz="2400" b="1" dirty="0">
                <a:latin typeface="Iowan Old Style Titling" panose="02040602040506020204" pitchFamily="18" charset="0"/>
              </a:rPr>
              <a:t>;</a:t>
            </a:r>
            <a:endParaRPr kumimoji="1" lang="en-US" altLang="zh-CN" sz="2400" dirty="0">
              <a:latin typeface="Iowan Old Style Titling" panose="02040602040506020204" pitchFamily="18" charset="0"/>
            </a:endParaRPr>
          </a:p>
          <a:p>
            <a:pPr marL="742950" lvl="1" indent="-285750">
              <a:buFont typeface="Arial" panose="020B0604020202020204" pitchFamily="34" charset="0"/>
              <a:buChar char="•"/>
            </a:pPr>
            <a:r>
              <a:rPr kumimoji="1" lang="en-US" altLang="zh-CN" sz="2400" b="1" i="1" dirty="0">
                <a:latin typeface="Iowan Old Style Titling" panose="02040602040506020204" pitchFamily="18" charset="0"/>
              </a:rPr>
              <a:t>*p = x; q = p; y = *q;</a:t>
            </a:r>
            <a:r>
              <a:rPr kumimoji="1" lang="en-US" altLang="zh-CN" sz="2400" dirty="0">
                <a:latin typeface="Helvetica" pitchFamily="2" charset="0"/>
              </a:rPr>
              <a:t>	</a:t>
            </a:r>
            <a:endParaRPr kumimoji="1" lang="zh-CN" altLang="en-US" sz="2400" dirty="0">
              <a:latin typeface="Helvetica" pitchFamily="2" charset="0"/>
            </a:endParaRPr>
          </a:p>
        </p:txBody>
      </p:sp>
      <p:sp>
        <p:nvSpPr>
          <p:cNvPr id="6" name="文本框 5">
            <a:extLst>
              <a:ext uri="{FF2B5EF4-FFF2-40B4-BE49-F238E27FC236}">
                <a16:creationId xmlns:a16="http://schemas.microsoft.com/office/drawing/2014/main" id="{6726FA0C-44EA-5149-97E9-226C12B8053A}"/>
              </a:ext>
            </a:extLst>
          </p:cNvPr>
          <p:cNvSpPr txBox="1"/>
          <p:nvPr/>
        </p:nvSpPr>
        <p:spPr>
          <a:xfrm>
            <a:off x="1676400" y="5111571"/>
            <a:ext cx="8839200" cy="1200329"/>
          </a:xfrm>
          <a:prstGeom prst="rect">
            <a:avLst/>
          </a:prstGeom>
          <a:solidFill>
            <a:schemeClr val="bg1">
              <a:lumMod val="85000"/>
            </a:schemeClr>
          </a:solidFill>
        </p:spPr>
        <p:txBody>
          <a:bodyPr wrap="square" rtlCol="0">
            <a:spAutoFit/>
          </a:bodyPr>
          <a:lstStyle/>
          <a:p>
            <a:r>
              <a:rPr kumimoji="1" lang="en-US" altLang="zh-CN" sz="2400" dirty="0">
                <a:latin typeface="Helvetica" pitchFamily="2" charset="0"/>
              </a:rPr>
              <a:t>An invalid value flows to some sensitive program statements </a:t>
            </a:r>
            <a:endParaRPr kumimoji="1" lang="en-US" altLang="zh-CN" sz="2400" dirty="0">
              <a:latin typeface="Iowan Old Style Titling" panose="02040602040506020204" pitchFamily="18" charset="0"/>
            </a:endParaRPr>
          </a:p>
          <a:p>
            <a:pPr marL="742950" lvl="1" indent="-285750">
              <a:buFont typeface="Arial" panose="020B0604020202020204" pitchFamily="34" charset="0"/>
              <a:buChar char="•"/>
            </a:pPr>
            <a:r>
              <a:rPr kumimoji="1" lang="en-US" altLang="zh-CN" sz="2400" b="1" i="1" dirty="0">
                <a:latin typeface="Iowan Old Style Titling" panose="02040602040506020204" pitchFamily="18" charset="0"/>
              </a:rPr>
              <a:t>p = </a:t>
            </a:r>
            <a:r>
              <a:rPr kumimoji="1" lang="en-US" altLang="zh-CN" sz="2400" b="1" i="1" dirty="0" err="1">
                <a:solidFill>
                  <a:srgbClr val="FF0000"/>
                </a:solidFill>
                <a:latin typeface="Iowan Old Style Titling" panose="02040602040506020204" pitchFamily="18" charset="0"/>
              </a:rPr>
              <a:t>nullptr</a:t>
            </a:r>
            <a:r>
              <a:rPr kumimoji="1" lang="en-US" altLang="zh-CN" sz="2400" b="1" i="1" dirty="0">
                <a:latin typeface="Iowan Old Style Titling" panose="02040602040506020204" pitchFamily="18" charset="0"/>
              </a:rPr>
              <a:t>;</a:t>
            </a:r>
          </a:p>
          <a:p>
            <a:pPr marL="742950" lvl="1" indent="-285750">
              <a:buFont typeface="Arial" panose="020B0604020202020204" pitchFamily="34" charset="0"/>
              <a:buChar char="•"/>
            </a:pPr>
            <a:r>
              <a:rPr kumimoji="1" lang="en-US" altLang="zh-CN" sz="2400" b="1" i="1" dirty="0">
                <a:latin typeface="Iowan Old Style Titling" panose="02040602040506020204" pitchFamily="18" charset="0"/>
              </a:rPr>
              <a:t>q = p; </a:t>
            </a:r>
            <a:r>
              <a:rPr kumimoji="1" lang="en-US" altLang="zh-CN" sz="2400" b="1" i="1" dirty="0">
                <a:solidFill>
                  <a:srgbClr val="FF0000"/>
                </a:solidFill>
                <a:latin typeface="Iowan Old Style Titling" panose="02040602040506020204" pitchFamily="18" charset="0"/>
              </a:rPr>
              <a:t>*q</a:t>
            </a:r>
            <a:r>
              <a:rPr kumimoji="1" lang="en-US" altLang="zh-CN" sz="2400" b="1" i="1" dirty="0">
                <a:latin typeface="Iowan Old Style Titling" panose="02040602040506020204" pitchFamily="18" charset="0"/>
              </a:rPr>
              <a:t> = 2; // null pointer dereference (CWE-476)</a:t>
            </a:r>
            <a:endParaRPr kumimoji="1" lang="zh-CN" altLang="en-US" sz="2400" b="1" i="1" dirty="0">
              <a:latin typeface="Iowan Old Style Titling" panose="02040602040506020204" pitchFamily="18" charset="0"/>
            </a:endParaRPr>
          </a:p>
        </p:txBody>
      </p:sp>
      <p:sp>
        <p:nvSpPr>
          <p:cNvPr id="7" name="灯片编号占位符 3">
            <a:extLst>
              <a:ext uri="{FF2B5EF4-FFF2-40B4-BE49-F238E27FC236}">
                <a16:creationId xmlns:a16="http://schemas.microsoft.com/office/drawing/2014/main" id="{2911AC44-E071-5D45-925D-AE858C8D71D6}"/>
              </a:ext>
            </a:extLst>
          </p:cNvPr>
          <p:cNvSpPr>
            <a:spLocks noGrp="1"/>
          </p:cNvSpPr>
          <p:nvPr>
            <p:ph type="sldNum" sz="quarter" idx="12"/>
          </p:nvPr>
        </p:nvSpPr>
        <p:spPr>
          <a:xfrm>
            <a:off x="8610600" y="6356350"/>
            <a:ext cx="2743200" cy="365125"/>
          </a:xfrm>
        </p:spPr>
        <p:txBody>
          <a:bodyPr/>
          <a:lstStyle/>
          <a:p>
            <a:fld id="{C53D9380-AD50-0C4E-BD20-74B8F0FD34CE}" type="slidenum">
              <a:rPr kumimoji="1" lang="zh-CN" altLang="en-US" smtClean="0"/>
              <a:t>4</a:t>
            </a:fld>
            <a:endParaRPr kumimoji="1" lang="zh-CN" altLang="en-US" dirty="0"/>
          </a:p>
        </p:txBody>
      </p:sp>
    </p:spTree>
    <p:extLst>
      <p:ext uri="{BB962C8B-B14F-4D97-AF65-F5344CB8AC3E}">
        <p14:creationId xmlns:p14="http://schemas.microsoft.com/office/powerpoint/2010/main" val="1174487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F6FCBC-AE91-AE48-841A-95DFADB1FF34}"/>
              </a:ext>
            </a:extLst>
          </p:cNvPr>
          <p:cNvSpPr>
            <a:spLocks noGrp="1"/>
          </p:cNvSpPr>
          <p:nvPr>
            <p:ph type="title"/>
          </p:nvPr>
        </p:nvSpPr>
        <p:spPr>
          <a:xfrm>
            <a:off x="838200" y="365125"/>
            <a:ext cx="10515600" cy="1325563"/>
          </a:xfrm>
        </p:spPr>
        <p:txBody>
          <a:bodyPr/>
          <a:lstStyle/>
          <a:p>
            <a:r>
              <a:rPr lang="en-US" altLang="zh-CN" dirty="0"/>
              <a:t>Value Flow Analysis</a:t>
            </a:r>
            <a:endParaRPr kumimoji="1" lang="zh-CN" altLang="en-US" dirty="0"/>
          </a:p>
        </p:txBody>
      </p:sp>
      <p:pic>
        <p:nvPicPr>
          <p:cNvPr id="4" name="内容占位符 8">
            <a:extLst>
              <a:ext uri="{FF2B5EF4-FFF2-40B4-BE49-F238E27FC236}">
                <a16:creationId xmlns:a16="http://schemas.microsoft.com/office/drawing/2014/main" id="{019D7070-21EC-B943-BEE0-FC0EBB5C1B73}"/>
              </a:ext>
            </a:extLst>
          </p:cNvPr>
          <p:cNvPicPr>
            <a:picLocks noChangeAspect="1"/>
          </p:cNvPicPr>
          <p:nvPr/>
        </p:nvPicPr>
        <p:blipFill>
          <a:blip r:embed="rId3"/>
          <a:stretch>
            <a:fillRect/>
          </a:stretch>
        </p:blipFill>
        <p:spPr>
          <a:xfrm>
            <a:off x="900572" y="1222767"/>
            <a:ext cx="10390855" cy="2731131"/>
          </a:xfrm>
          <a:prstGeom prst="rect">
            <a:avLst/>
          </a:prstGeom>
          <a:solidFill>
            <a:schemeClr val="tx2"/>
          </a:solidFill>
        </p:spPr>
      </p:pic>
      <p:sp>
        <p:nvSpPr>
          <p:cNvPr id="5" name="左中括号 4">
            <a:extLst>
              <a:ext uri="{FF2B5EF4-FFF2-40B4-BE49-F238E27FC236}">
                <a16:creationId xmlns:a16="http://schemas.microsoft.com/office/drawing/2014/main" id="{8CB9C29D-192D-434E-B68E-3E69DAE04C12}"/>
              </a:ext>
            </a:extLst>
          </p:cNvPr>
          <p:cNvSpPr/>
          <p:nvPr/>
        </p:nvSpPr>
        <p:spPr>
          <a:xfrm rot="16200000">
            <a:off x="4386090" y="587516"/>
            <a:ext cx="116108" cy="6968048"/>
          </a:xfrm>
          <a:prstGeom prst="leftBracket">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200">
              <a:latin typeface="Gill Sans MT" panose="020B0502020104020203" pitchFamily="34" charset="0"/>
            </a:endParaRPr>
          </a:p>
        </p:txBody>
      </p:sp>
      <p:sp>
        <p:nvSpPr>
          <p:cNvPr id="6" name="左中括号 5">
            <a:extLst>
              <a:ext uri="{FF2B5EF4-FFF2-40B4-BE49-F238E27FC236}">
                <a16:creationId xmlns:a16="http://schemas.microsoft.com/office/drawing/2014/main" id="{DE518422-B4B0-4645-AAA9-B9B93162C211}"/>
              </a:ext>
            </a:extLst>
          </p:cNvPr>
          <p:cNvSpPr/>
          <p:nvPr/>
        </p:nvSpPr>
        <p:spPr>
          <a:xfrm rot="16200000">
            <a:off x="9569742" y="2373247"/>
            <a:ext cx="114774" cy="3397920"/>
          </a:xfrm>
          <a:prstGeom prst="leftBracket">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200">
              <a:latin typeface="Gill Sans MT" panose="020B0502020104020203" pitchFamily="34" charset="0"/>
            </a:endParaRPr>
          </a:p>
        </p:txBody>
      </p:sp>
      <p:sp>
        <p:nvSpPr>
          <p:cNvPr id="7" name="文本框 6">
            <a:extLst>
              <a:ext uri="{FF2B5EF4-FFF2-40B4-BE49-F238E27FC236}">
                <a16:creationId xmlns:a16="http://schemas.microsoft.com/office/drawing/2014/main" id="{248E53E8-C935-5F4D-A012-E36BD1FCA4E1}"/>
              </a:ext>
            </a:extLst>
          </p:cNvPr>
          <p:cNvSpPr txBox="1"/>
          <p:nvPr/>
        </p:nvSpPr>
        <p:spPr>
          <a:xfrm>
            <a:off x="1856864" y="4330316"/>
            <a:ext cx="5174558" cy="646331"/>
          </a:xfrm>
          <a:prstGeom prst="rect">
            <a:avLst/>
          </a:prstGeom>
          <a:noFill/>
        </p:spPr>
        <p:txBody>
          <a:bodyPr wrap="none" rtlCol="0">
            <a:spAutoFit/>
          </a:bodyPr>
          <a:lstStyle/>
          <a:p>
            <a:pPr algn="ctr"/>
            <a:r>
              <a:rPr kumimoji="1" lang="en-US" altLang="zh-CN" i="1" dirty="0">
                <a:latin typeface="Gill Sans MT" panose="020B0502020104020203" pitchFamily="34" charset="0"/>
              </a:rPr>
              <a:t>Build Precise Value-Flow Graph (Data Dependence Graph)</a:t>
            </a:r>
          </a:p>
          <a:p>
            <a:pPr algn="ctr"/>
            <a:r>
              <a:rPr kumimoji="1" lang="en-US" altLang="zh-CN" i="1" dirty="0">
                <a:latin typeface="Gill Sans MT" panose="020B0502020104020203" pitchFamily="34" charset="0"/>
              </a:rPr>
              <a:t>[Qingkai Shi, et al, PLDI 2018]</a:t>
            </a:r>
            <a:endParaRPr kumimoji="1" lang="zh-CN" altLang="en-US" i="1" dirty="0">
              <a:latin typeface="Gill Sans MT" panose="020B0502020104020203" pitchFamily="34" charset="0"/>
            </a:endParaRPr>
          </a:p>
        </p:txBody>
      </p:sp>
      <p:sp>
        <p:nvSpPr>
          <p:cNvPr id="10" name="文本框 9">
            <a:extLst>
              <a:ext uri="{FF2B5EF4-FFF2-40B4-BE49-F238E27FC236}">
                <a16:creationId xmlns:a16="http://schemas.microsoft.com/office/drawing/2014/main" id="{06BDF214-1508-CD47-A4A0-4864423CB38A}"/>
              </a:ext>
            </a:extLst>
          </p:cNvPr>
          <p:cNvSpPr txBox="1"/>
          <p:nvPr/>
        </p:nvSpPr>
        <p:spPr>
          <a:xfrm>
            <a:off x="8018255" y="4330316"/>
            <a:ext cx="3336491" cy="1754326"/>
          </a:xfrm>
          <a:prstGeom prst="rect">
            <a:avLst/>
          </a:prstGeom>
          <a:noFill/>
        </p:spPr>
        <p:txBody>
          <a:bodyPr wrap="none" rtlCol="0">
            <a:spAutoFit/>
          </a:bodyPr>
          <a:lstStyle/>
          <a:p>
            <a:pPr algn="ctr"/>
            <a:r>
              <a:rPr kumimoji="1" lang="en-US" altLang="zh-CN" b="1" i="1" dirty="0">
                <a:latin typeface="Gill Sans MT" panose="020B0502020104020203" pitchFamily="34" charset="0"/>
              </a:rPr>
              <a:t>Checking Multiple Bugs</a:t>
            </a:r>
          </a:p>
          <a:p>
            <a:pPr algn="ctr"/>
            <a:r>
              <a:rPr kumimoji="1" lang="en-US" altLang="zh-CN" b="1" i="1" dirty="0">
                <a:latin typeface="Gill Sans MT" panose="020B0502020104020203" pitchFamily="34" charset="0"/>
              </a:rPr>
              <a:t>[Qingkai Shi, et al, ICSE 2020a]</a:t>
            </a:r>
          </a:p>
          <a:p>
            <a:pPr algn="ctr"/>
            <a:endParaRPr kumimoji="1" lang="en-US" altLang="zh-CN" i="1" dirty="0">
              <a:latin typeface="Gill Sans MT" panose="020B0502020104020203" pitchFamily="34" charset="0"/>
            </a:endParaRPr>
          </a:p>
          <a:p>
            <a:pPr algn="ctr"/>
            <a:endParaRPr kumimoji="1" lang="en-US" altLang="zh-CN" i="1" dirty="0">
              <a:latin typeface="Gill Sans MT" panose="020B0502020104020203" pitchFamily="34" charset="0"/>
            </a:endParaRPr>
          </a:p>
          <a:p>
            <a:pPr algn="ctr"/>
            <a:r>
              <a:rPr kumimoji="1" lang="en-US" altLang="zh-CN" i="1" dirty="0">
                <a:latin typeface="Gill Sans MT" panose="020B0502020104020203" pitchFamily="34" charset="0"/>
              </a:rPr>
              <a:t>Checking Bugs in Parallel</a:t>
            </a:r>
          </a:p>
          <a:p>
            <a:pPr algn="ctr"/>
            <a:r>
              <a:rPr kumimoji="1" lang="en-US" altLang="zh-CN" i="1" dirty="0">
                <a:latin typeface="Gill Sans MT" panose="020B0502020104020203" pitchFamily="34" charset="0"/>
              </a:rPr>
              <a:t>[Qingkai Shi, et al, ICSE 2020b]</a:t>
            </a:r>
          </a:p>
        </p:txBody>
      </p:sp>
      <p:sp>
        <p:nvSpPr>
          <p:cNvPr id="24" name="灯片编号占位符 3">
            <a:extLst>
              <a:ext uri="{FF2B5EF4-FFF2-40B4-BE49-F238E27FC236}">
                <a16:creationId xmlns:a16="http://schemas.microsoft.com/office/drawing/2014/main" id="{545ECC38-5F11-104D-8C17-E03EE15866A5}"/>
              </a:ext>
            </a:extLst>
          </p:cNvPr>
          <p:cNvSpPr>
            <a:spLocks noGrp="1"/>
          </p:cNvSpPr>
          <p:nvPr>
            <p:ph type="sldNum" sz="quarter" idx="12"/>
          </p:nvPr>
        </p:nvSpPr>
        <p:spPr>
          <a:xfrm>
            <a:off x="8610600" y="6356350"/>
            <a:ext cx="2743200" cy="365125"/>
          </a:xfrm>
        </p:spPr>
        <p:txBody>
          <a:bodyPr/>
          <a:lstStyle/>
          <a:p>
            <a:fld id="{C53D9380-AD50-0C4E-BD20-74B8F0FD34CE}" type="slidenum">
              <a:rPr kumimoji="1" lang="zh-CN" altLang="en-US" smtClean="0"/>
              <a:t>5</a:t>
            </a:fld>
            <a:endParaRPr kumimoji="1" lang="zh-CN" altLang="en-US" dirty="0"/>
          </a:p>
        </p:txBody>
      </p:sp>
      <p:grpSp>
        <p:nvGrpSpPr>
          <p:cNvPr id="9" name="组合 8">
            <a:extLst>
              <a:ext uri="{FF2B5EF4-FFF2-40B4-BE49-F238E27FC236}">
                <a16:creationId xmlns:a16="http://schemas.microsoft.com/office/drawing/2014/main" id="{DADBBCAA-394B-1D43-BEB2-6A0F37C971E8}"/>
              </a:ext>
            </a:extLst>
          </p:cNvPr>
          <p:cNvGrpSpPr/>
          <p:nvPr/>
        </p:nvGrpSpPr>
        <p:grpSpPr>
          <a:xfrm>
            <a:off x="1500905" y="5256881"/>
            <a:ext cx="5656217" cy="1314871"/>
            <a:chOff x="1593669" y="5177369"/>
            <a:chExt cx="5656217" cy="1314871"/>
          </a:xfrm>
        </p:grpSpPr>
        <p:grpSp>
          <p:nvGrpSpPr>
            <p:cNvPr id="11" name="组合 10">
              <a:extLst>
                <a:ext uri="{FF2B5EF4-FFF2-40B4-BE49-F238E27FC236}">
                  <a16:creationId xmlns:a16="http://schemas.microsoft.com/office/drawing/2014/main" id="{35CC9F57-A9B4-A24C-BDF2-A0CA86958495}"/>
                </a:ext>
              </a:extLst>
            </p:cNvPr>
            <p:cNvGrpSpPr/>
            <p:nvPr/>
          </p:nvGrpSpPr>
          <p:grpSpPr>
            <a:xfrm>
              <a:off x="1846226" y="5243218"/>
              <a:ext cx="5195833" cy="1128852"/>
              <a:chOff x="1411390" y="5570251"/>
              <a:chExt cx="5195833" cy="1128852"/>
            </a:xfrm>
          </p:grpSpPr>
          <p:sp>
            <p:nvSpPr>
              <p:cNvPr id="13" name="矩形 12">
                <a:extLst>
                  <a:ext uri="{FF2B5EF4-FFF2-40B4-BE49-F238E27FC236}">
                    <a16:creationId xmlns:a16="http://schemas.microsoft.com/office/drawing/2014/main" id="{5454B297-4B69-3B46-AD7B-EEE24760F604}"/>
                  </a:ext>
                </a:extLst>
              </p:cNvPr>
              <p:cNvSpPr/>
              <p:nvPr/>
            </p:nvSpPr>
            <p:spPr>
              <a:xfrm>
                <a:off x="1411390" y="5626846"/>
                <a:ext cx="2590800" cy="1015663"/>
              </a:xfrm>
              <a:prstGeom prst="rect">
                <a:avLst/>
              </a:prstGeom>
            </p:spPr>
            <p:txBody>
              <a:bodyPr wrap="square">
                <a:spAutoFit/>
              </a:bodyPr>
              <a:lstStyle/>
              <a:p>
                <a:pPr marL="285750" indent="-285750">
                  <a:buClr>
                    <a:schemeClr val="tx1"/>
                  </a:buClr>
                  <a:buFont typeface="Arial" panose="020B0604020202020204" pitchFamily="34" charset="0"/>
                  <a:buChar char="•"/>
                </a:pPr>
                <a:r>
                  <a:rPr kumimoji="1" lang="en-US" altLang="zh-CN" sz="2000" b="1" i="1" dirty="0">
                    <a:latin typeface="Iowan Old Style Titling" panose="02040602040506020204" pitchFamily="18" charset="0"/>
                  </a:rPr>
                  <a:t>p = </a:t>
                </a:r>
                <a:r>
                  <a:rPr kumimoji="1" lang="en-US" altLang="zh-CN" sz="2000" b="1" i="1" dirty="0" err="1">
                    <a:solidFill>
                      <a:srgbClr val="FF0000"/>
                    </a:solidFill>
                    <a:latin typeface="Iowan Old Style Titling" panose="02040602040506020204" pitchFamily="18" charset="0"/>
                  </a:rPr>
                  <a:t>nullptr</a:t>
                </a:r>
                <a:r>
                  <a:rPr kumimoji="1" lang="en-US" altLang="zh-CN" sz="2000" b="1" i="1" dirty="0">
                    <a:latin typeface="Iowan Old Style Titling" panose="02040602040506020204" pitchFamily="18" charset="0"/>
                  </a:rPr>
                  <a:t>;</a:t>
                </a:r>
              </a:p>
              <a:p>
                <a:pPr marL="285750" indent="-285750">
                  <a:buClr>
                    <a:schemeClr val="tx1"/>
                  </a:buClr>
                  <a:buFont typeface="Arial" panose="020B0604020202020204" pitchFamily="34" charset="0"/>
                  <a:buChar char="•"/>
                </a:pPr>
                <a:r>
                  <a:rPr kumimoji="1" lang="en-US" altLang="zh-CN" sz="2000" b="1" i="1" dirty="0">
                    <a:latin typeface="Iowan Old Style Titling" panose="02040602040506020204" pitchFamily="18" charset="0"/>
                  </a:rPr>
                  <a:t>q = p; </a:t>
                </a:r>
              </a:p>
              <a:p>
                <a:pPr marL="285750" indent="-285750">
                  <a:buClr>
                    <a:schemeClr val="tx1"/>
                  </a:buClr>
                  <a:buFont typeface="Arial" panose="020B0604020202020204" pitchFamily="34" charset="0"/>
                  <a:buChar char="•"/>
                </a:pPr>
                <a:r>
                  <a:rPr kumimoji="1" lang="en-US" altLang="zh-CN" sz="2000" b="1" i="1" dirty="0">
                    <a:solidFill>
                      <a:srgbClr val="FF0000"/>
                    </a:solidFill>
                    <a:latin typeface="Iowan Old Style Titling" panose="02040602040506020204" pitchFamily="18" charset="0"/>
                  </a:rPr>
                  <a:t>*q</a:t>
                </a:r>
                <a:r>
                  <a:rPr kumimoji="1" lang="en-US" altLang="zh-CN" sz="2000" b="1" i="1" dirty="0">
                    <a:latin typeface="Iowan Old Style Titling" panose="02040602040506020204" pitchFamily="18" charset="0"/>
                  </a:rPr>
                  <a:t> = 2; </a:t>
                </a:r>
                <a:endParaRPr lang="zh-CN" altLang="en-US" sz="1600" dirty="0"/>
              </a:p>
            </p:txBody>
          </p:sp>
          <p:grpSp>
            <p:nvGrpSpPr>
              <p:cNvPr id="14" name="组合 13">
                <a:extLst>
                  <a:ext uri="{FF2B5EF4-FFF2-40B4-BE49-F238E27FC236}">
                    <a16:creationId xmlns:a16="http://schemas.microsoft.com/office/drawing/2014/main" id="{E64C46B9-7A31-E54A-AB40-3D048B53882C}"/>
                  </a:ext>
                </a:extLst>
              </p:cNvPr>
              <p:cNvGrpSpPr/>
              <p:nvPr/>
            </p:nvGrpSpPr>
            <p:grpSpPr>
              <a:xfrm>
                <a:off x="4002190" y="5570251"/>
                <a:ext cx="2605033" cy="1128852"/>
                <a:chOff x="3051481" y="5539958"/>
                <a:chExt cx="2605033" cy="1128852"/>
              </a:xfrm>
            </p:grpSpPr>
            <p:sp>
              <p:nvSpPr>
                <p:cNvPr id="15" name="椭圆 14">
                  <a:extLst>
                    <a:ext uri="{FF2B5EF4-FFF2-40B4-BE49-F238E27FC236}">
                      <a16:creationId xmlns:a16="http://schemas.microsoft.com/office/drawing/2014/main" id="{7EB272C9-96B3-ED4E-9517-5E73D28C956D}"/>
                    </a:ext>
                  </a:extLst>
                </p:cNvPr>
                <p:cNvSpPr/>
                <p:nvPr/>
              </p:nvSpPr>
              <p:spPr>
                <a:xfrm>
                  <a:off x="4663387" y="5692046"/>
                  <a:ext cx="91440" cy="91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a:extLst>
                    <a:ext uri="{FF2B5EF4-FFF2-40B4-BE49-F238E27FC236}">
                      <a16:creationId xmlns:a16="http://schemas.microsoft.com/office/drawing/2014/main" id="{FA0B1A6B-B684-4E42-8546-2E18F6CC5BB3}"/>
                    </a:ext>
                  </a:extLst>
                </p:cNvPr>
                <p:cNvSpPr/>
                <p:nvPr/>
              </p:nvSpPr>
              <p:spPr>
                <a:xfrm>
                  <a:off x="3970358" y="5693609"/>
                  <a:ext cx="91440" cy="91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a:extLst>
                    <a:ext uri="{FF2B5EF4-FFF2-40B4-BE49-F238E27FC236}">
                      <a16:creationId xmlns:a16="http://schemas.microsoft.com/office/drawing/2014/main" id="{0B03AAC6-8A1D-554C-8C10-C122CCDED166}"/>
                    </a:ext>
                  </a:extLst>
                </p:cNvPr>
                <p:cNvSpPr/>
                <p:nvPr/>
              </p:nvSpPr>
              <p:spPr>
                <a:xfrm>
                  <a:off x="3970358" y="6059658"/>
                  <a:ext cx="91440" cy="91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a:extLst>
                    <a:ext uri="{FF2B5EF4-FFF2-40B4-BE49-F238E27FC236}">
                      <a16:creationId xmlns:a16="http://schemas.microsoft.com/office/drawing/2014/main" id="{B3DABE43-032A-1142-9D24-734E690BA157}"/>
                    </a:ext>
                  </a:extLst>
                </p:cNvPr>
                <p:cNvSpPr/>
                <p:nvPr/>
              </p:nvSpPr>
              <p:spPr>
                <a:xfrm>
                  <a:off x="3970358" y="6425707"/>
                  <a:ext cx="91440" cy="91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9" name="直线箭头连接符 18">
                  <a:extLst>
                    <a:ext uri="{FF2B5EF4-FFF2-40B4-BE49-F238E27FC236}">
                      <a16:creationId xmlns:a16="http://schemas.microsoft.com/office/drawing/2014/main" id="{1F07E5A4-BB22-A649-A74B-1C40BB4361C3}"/>
                    </a:ext>
                  </a:extLst>
                </p:cNvPr>
                <p:cNvCxnSpPr>
                  <a:cxnSpLocks/>
                  <a:stCxn id="15" idx="2"/>
                  <a:endCxn id="16" idx="6"/>
                </p:cNvCxnSpPr>
                <p:nvPr/>
              </p:nvCxnSpPr>
              <p:spPr>
                <a:xfrm flipH="1">
                  <a:off x="4061798" y="5737766"/>
                  <a:ext cx="601589" cy="1563"/>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0" name="直线箭头连接符 19">
                  <a:extLst>
                    <a:ext uri="{FF2B5EF4-FFF2-40B4-BE49-F238E27FC236}">
                      <a16:creationId xmlns:a16="http://schemas.microsoft.com/office/drawing/2014/main" id="{E0C08F8F-61CA-7A40-B117-FFD6934EFA5F}"/>
                    </a:ext>
                  </a:extLst>
                </p:cNvPr>
                <p:cNvCxnSpPr>
                  <a:cxnSpLocks/>
                  <a:stCxn id="16" idx="4"/>
                  <a:endCxn id="17" idx="0"/>
                </p:cNvCxnSpPr>
                <p:nvPr/>
              </p:nvCxnSpPr>
              <p:spPr>
                <a:xfrm>
                  <a:off x="4016078" y="5785049"/>
                  <a:ext cx="0" cy="274609"/>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6FDFCC80-F22A-D94D-9A07-F0B9E3CE835D}"/>
                    </a:ext>
                  </a:extLst>
                </p:cNvPr>
                <p:cNvCxnSpPr>
                  <a:cxnSpLocks/>
                  <a:stCxn id="17" idx="4"/>
                  <a:endCxn id="18" idx="0"/>
                </p:cNvCxnSpPr>
                <p:nvPr/>
              </p:nvCxnSpPr>
              <p:spPr>
                <a:xfrm>
                  <a:off x="4016078" y="6151098"/>
                  <a:ext cx="0" cy="274609"/>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70FE3FCC-5514-FA4E-AB9C-28CB9A803F9D}"/>
                    </a:ext>
                  </a:extLst>
                </p:cNvPr>
                <p:cNvSpPr/>
                <p:nvPr/>
              </p:nvSpPr>
              <p:spPr>
                <a:xfrm>
                  <a:off x="4780953" y="5539958"/>
                  <a:ext cx="875561" cy="369332"/>
                </a:xfrm>
                <a:prstGeom prst="rect">
                  <a:avLst/>
                </a:prstGeom>
              </p:spPr>
              <p:txBody>
                <a:bodyPr wrap="none">
                  <a:spAutoFit/>
                </a:bodyPr>
                <a:lstStyle/>
                <a:p>
                  <a:r>
                    <a:rPr kumimoji="1" lang="en-US" altLang="zh-CN" b="1" i="1" dirty="0" err="1">
                      <a:solidFill>
                        <a:srgbClr val="FF0000"/>
                      </a:solidFill>
                      <a:latin typeface="Iowan Old Style Titling" panose="02040602040506020204" pitchFamily="18" charset="0"/>
                    </a:rPr>
                    <a:t>nullptr</a:t>
                  </a:r>
                  <a:endParaRPr lang="zh-CN" altLang="en-US" dirty="0"/>
                </a:p>
              </p:txBody>
            </p:sp>
            <p:sp>
              <p:nvSpPr>
                <p:cNvPr id="23" name="矩形 22">
                  <a:extLst>
                    <a:ext uri="{FF2B5EF4-FFF2-40B4-BE49-F238E27FC236}">
                      <a16:creationId xmlns:a16="http://schemas.microsoft.com/office/drawing/2014/main" id="{0D9D6590-35AF-6045-9D24-1A5B90B240AD}"/>
                    </a:ext>
                  </a:extLst>
                </p:cNvPr>
                <p:cNvSpPr/>
                <p:nvPr/>
              </p:nvSpPr>
              <p:spPr>
                <a:xfrm>
                  <a:off x="3618144" y="5539958"/>
                  <a:ext cx="306494" cy="369332"/>
                </a:xfrm>
                <a:prstGeom prst="rect">
                  <a:avLst/>
                </a:prstGeom>
              </p:spPr>
              <p:txBody>
                <a:bodyPr wrap="none">
                  <a:spAutoFit/>
                </a:bodyPr>
                <a:lstStyle/>
                <a:p>
                  <a:r>
                    <a:rPr kumimoji="1" lang="en-US" altLang="zh-CN" b="1" i="1" dirty="0">
                      <a:latin typeface="Iowan Old Style Titling" panose="02040602040506020204" pitchFamily="18" charset="0"/>
                    </a:rPr>
                    <a:t>p</a:t>
                  </a:r>
                  <a:endParaRPr lang="zh-CN" altLang="en-US" dirty="0"/>
                </a:p>
              </p:txBody>
            </p:sp>
            <p:sp>
              <p:nvSpPr>
                <p:cNvPr id="25" name="矩形 24">
                  <a:extLst>
                    <a:ext uri="{FF2B5EF4-FFF2-40B4-BE49-F238E27FC236}">
                      <a16:creationId xmlns:a16="http://schemas.microsoft.com/office/drawing/2014/main" id="{B9E2BE55-CF25-E44A-B9C0-31C940F3CFE7}"/>
                    </a:ext>
                  </a:extLst>
                </p:cNvPr>
                <p:cNvSpPr/>
                <p:nvPr/>
              </p:nvSpPr>
              <p:spPr>
                <a:xfrm>
                  <a:off x="3619747" y="5909290"/>
                  <a:ext cx="303288" cy="369332"/>
                </a:xfrm>
                <a:prstGeom prst="rect">
                  <a:avLst/>
                </a:prstGeom>
              </p:spPr>
              <p:txBody>
                <a:bodyPr wrap="none">
                  <a:spAutoFit/>
                </a:bodyPr>
                <a:lstStyle/>
                <a:p>
                  <a:r>
                    <a:rPr kumimoji="1" lang="en-US" altLang="zh-CN" b="1" i="1" dirty="0">
                      <a:latin typeface="Iowan Old Style Titling" panose="02040602040506020204" pitchFamily="18" charset="0"/>
                    </a:rPr>
                    <a:t>q</a:t>
                  </a:r>
                  <a:endParaRPr lang="zh-CN" altLang="en-US" dirty="0"/>
                </a:p>
              </p:txBody>
            </p:sp>
            <p:sp>
              <p:nvSpPr>
                <p:cNvPr id="26" name="矩形 25">
                  <a:extLst>
                    <a:ext uri="{FF2B5EF4-FFF2-40B4-BE49-F238E27FC236}">
                      <a16:creationId xmlns:a16="http://schemas.microsoft.com/office/drawing/2014/main" id="{47F45C47-3BA1-A843-B8C2-44F3204205BD}"/>
                    </a:ext>
                  </a:extLst>
                </p:cNvPr>
                <p:cNvSpPr/>
                <p:nvPr/>
              </p:nvSpPr>
              <p:spPr>
                <a:xfrm>
                  <a:off x="3051481" y="6299478"/>
                  <a:ext cx="872355" cy="369332"/>
                </a:xfrm>
                <a:prstGeom prst="rect">
                  <a:avLst/>
                </a:prstGeom>
              </p:spPr>
              <p:txBody>
                <a:bodyPr wrap="none">
                  <a:spAutoFit/>
                </a:bodyPr>
                <a:lstStyle/>
                <a:p>
                  <a:r>
                    <a:rPr kumimoji="1" lang="en-US" altLang="zh-CN" b="1" i="1" dirty="0">
                      <a:solidFill>
                        <a:srgbClr val="FF0000"/>
                      </a:solidFill>
                      <a:latin typeface="Iowan Old Style Titling" panose="02040602040506020204" pitchFamily="18" charset="0"/>
                    </a:rPr>
                    <a:t>*q</a:t>
                  </a:r>
                  <a:r>
                    <a:rPr kumimoji="1" lang="en-US" altLang="zh-CN" b="1" i="1" dirty="0">
                      <a:latin typeface="Iowan Old Style Titling" panose="02040602040506020204" pitchFamily="18" charset="0"/>
                    </a:rPr>
                    <a:t> = 2</a:t>
                  </a:r>
                  <a:endParaRPr lang="zh-CN" altLang="en-US" dirty="0"/>
                </a:p>
              </p:txBody>
            </p:sp>
          </p:grpSp>
        </p:grpSp>
        <p:sp>
          <p:nvSpPr>
            <p:cNvPr id="12" name="矩形 11">
              <a:extLst>
                <a:ext uri="{FF2B5EF4-FFF2-40B4-BE49-F238E27FC236}">
                  <a16:creationId xmlns:a16="http://schemas.microsoft.com/office/drawing/2014/main" id="{E616669C-00F9-074C-8685-8468862C0186}"/>
                </a:ext>
              </a:extLst>
            </p:cNvPr>
            <p:cNvSpPr/>
            <p:nvPr/>
          </p:nvSpPr>
          <p:spPr>
            <a:xfrm>
              <a:off x="1593669" y="5177369"/>
              <a:ext cx="5656217" cy="131487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7" name="任意形状 26">
            <a:extLst>
              <a:ext uri="{FF2B5EF4-FFF2-40B4-BE49-F238E27FC236}">
                <a16:creationId xmlns:a16="http://schemas.microsoft.com/office/drawing/2014/main" id="{E015FBE3-6DDA-CD41-9270-6B14398E5D65}"/>
              </a:ext>
            </a:extLst>
          </p:cNvPr>
          <p:cNvSpPr/>
          <p:nvPr/>
        </p:nvSpPr>
        <p:spPr>
          <a:xfrm>
            <a:off x="5486400" y="5679194"/>
            <a:ext cx="991892" cy="628616"/>
          </a:xfrm>
          <a:custGeom>
            <a:avLst/>
            <a:gdLst>
              <a:gd name="connsiteX0" fmla="*/ 991892 w 991892"/>
              <a:gd name="connsiteY0" fmla="*/ 55179 h 628616"/>
              <a:gd name="connsiteX1" fmla="*/ 216976 w 991892"/>
              <a:gd name="connsiteY1" fmla="*/ 55179 h 628616"/>
              <a:gd name="connsiteX2" fmla="*/ 0 w 991892"/>
              <a:gd name="connsiteY2" fmla="*/ 628616 h 628616"/>
            </a:gdLst>
            <a:ahLst/>
            <a:cxnLst>
              <a:cxn ang="0">
                <a:pos x="connsiteX0" y="connsiteY0"/>
              </a:cxn>
              <a:cxn ang="0">
                <a:pos x="connsiteX1" y="connsiteY1"/>
              </a:cxn>
              <a:cxn ang="0">
                <a:pos x="connsiteX2" y="connsiteY2"/>
              </a:cxn>
            </a:cxnLst>
            <a:rect l="l" t="t" r="r" b="b"/>
            <a:pathLst>
              <a:path w="991892" h="628616">
                <a:moveTo>
                  <a:pt x="991892" y="55179"/>
                </a:moveTo>
                <a:cubicBezTo>
                  <a:pt x="687091" y="7392"/>
                  <a:pt x="382291" y="-40394"/>
                  <a:pt x="216976" y="55179"/>
                </a:cubicBezTo>
                <a:cubicBezTo>
                  <a:pt x="51661" y="150752"/>
                  <a:pt x="25830" y="389684"/>
                  <a:pt x="0" y="628616"/>
                </a:cubicBezTo>
              </a:path>
            </a:pathLst>
          </a:custGeom>
          <a:noFill/>
          <a:ln w="25400">
            <a:solidFill>
              <a:srgbClr val="FF0000"/>
            </a:solidFill>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左中括号 27">
            <a:extLst>
              <a:ext uri="{FF2B5EF4-FFF2-40B4-BE49-F238E27FC236}">
                <a16:creationId xmlns:a16="http://schemas.microsoft.com/office/drawing/2014/main" id="{E57D9F79-C6EC-5446-9C24-3C164CE5BA73}"/>
              </a:ext>
            </a:extLst>
          </p:cNvPr>
          <p:cNvSpPr/>
          <p:nvPr/>
        </p:nvSpPr>
        <p:spPr>
          <a:xfrm rot="5400000">
            <a:off x="9319291" y="315563"/>
            <a:ext cx="103614" cy="1374605"/>
          </a:xfrm>
          <a:prstGeom prst="leftBracket">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200">
              <a:latin typeface="Gill Sans MT" panose="020B0502020104020203" pitchFamily="34" charset="0"/>
            </a:endParaRPr>
          </a:p>
        </p:txBody>
      </p:sp>
      <p:sp>
        <p:nvSpPr>
          <p:cNvPr id="29" name="文本框 28">
            <a:extLst>
              <a:ext uri="{FF2B5EF4-FFF2-40B4-BE49-F238E27FC236}">
                <a16:creationId xmlns:a16="http://schemas.microsoft.com/office/drawing/2014/main" id="{7073159F-12D2-C045-81BD-9CC1D7D24B2A}"/>
              </a:ext>
            </a:extLst>
          </p:cNvPr>
          <p:cNvSpPr txBox="1"/>
          <p:nvPr/>
        </p:nvSpPr>
        <p:spPr>
          <a:xfrm>
            <a:off x="8251208" y="164403"/>
            <a:ext cx="2239779" cy="646331"/>
          </a:xfrm>
          <a:prstGeom prst="rect">
            <a:avLst/>
          </a:prstGeom>
          <a:noFill/>
        </p:spPr>
        <p:txBody>
          <a:bodyPr wrap="none" rtlCol="0">
            <a:spAutoFit/>
          </a:bodyPr>
          <a:lstStyle/>
          <a:p>
            <a:pPr algn="ctr"/>
            <a:r>
              <a:rPr kumimoji="1" lang="en-US" altLang="zh-CN" i="1" dirty="0">
                <a:latin typeface="Gill Sans MT" panose="020B0502020104020203" pitchFamily="34" charset="0"/>
              </a:rPr>
              <a:t>Fast SMT Solving</a:t>
            </a:r>
          </a:p>
          <a:p>
            <a:pPr algn="ctr"/>
            <a:r>
              <a:rPr kumimoji="1" lang="en-US" altLang="zh-CN" i="1" dirty="0">
                <a:latin typeface="Gill Sans MT" panose="020B0502020104020203" pitchFamily="34" charset="0"/>
              </a:rPr>
              <a:t>[Yao, et al, ISSTA 2020]</a:t>
            </a:r>
          </a:p>
        </p:txBody>
      </p:sp>
    </p:spTree>
    <p:extLst>
      <p:ext uri="{BB962C8B-B14F-4D97-AF65-F5344CB8AC3E}">
        <p14:creationId xmlns:p14="http://schemas.microsoft.com/office/powerpoint/2010/main" val="1254622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27" grpId="0" animBg="1"/>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2B70F-7386-FE48-823A-6642CF36DC23}"/>
              </a:ext>
            </a:extLst>
          </p:cNvPr>
          <p:cNvSpPr>
            <a:spLocks noGrp="1"/>
          </p:cNvSpPr>
          <p:nvPr>
            <p:ph type="title"/>
          </p:nvPr>
        </p:nvSpPr>
        <p:spPr/>
        <p:txBody>
          <a:bodyPr/>
          <a:lstStyle/>
          <a:p>
            <a:r>
              <a:rPr lang="en-US" altLang="zh-CN" dirty="0"/>
              <a:t>The Extensional Scalability Problem</a:t>
            </a:r>
            <a:endParaRPr kumimoji="1" lang="zh-CN" altLang="en-US" dirty="0"/>
          </a:p>
        </p:txBody>
      </p:sp>
      <p:sp>
        <p:nvSpPr>
          <p:cNvPr id="4" name="内容占位符 2">
            <a:extLst>
              <a:ext uri="{FF2B5EF4-FFF2-40B4-BE49-F238E27FC236}">
                <a16:creationId xmlns:a16="http://schemas.microsoft.com/office/drawing/2014/main" id="{CCBA37BE-B8BB-2E47-80BA-C16521538F55}"/>
              </a:ext>
            </a:extLst>
          </p:cNvPr>
          <p:cNvSpPr>
            <a:spLocks noGrp="1"/>
          </p:cNvSpPr>
          <p:nvPr>
            <p:ph idx="1"/>
          </p:nvPr>
        </p:nvSpPr>
        <p:spPr>
          <a:xfrm>
            <a:off x="838200" y="1825625"/>
            <a:ext cx="10758714" cy="3234055"/>
          </a:xfrm>
        </p:spPr>
        <p:txBody>
          <a:bodyPr>
            <a:normAutofit/>
          </a:bodyPr>
          <a:lstStyle/>
          <a:p>
            <a:r>
              <a:rPr kumimoji="1" lang="en-US" altLang="zh-CN" sz="2400" dirty="0">
                <a:latin typeface="Helvetica" pitchFamily="2" charset="0"/>
              </a:rPr>
              <a:t>Static analyzer often needs to check many problems at the same time</a:t>
            </a:r>
          </a:p>
          <a:p>
            <a:pPr marL="0" indent="0">
              <a:buNone/>
            </a:pPr>
            <a:endParaRPr kumimoji="1" lang="en-US" altLang="zh-CN" sz="2400" dirty="0">
              <a:latin typeface="Helvetica" pitchFamily="2" charset="0"/>
            </a:endParaRPr>
          </a:p>
          <a:p>
            <a:pPr marL="0" indent="0">
              <a:buNone/>
            </a:pPr>
            <a:endParaRPr kumimoji="1" lang="en-US" altLang="zh-CN" sz="2400" dirty="0">
              <a:latin typeface="Helvetica" pitchFamily="2" charset="0"/>
            </a:endParaRPr>
          </a:p>
          <a:p>
            <a:pPr marL="0" indent="0">
              <a:buNone/>
            </a:pPr>
            <a:endParaRPr kumimoji="1" lang="en-US" altLang="zh-CN" sz="2400" dirty="0">
              <a:latin typeface="Helvetica" pitchFamily="2" charset="0"/>
            </a:endParaRPr>
          </a:p>
          <a:p>
            <a:endParaRPr kumimoji="1" lang="en-US" altLang="zh-CN" sz="2400" dirty="0">
              <a:latin typeface="Helvetica" pitchFamily="2" charset="0"/>
            </a:endParaRPr>
          </a:p>
          <a:p>
            <a:r>
              <a:rPr kumimoji="1" lang="en-US" altLang="zh-CN" sz="2400" dirty="0">
                <a:latin typeface="Helvetica" pitchFamily="2" charset="0"/>
              </a:rPr>
              <a:t>It will be very time- and memory-consuming</a:t>
            </a:r>
            <a:endParaRPr kumimoji="1" lang="en-US" altLang="zh-CN" sz="2000" dirty="0">
              <a:latin typeface="Helvetica" pitchFamily="2" charset="0"/>
            </a:endParaRPr>
          </a:p>
        </p:txBody>
      </p:sp>
      <p:grpSp>
        <p:nvGrpSpPr>
          <p:cNvPr id="5" name="组合 4">
            <a:extLst>
              <a:ext uri="{FF2B5EF4-FFF2-40B4-BE49-F238E27FC236}">
                <a16:creationId xmlns:a16="http://schemas.microsoft.com/office/drawing/2014/main" id="{26308056-DE3C-264C-BE92-FE971888F329}"/>
              </a:ext>
            </a:extLst>
          </p:cNvPr>
          <p:cNvGrpSpPr/>
          <p:nvPr/>
        </p:nvGrpSpPr>
        <p:grpSpPr>
          <a:xfrm>
            <a:off x="565603" y="2522099"/>
            <a:ext cx="11060794" cy="995274"/>
            <a:chOff x="661533" y="891583"/>
            <a:chExt cx="10732178" cy="995274"/>
          </a:xfrm>
        </p:grpSpPr>
        <p:sp>
          <p:nvSpPr>
            <p:cNvPr id="6" name="圆角矩形 5">
              <a:extLst>
                <a:ext uri="{FF2B5EF4-FFF2-40B4-BE49-F238E27FC236}">
                  <a16:creationId xmlns:a16="http://schemas.microsoft.com/office/drawing/2014/main" id="{833F53B4-7563-E74F-B521-1D5BF9DE3A42}"/>
                </a:ext>
              </a:extLst>
            </p:cNvPr>
            <p:cNvSpPr/>
            <p:nvPr/>
          </p:nvSpPr>
          <p:spPr>
            <a:xfrm>
              <a:off x="661533" y="891583"/>
              <a:ext cx="10732178" cy="995274"/>
            </a:xfrm>
            <a:prstGeom prst="roundRect">
              <a:avLst>
                <a:gd name="adj" fmla="val 9131"/>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en-US" altLang="zh-CN" dirty="0">
                <a:latin typeface="Helvetica" pitchFamily="2" charset="0"/>
              </a:endParaRPr>
            </a:p>
            <a:p>
              <a:pPr algn="ctr"/>
              <a:endParaRPr kumimoji="1" lang="en-US" altLang="zh-CN" dirty="0">
                <a:latin typeface="Helvetica" pitchFamily="2" charset="0"/>
              </a:endParaRPr>
            </a:p>
            <a:p>
              <a:pPr algn="ctr"/>
              <a:endParaRPr kumimoji="1" lang="zh-CN" altLang="en-US" dirty="0">
                <a:latin typeface="Helvetica" pitchFamily="2" charset="0"/>
              </a:endParaRPr>
            </a:p>
          </p:txBody>
        </p:sp>
        <p:sp>
          <p:nvSpPr>
            <p:cNvPr id="7" name="圆角矩形 6">
              <a:extLst>
                <a:ext uri="{FF2B5EF4-FFF2-40B4-BE49-F238E27FC236}">
                  <a16:creationId xmlns:a16="http://schemas.microsoft.com/office/drawing/2014/main" id="{87D730EE-2EF7-224B-AFD1-7251816A7150}"/>
                </a:ext>
              </a:extLst>
            </p:cNvPr>
            <p:cNvSpPr/>
            <p:nvPr/>
          </p:nvSpPr>
          <p:spPr>
            <a:xfrm>
              <a:off x="930046" y="1138238"/>
              <a:ext cx="1551896" cy="587828"/>
            </a:xfrm>
            <a:prstGeom prst="round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latin typeface="Helvetica" pitchFamily="2" charset="0"/>
                </a:rPr>
                <a:t>Resource Leak</a:t>
              </a:r>
              <a:endParaRPr kumimoji="1" lang="zh-CN" altLang="en-US" dirty="0">
                <a:latin typeface="Helvetica" pitchFamily="2" charset="0"/>
              </a:endParaRPr>
            </a:p>
          </p:txBody>
        </p:sp>
        <p:sp>
          <p:nvSpPr>
            <p:cNvPr id="8" name="圆角矩形 7">
              <a:extLst>
                <a:ext uri="{FF2B5EF4-FFF2-40B4-BE49-F238E27FC236}">
                  <a16:creationId xmlns:a16="http://schemas.microsoft.com/office/drawing/2014/main" id="{8A755269-88AC-8D4C-8114-CB74395FADA8}"/>
                </a:ext>
              </a:extLst>
            </p:cNvPr>
            <p:cNvSpPr/>
            <p:nvPr/>
          </p:nvSpPr>
          <p:spPr>
            <a:xfrm>
              <a:off x="2665180" y="1138238"/>
              <a:ext cx="1551896" cy="587828"/>
            </a:xfrm>
            <a:prstGeom prst="round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latin typeface="Helvetica" pitchFamily="2" charset="0"/>
                </a:rPr>
                <a:t>Taint Analysis</a:t>
              </a:r>
              <a:endParaRPr kumimoji="1" lang="zh-CN" altLang="en-US" dirty="0">
                <a:latin typeface="Helvetica" pitchFamily="2" charset="0"/>
              </a:endParaRPr>
            </a:p>
          </p:txBody>
        </p:sp>
        <p:sp>
          <p:nvSpPr>
            <p:cNvPr id="9" name="圆角矩形 8">
              <a:extLst>
                <a:ext uri="{FF2B5EF4-FFF2-40B4-BE49-F238E27FC236}">
                  <a16:creationId xmlns:a16="http://schemas.microsoft.com/office/drawing/2014/main" id="{DB3DA2D4-FE3C-284D-964C-7648DD9962B1}"/>
                </a:ext>
              </a:extLst>
            </p:cNvPr>
            <p:cNvSpPr/>
            <p:nvPr/>
          </p:nvSpPr>
          <p:spPr>
            <a:xfrm>
              <a:off x="4400314" y="1138238"/>
              <a:ext cx="1551896" cy="587828"/>
            </a:xfrm>
            <a:prstGeom prst="round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latin typeface="Helvetica" pitchFamily="2" charset="0"/>
                </a:rPr>
                <a:t>Double Free</a:t>
              </a:r>
              <a:endParaRPr kumimoji="1" lang="zh-CN" altLang="en-US" dirty="0">
                <a:latin typeface="Helvetica" pitchFamily="2" charset="0"/>
              </a:endParaRPr>
            </a:p>
          </p:txBody>
        </p:sp>
        <p:sp>
          <p:nvSpPr>
            <p:cNvPr id="10" name="圆角矩形 9">
              <a:extLst>
                <a:ext uri="{FF2B5EF4-FFF2-40B4-BE49-F238E27FC236}">
                  <a16:creationId xmlns:a16="http://schemas.microsoft.com/office/drawing/2014/main" id="{0F559CBD-B08E-174E-A3B8-54D6ABA0F10E}"/>
                </a:ext>
              </a:extLst>
            </p:cNvPr>
            <p:cNvSpPr/>
            <p:nvPr/>
          </p:nvSpPr>
          <p:spPr>
            <a:xfrm>
              <a:off x="7858336" y="1138238"/>
              <a:ext cx="1551896" cy="587828"/>
            </a:xfrm>
            <a:prstGeom prst="round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latin typeface="Helvetica" pitchFamily="2" charset="0"/>
                </a:rPr>
                <a:t>Null Pointer Exception</a:t>
              </a:r>
              <a:endParaRPr kumimoji="1" lang="zh-CN" altLang="en-US" dirty="0">
                <a:latin typeface="Helvetica" pitchFamily="2" charset="0"/>
              </a:endParaRPr>
            </a:p>
          </p:txBody>
        </p:sp>
        <p:sp>
          <p:nvSpPr>
            <p:cNvPr id="11" name="圆角矩形 10">
              <a:extLst>
                <a:ext uri="{FF2B5EF4-FFF2-40B4-BE49-F238E27FC236}">
                  <a16:creationId xmlns:a16="http://schemas.microsoft.com/office/drawing/2014/main" id="{1F7E9BC1-42D0-064B-AE1A-E5CCF78D3D70}"/>
                </a:ext>
              </a:extLst>
            </p:cNvPr>
            <p:cNvSpPr/>
            <p:nvPr/>
          </p:nvSpPr>
          <p:spPr>
            <a:xfrm>
              <a:off x="6129325" y="1138238"/>
              <a:ext cx="1551896" cy="587828"/>
            </a:xfrm>
            <a:prstGeom prst="round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latin typeface="Helvetica" pitchFamily="2" charset="0"/>
                </a:rPr>
                <a:t>Use After Free</a:t>
              </a:r>
              <a:endParaRPr kumimoji="1" lang="zh-CN" altLang="en-US" dirty="0">
                <a:latin typeface="Helvetica" pitchFamily="2" charset="0"/>
              </a:endParaRPr>
            </a:p>
          </p:txBody>
        </p:sp>
        <p:sp>
          <p:nvSpPr>
            <p:cNvPr id="12" name="圆角矩形 11">
              <a:extLst>
                <a:ext uri="{FF2B5EF4-FFF2-40B4-BE49-F238E27FC236}">
                  <a16:creationId xmlns:a16="http://schemas.microsoft.com/office/drawing/2014/main" id="{6B9A1F11-5C8A-6041-A3AC-D0D43BD37098}"/>
                </a:ext>
              </a:extLst>
            </p:cNvPr>
            <p:cNvSpPr/>
            <p:nvPr/>
          </p:nvSpPr>
          <p:spPr>
            <a:xfrm>
              <a:off x="9587347" y="1137104"/>
              <a:ext cx="1551896" cy="587828"/>
            </a:xfrm>
            <a:prstGeom prst="round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latin typeface="Helvetica" pitchFamily="2" charset="0"/>
                </a:rPr>
                <a:t>…</a:t>
              </a:r>
              <a:endParaRPr kumimoji="1" lang="zh-CN" altLang="en-US" dirty="0">
                <a:latin typeface="Helvetica" pitchFamily="2" charset="0"/>
              </a:endParaRPr>
            </a:p>
          </p:txBody>
        </p:sp>
      </p:grpSp>
      <p:sp>
        <p:nvSpPr>
          <p:cNvPr id="13" name="文本框 12">
            <a:extLst>
              <a:ext uri="{FF2B5EF4-FFF2-40B4-BE49-F238E27FC236}">
                <a16:creationId xmlns:a16="http://schemas.microsoft.com/office/drawing/2014/main" id="{F5DDAA5C-65EB-A041-BAA8-EB07B26635FD}"/>
              </a:ext>
            </a:extLst>
          </p:cNvPr>
          <p:cNvSpPr txBox="1"/>
          <p:nvPr/>
        </p:nvSpPr>
        <p:spPr>
          <a:xfrm>
            <a:off x="1642045" y="5001207"/>
            <a:ext cx="3996000" cy="1015663"/>
          </a:xfrm>
          <a:prstGeom prst="rect">
            <a:avLst/>
          </a:prstGeom>
          <a:solidFill>
            <a:schemeClr val="accent5">
              <a:lumMod val="20000"/>
              <a:lumOff val="80000"/>
            </a:schemeClr>
          </a:solidFill>
        </p:spPr>
        <p:txBody>
          <a:bodyPr wrap="square" rtlCol="0">
            <a:spAutoFit/>
          </a:bodyPr>
          <a:lstStyle/>
          <a:p>
            <a:pPr algn="ctr"/>
            <a:r>
              <a:rPr kumimoji="1" lang="en-US" altLang="zh-CN" sz="2000" dirty="0">
                <a:solidFill>
                  <a:srgbClr val="FF0000"/>
                </a:solidFill>
                <a:latin typeface="Helvetica" pitchFamily="2" charset="0"/>
              </a:rPr>
              <a:t>Independent</a:t>
            </a:r>
            <a:r>
              <a:rPr kumimoji="1" lang="en-US" altLang="zh-CN" sz="2000" dirty="0">
                <a:latin typeface="Helvetica" pitchFamily="2" charset="0"/>
              </a:rPr>
              <a:t> Analysis </a:t>
            </a:r>
          </a:p>
          <a:p>
            <a:pPr algn="ctr"/>
            <a:r>
              <a:rPr kumimoji="1" lang="en-US" altLang="zh-CN" sz="2000" dirty="0">
                <a:latin typeface="Helvetica" pitchFamily="2" charset="0"/>
              </a:rPr>
              <a:t>for </a:t>
            </a:r>
          </a:p>
          <a:p>
            <a:pPr algn="ctr"/>
            <a:r>
              <a:rPr kumimoji="1" lang="en-US" altLang="zh-CN" sz="2000" dirty="0">
                <a:latin typeface="Helvetica" pitchFamily="2" charset="0"/>
              </a:rPr>
              <a:t>Different Problems</a:t>
            </a:r>
            <a:endParaRPr kumimoji="1" lang="zh-CN" altLang="en-US" sz="2000" dirty="0">
              <a:latin typeface="Helvetica" pitchFamily="2" charset="0"/>
            </a:endParaRPr>
          </a:p>
        </p:txBody>
      </p:sp>
      <p:sp>
        <p:nvSpPr>
          <p:cNvPr id="14" name="文本框 13">
            <a:extLst>
              <a:ext uri="{FF2B5EF4-FFF2-40B4-BE49-F238E27FC236}">
                <a16:creationId xmlns:a16="http://schemas.microsoft.com/office/drawing/2014/main" id="{BE4444E2-D4B8-764C-992F-4BF4C97AEA32}"/>
              </a:ext>
            </a:extLst>
          </p:cNvPr>
          <p:cNvSpPr txBox="1"/>
          <p:nvPr/>
        </p:nvSpPr>
        <p:spPr>
          <a:xfrm>
            <a:off x="6573413" y="5001207"/>
            <a:ext cx="3991017" cy="1015663"/>
          </a:xfrm>
          <a:prstGeom prst="rect">
            <a:avLst/>
          </a:prstGeom>
          <a:solidFill>
            <a:schemeClr val="accent5">
              <a:lumMod val="20000"/>
              <a:lumOff val="80000"/>
            </a:schemeClr>
          </a:solidFill>
        </p:spPr>
        <p:txBody>
          <a:bodyPr wrap="square" rtlCol="0">
            <a:spAutoFit/>
          </a:bodyPr>
          <a:lstStyle/>
          <a:p>
            <a:pPr algn="ctr"/>
            <a:r>
              <a:rPr kumimoji="1" lang="en-US" altLang="zh-CN" sz="2000" dirty="0">
                <a:solidFill>
                  <a:srgbClr val="FF0000"/>
                </a:solidFill>
                <a:latin typeface="Helvetica" pitchFamily="2" charset="0"/>
              </a:rPr>
              <a:t>Redundant</a:t>
            </a:r>
            <a:r>
              <a:rPr kumimoji="1" lang="en-US" altLang="zh-CN" sz="2000" dirty="0">
                <a:latin typeface="Helvetica" pitchFamily="2" charset="0"/>
              </a:rPr>
              <a:t> graph traversals </a:t>
            </a:r>
          </a:p>
          <a:p>
            <a:pPr algn="ctr"/>
            <a:r>
              <a:rPr kumimoji="1" lang="en-US" altLang="zh-CN" sz="2000" dirty="0">
                <a:latin typeface="Helvetica" pitchFamily="2" charset="0"/>
              </a:rPr>
              <a:t>and </a:t>
            </a:r>
          </a:p>
          <a:p>
            <a:pPr algn="ctr"/>
            <a:r>
              <a:rPr kumimoji="1" lang="en-US" altLang="zh-CN" sz="2000" dirty="0">
                <a:latin typeface="Helvetica" pitchFamily="2" charset="0"/>
              </a:rPr>
              <a:t>SMT solving</a:t>
            </a:r>
          </a:p>
        </p:txBody>
      </p:sp>
      <p:sp>
        <p:nvSpPr>
          <p:cNvPr id="15" name="灯片编号占位符 3">
            <a:extLst>
              <a:ext uri="{FF2B5EF4-FFF2-40B4-BE49-F238E27FC236}">
                <a16:creationId xmlns:a16="http://schemas.microsoft.com/office/drawing/2014/main" id="{E29E0C5E-91B3-E842-98B8-D14399D27F62}"/>
              </a:ext>
            </a:extLst>
          </p:cNvPr>
          <p:cNvSpPr>
            <a:spLocks noGrp="1"/>
          </p:cNvSpPr>
          <p:nvPr>
            <p:ph type="sldNum" sz="quarter" idx="12"/>
          </p:nvPr>
        </p:nvSpPr>
        <p:spPr>
          <a:xfrm>
            <a:off x="8610600" y="6356350"/>
            <a:ext cx="2743200" cy="365125"/>
          </a:xfrm>
        </p:spPr>
        <p:txBody>
          <a:bodyPr/>
          <a:lstStyle/>
          <a:p>
            <a:fld id="{C53D9380-AD50-0C4E-BD20-74B8F0FD34CE}" type="slidenum">
              <a:rPr kumimoji="1" lang="zh-CN" altLang="en-US" smtClean="0"/>
              <a:t>6</a:t>
            </a:fld>
            <a:endParaRPr kumimoji="1" lang="zh-CN" altLang="en-US" dirty="0"/>
          </a:p>
        </p:txBody>
      </p:sp>
    </p:spTree>
    <p:extLst>
      <p:ext uri="{BB962C8B-B14F-4D97-AF65-F5344CB8AC3E}">
        <p14:creationId xmlns:p14="http://schemas.microsoft.com/office/powerpoint/2010/main" val="234699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700EDB-2D00-C445-AB9B-4374AE0CFF15}"/>
              </a:ext>
            </a:extLst>
          </p:cNvPr>
          <p:cNvSpPr>
            <a:spLocks noGrp="1"/>
          </p:cNvSpPr>
          <p:nvPr>
            <p:ph type="title"/>
          </p:nvPr>
        </p:nvSpPr>
        <p:spPr/>
        <p:txBody>
          <a:bodyPr/>
          <a:lstStyle/>
          <a:p>
            <a:r>
              <a:rPr kumimoji="1" lang="en-US" altLang="zh-CN" dirty="0"/>
              <a:t>Basic Idea</a:t>
            </a:r>
            <a:endParaRPr kumimoji="1" lang="zh-CN" altLang="en-US" dirty="0"/>
          </a:p>
        </p:txBody>
      </p:sp>
      <p:sp>
        <p:nvSpPr>
          <p:cNvPr id="4" name="矩形 3">
            <a:extLst>
              <a:ext uri="{FF2B5EF4-FFF2-40B4-BE49-F238E27FC236}">
                <a16:creationId xmlns:a16="http://schemas.microsoft.com/office/drawing/2014/main" id="{8607DCE8-7BA0-6246-B3AC-C1E7789E1113}"/>
              </a:ext>
            </a:extLst>
          </p:cNvPr>
          <p:cNvSpPr/>
          <p:nvPr/>
        </p:nvSpPr>
        <p:spPr>
          <a:xfrm>
            <a:off x="1306285" y="2065182"/>
            <a:ext cx="9579429" cy="1077218"/>
          </a:xfrm>
          <a:prstGeom prst="rect">
            <a:avLst/>
          </a:prstGeom>
        </p:spPr>
        <p:txBody>
          <a:bodyPr wrap="square">
            <a:spAutoFit/>
          </a:bodyPr>
          <a:lstStyle/>
          <a:p>
            <a:pPr algn="ctr"/>
            <a:r>
              <a:rPr kumimoji="1" lang="en-US" altLang="zh-CN" sz="3200" dirty="0">
                <a:latin typeface="Helvetica" pitchFamily="2" charset="0"/>
              </a:rPr>
              <a:t>Use the analysis results of a bug type to speed up the analysis of other bug types</a:t>
            </a:r>
          </a:p>
        </p:txBody>
      </p:sp>
      <p:sp>
        <p:nvSpPr>
          <p:cNvPr id="5" name="文本框 4">
            <a:extLst>
              <a:ext uri="{FF2B5EF4-FFF2-40B4-BE49-F238E27FC236}">
                <a16:creationId xmlns:a16="http://schemas.microsoft.com/office/drawing/2014/main" id="{617D5FE5-8AEE-AC4C-B932-C4AA3414E2B3}"/>
              </a:ext>
            </a:extLst>
          </p:cNvPr>
          <p:cNvSpPr txBox="1"/>
          <p:nvPr/>
        </p:nvSpPr>
        <p:spPr>
          <a:xfrm>
            <a:off x="3435751" y="3628351"/>
            <a:ext cx="5320495" cy="523220"/>
          </a:xfrm>
          <a:prstGeom prst="rect">
            <a:avLst/>
          </a:prstGeom>
          <a:noFill/>
        </p:spPr>
        <p:txBody>
          <a:bodyPr wrap="none" rtlCol="0">
            <a:spAutoFit/>
          </a:bodyPr>
          <a:lstStyle/>
          <a:p>
            <a:r>
              <a:rPr kumimoji="1" lang="en-US" altLang="zh-CN" sz="2800" b="1" dirty="0">
                <a:latin typeface="Helvetica" pitchFamily="2" charset="0"/>
              </a:rPr>
              <a:t>Inter-Property-Aware Analysis</a:t>
            </a:r>
            <a:endParaRPr kumimoji="1" lang="zh-CN" altLang="en-US" sz="2800" b="1" dirty="0">
              <a:latin typeface="Helvetica" pitchFamily="2" charset="0"/>
            </a:endParaRPr>
          </a:p>
        </p:txBody>
      </p:sp>
      <p:sp>
        <p:nvSpPr>
          <p:cNvPr id="6" name="文本框 5">
            <a:extLst>
              <a:ext uri="{FF2B5EF4-FFF2-40B4-BE49-F238E27FC236}">
                <a16:creationId xmlns:a16="http://schemas.microsoft.com/office/drawing/2014/main" id="{A8299869-5563-0B4D-BC25-8C80D2B140E6}"/>
              </a:ext>
            </a:extLst>
          </p:cNvPr>
          <p:cNvSpPr txBox="1"/>
          <p:nvPr/>
        </p:nvSpPr>
        <p:spPr>
          <a:xfrm>
            <a:off x="1278013" y="4861300"/>
            <a:ext cx="9635971" cy="954107"/>
          </a:xfrm>
          <a:prstGeom prst="rect">
            <a:avLst/>
          </a:prstGeom>
          <a:noFill/>
        </p:spPr>
        <p:txBody>
          <a:bodyPr wrap="none" rtlCol="0">
            <a:spAutoFit/>
          </a:bodyPr>
          <a:lstStyle/>
          <a:p>
            <a:pPr algn="ctr"/>
            <a:r>
              <a:rPr kumimoji="1" lang="en-US" altLang="zh-CN" sz="2800" b="1" dirty="0">
                <a:latin typeface="Helvetica" pitchFamily="2" charset="0"/>
              </a:rPr>
              <a:t>Use the mutual synergy to</a:t>
            </a:r>
          </a:p>
          <a:p>
            <a:pPr algn="ctr"/>
            <a:r>
              <a:rPr kumimoji="1" lang="en-US" altLang="zh-CN" sz="2800" b="1" dirty="0">
                <a:latin typeface="Helvetica" pitchFamily="2" charset="0"/>
              </a:rPr>
              <a:t>reduce unnecessary graph traversals and SMT solving</a:t>
            </a:r>
            <a:endParaRPr kumimoji="1" lang="zh-CN" altLang="en-US" sz="2800" b="1" dirty="0">
              <a:latin typeface="Helvetica" pitchFamily="2" charset="0"/>
            </a:endParaRPr>
          </a:p>
        </p:txBody>
      </p:sp>
      <p:sp>
        <p:nvSpPr>
          <p:cNvPr id="7" name="灯片编号占位符 3">
            <a:extLst>
              <a:ext uri="{FF2B5EF4-FFF2-40B4-BE49-F238E27FC236}">
                <a16:creationId xmlns:a16="http://schemas.microsoft.com/office/drawing/2014/main" id="{79265D5C-E35C-D74D-9CA5-E9A5903FDC33}"/>
              </a:ext>
            </a:extLst>
          </p:cNvPr>
          <p:cNvSpPr>
            <a:spLocks noGrp="1"/>
          </p:cNvSpPr>
          <p:nvPr>
            <p:ph type="sldNum" sz="quarter" idx="12"/>
          </p:nvPr>
        </p:nvSpPr>
        <p:spPr>
          <a:xfrm>
            <a:off x="8610600" y="6356350"/>
            <a:ext cx="2743200" cy="365125"/>
          </a:xfrm>
        </p:spPr>
        <p:txBody>
          <a:bodyPr/>
          <a:lstStyle/>
          <a:p>
            <a:fld id="{C53D9380-AD50-0C4E-BD20-74B8F0FD34CE}" type="slidenum">
              <a:rPr kumimoji="1" lang="zh-CN" altLang="en-US" smtClean="0"/>
              <a:t>7</a:t>
            </a:fld>
            <a:endParaRPr kumimoji="1" lang="zh-CN" altLang="en-US" dirty="0"/>
          </a:p>
        </p:txBody>
      </p:sp>
    </p:spTree>
    <p:extLst>
      <p:ext uri="{BB962C8B-B14F-4D97-AF65-F5344CB8AC3E}">
        <p14:creationId xmlns:p14="http://schemas.microsoft.com/office/powerpoint/2010/main" val="359974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E531F1-9267-E245-B717-D73B7163D2AF}"/>
              </a:ext>
            </a:extLst>
          </p:cNvPr>
          <p:cNvSpPr>
            <a:spLocks noGrp="1"/>
          </p:cNvSpPr>
          <p:nvPr>
            <p:ph type="title"/>
          </p:nvPr>
        </p:nvSpPr>
        <p:spPr/>
        <p:txBody>
          <a:bodyPr/>
          <a:lstStyle/>
          <a:p>
            <a:r>
              <a:rPr kumimoji="1" lang="en-US" altLang="zh-CN" dirty="0"/>
              <a:t>Mutual Synergy</a:t>
            </a:r>
            <a:endParaRPr kumimoji="1" lang="zh-CN" altLang="en-US" dirty="0"/>
          </a:p>
        </p:txBody>
      </p:sp>
      <p:sp>
        <p:nvSpPr>
          <p:cNvPr id="3" name="内容占位符 2">
            <a:extLst>
              <a:ext uri="{FF2B5EF4-FFF2-40B4-BE49-F238E27FC236}">
                <a16:creationId xmlns:a16="http://schemas.microsoft.com/office/drawing/2014/main" id="{5DAD0920-FB38-9348-9BF2-C478EDE535BF}"/>
              </a:ext>
            </a:extLst>
          </p:cNvPr>
          <p:cNvSpPr>
            <a:spLocks noGrp="1"/>
          </p:cNvSpPr>
          <p:nvPr>
            <p:ph idx="1"/>
          </p:nvPr>
        </p:nvSpPr>
        <p:spPr/>
        <p:txBody>
          <a:bodyPr>
            <a:normAutofit/>
          </a:bodyPr>
          <a:lstStyle/>
          <a:p>
            <a:r>
              <a:rPr kumimoji="1" lang="en-US" altLang="zh-CN" sz="2400" dirty="0">
                <a:latin typeface="Helvetica" pitchFamily="2" charset="0"/>
              </a:rPr>
              <a:t>Path Overlapping</a:t>
            </a:r>
          </a:p>
          <a:p>
            <a:endParaRPr kumimoji="1" lang="en-US" altLang="zh-CN" sz="2400" dirty="0">
              <a:latin typeface="Helvetica" pitchFamily="2" charset="0"/>
            </a:endParaRPr>
          </a:p>
          <a:p>
            <a:pPr lvl="1"/>
            <a:r>
              <a:rPr kumimoji="1" lang="en-US" altLang="zh-CN" sz="2000" dirty="0">
                <a:latin typeface="Helvetica" pitchFamily="2" charset="0"/>
              </a:rPr>
              <a:t>Memory-leak bugs</a:t>
            </a:r>
          </a:p>
          <a:p>
            <a:pPr lvl="1"/>
            <a:endParaRPr kumimoji="1" lang="en-US" altLang="zh-CN" dirty="0">
              <a:latin typeface="Helvetica" pitchFamily="2" charset="0"/>
            </a:endParaRPr>
          </a:p>
          <a:p>
            <a:pPr lvl="2"/>
            <a:r>
              <a:rPr kumimoji="1" lang="en-US" altLang="zh-CN" sz="2000" dirty="0">
                <a:latin typeface="Helvetica" pitchFamily="2" charset="0"/>
              </a:rPr>
              <a:t>heap pointers </a:t>
            </a:r>
            <a:r>
              <a:rPr kumimoji="1" lang="en-US" altLang="zh-CN" sz="2000" dirty="0">
                <a:latin typeface="Helvetica" pitchFamily="2" charset="0"/>
                <a:sym typeface="Wingdings" pitchFamily="2" charset="2"/>
              </a:rPr>
              <a:t></a:t>
            </a:r>
            <a:r>
              <a:rPr kumimoji="1" lang="en-US" altLang="zh-CN" sz="2000" dirty="0">
                <a:latin typeface="Helvetica" pitchFamily="2" charset="0"/>
              </a:rPr>
              <a:t> free statements</a:t>
            </a:r>
          </a:p>
          <a:p>
            <a:pPr lvl="2"/>
            <a:endParaRPr kumimoji="1" lang="en-US" altLang="zh-CN" sz="2000" dirty="0">
              <a:latin typeface="Helvetica" pitchFamily="2" charset="0"/>
            </a:endParaRPr>
          </a:p>
          <a:p>
            <a:pPr lvl="1"/>
            <a:endParaRPr kumimoji="1" lang="en-US" altLang="zh-CN" dirty="0">
              <a:latin typeface="Helvetica" pitchFamily="2" charset="0"/>
            </a:endParaRPr>
          </a:p>
          <a:p>
            <a:pPr lvl="1"/>
            <a:r>
              <a:rPr kumimoji="1" lang="en-US" altLang="zh-CN" sz="2000" dirty="0">
                <a:latin typeface="Helvetica" pitchFamily="2" charset="0"/>
              </a:rPr>
              <a:t>Free-global-pointer bugs</a:t>
            </a:r>
          </a:p>
          <a:p>
            <a:pPr lvl="1"/>
            <a:endParaRPr kumimoji="1" lang="en-US" altLang="zh-CN" dirty="0">
              <a:latin typeface="Helvetica" pitchFamily="2" charset="0"/>
            </a:endParaRPr>
          </a:p>
          <a:p>
            <a:pPr lvl="2"/>
            <a:r>
              <a:rPr kumimoji="1" lang="en-US" altLang="zh-CN" sz="2000" dirty="0">
                <a:latin typeface="Helvetica" pitchFamily="2" charset="0"/>
              </a:rPr>
              <a:t>global pointers </a:t>
            </a:r>
            <a:r>
              <a:rPr kumimoji="1" lang="en-US" altLang="zh-CN" sz="2000" dirty="0">
                <a:latin typeface="Helvetica" pitchFamily="2" charset="0"/>
                <a:sym typeface="Wingdings" pitchFamily="2" charset="2"/>
              </a:rPr>
              <a:t> </a:t>
            </a:r>
            <a:r>
              <a:rPr kumimoji="1" lang="en-US" altLang="zh-CN" sz="2000" dirty="0">
                <a:latin typeface="Helvetica" pitchFamily="2" charset="0"/>
              </a:rPr>
              <a:t>free statements</a:t>
            </a:r>
            <a:endParaRPr kumimoji="1" lang="zh-CN" altLang="en-US" sz="2000" dirty="0">
              <a:latin typeface="Helvetica" pitchFamily="2" charset="0"/>
            </a:endParaRPr>
          </a:p>
          <a:p>
            <a:pPr lvl="1"/>
            <a:endParaRPr kumimoji="1" lang="zh-CN" altLang="en-US" sz="2000" dirty="0">
              <a:latin typeface="Helvetica" pitchFamily="2" charset="0"/>
            </a:endParaRPr>
          </a:p>
        </p:txBody>
      </p:sp>
      <p:sp>
        <p:nvSpPr>
          <p:cNvPr id="4" name="灯片编号占位符 3">
            <a:extLst>
              <a:ext uri="{FF2B5EF4-FFF2-40B4-BE49-F238E27FC236}">
                <a16:creationId xmlns:a16="http://schemas.microsoft.com/office/drawing/2014/main" id="{11E56E2E-8094-1A49-8535-6AC36742AE7B}"/>
              </a:ext>
            </a:extLst>
          </p:cNvPr>
          <p:cNvSpPr>
            <a:spLocks noGrp="1"/>
          </p:cNvSpPr>
          <p:nvPr>
            <p:ph type="sldNum" sz="quarter" idx="12"/>
          </p:nvPr>
        </p:nvSpPr>
        <p:spPr/>
        <p:txBody>
          <a:bodyPr/>
          <a:lstStyle/>
          <a:p>
            <a:fld id="{C53D9380-AD50-0C4E-BD20-74B8F0FD34CE}" type="slidenum">
              <a:rPr kumimoji="1" lang="zh-CN" altLang="en-US" smtClean="0"/>
              <a:t>8</a:t>
            </a:fld>
            <a:endParaRPr kumimoji="1" lang="zh-CN" altLang="en-US"/>
          </a:p>
        </p:txBody>
      </p:sp>
      <p:pic>
        <p:nvPicPr>
          <p:cNvPr id="5" name="图片 4">
            <a:extLst>
              <a:ext uri="{FF2B5EF4-FFF2-40B4-BE49-F238E27FC236}">
                <a16:creationId xmlns:a16="http://schemas.microsoft.com/office/drawing/2014/main" id="{57E2563E-A95D-1047-8F89-4ACB07C838A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54778" b="15559"/>
          <a:stretch/>
        </p:blipFill>
        <p:spPr>
          <a:xfrm>
            <a:off x="7328322" y="2468900"/>
            <a:ext cx="4219181" cy="3064787"/>
          </a:xfrm>
          <a:prstGeom prst="rect">
            <a:avLst/>
          </a:prstGeom>
        </p:spPr>
      </p:pic>
      <p:sp>
        <p:nvSpPr>
          <p:cNvPr id="8" name="矩形 7">
            <a:extLst>
              <a:ext uri="{FF2B5EF4-FFF2-40B4-BE49-F238E27FC236}">
                <a16:creationId xmlns:a16="http://schemas.microsoft.com/office/drawing/2014/main" id="{B209E6D8-6C91-344A-ABB2-204EC0FCAA57}"/>
              </a:ext>
            </a:extLst>
          </p:cNvPr>
          <p:cNvSpPr/>
          <p:nvPr/>
        </p:nvSpPr>
        <p:spPr>
          <a:xfrm>
            <a:off x="3539932" y="1807937"/>
            <a:ext cx="3318537" cy="461665"/>
          </a:xfrm>
          <a:prstGeom prst="rect">
            <a:avLst/>
          </a:prstGeom>
        </p:spPr>
        <p:txBody>
          <a:bodyPr wrap="none">
            <a:spAutoFit/>
          </a:bodyPr>
          <a:lstStyle/>
          <a:p>
            <a:r>
              <a:rPr kumimoji="1" lang="en-US" altLang="zh-CN" sz="2400" dirty="0">
                <a:latin typeface="Helvetica" pitchFamily="2" charset="0"/>
              </a:rPr>
              <a:t>and Path Contradiction</a:t>
            </a:r>
            <a:endParaRPr lang="zh-CN" altLang="en-US" sz="2400" dirty="0">
              <a:latin typeface="Helvetica" pitchFamily="2" charset="0"/>
            </a:endParaRPr>
          </a:p>
        </p:txBody>
      </p:sp>
      <p:sp>
        <p:nvSpPr>
          <p:cNvPr id="9" name="任意形状 8">
            <a:extLst>
              <a:ext uri="{FF2B5EF4-FFF2-40B4-BE49-F238E27FC236}">
                <a16:creationId xmlns:a16="http://schemas.microsoft.com/office/drawing/2014/main" id="{098F4F4C-AD3E-3640-9F3A-85B06421A0F0}"/>
              </a:ext>
            </a:extLst>
          </p:cNvPr>
          <p:cNvSpPr/>
          <p:nvPr/>
        </p:nvSpPr>
        <p:spPr>
          <a:xfrm>
            <a:off x="9278911" y="3237875"/>
            <a:ext cx="2143594" cy="1798820"/>
          </a:xfrm>
          <a:custGeom>
            <a:avLst/>
            <a:gdLst>
              <a:gd name="connsiteX0" fmla="*/ 14991 w 2143594"/>
              <a:gd name="connsiteY0" fmla="*/ 1798820 h 1798820"/>
              <a:gd name="connsiteX1" fmla="*/ 2143594 w 2143594"/>
              <a:gd name="connsiteY1" fmla="*/ 1768840 h 1798820"/>
              <a:gd name="connsiteX2" fmla="*/ 1888761 w 2143594"/>
              <a:gd name="connsiteY2" fmla="*/ 344774 h 1798820"/>
              <a:gd name="connsiteX3" fmla="*/ 959371 w 2143594"/>
              <a:gd name="connsiteY3" fmla="*/ 0 h 1798820"/>
              <a:gd name="connsiteX4" fmla="*/ 434715 w 2143594"/>
              <a:gd name="connsiteY4" fmla="*/ 164892 h 1798820"/>
              <a:gd name="connsiteX5" fmla="*/ 29981 w 2143594"/>
              <a:gd name="connsiteY5" fmla="*/ 539646 h 1798820"/>
              <a:gd name="connsiteX6" fmla="*/ 0 w 2143594"/>
              <a:gd name="connsiteY6" fmla="*/ 929391 h 1798820"/>
              <a:gd name="connsiteX7" fmla="*/ 14991 w 2143594"/>
              <a:gd name="connsiteY7" fmla="*/ 1798820 h 179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3594" h="1798820">
                <a:moveTo>
                  <a:pt x="14991" y="1798820"/>
                </a:moveTo>
                <a:lnTo>
                  <a:pt x="2143594" y="1768840"/>
                </a:lnTo>
                <a:lnTo>
                  <a:pt x="1888761" y="344774"/>
                </a:lnTo>
                <a:lnTo>
                  <a:pt x="959371" y="0"/>
                </a:lnTo>
                <a:lnTo>
                  <a:pt x="434715" y="164892"/>
                </a:lnTo>
                <a:lnTo>
                  <a:pt x="29981" y="539646"/>
                </a:lnTo>
                <a:lnTo>
                  <a:pt x="0" y="929391"/>
                </a:lnTo>
                <a:lnTo>
                  <a:pt x="14991" y="179882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0" name="任意形状 9">
            <a:extLst>
              <a:ext uri="{FF2B5EF4-FFF2-40B4-BE49-F238E27FC236}">
                <a16:creationId xmlns:a16="http://schemas.microsoft.com/office/drawing/2014/main" id="{CF6A5162-38B1-FD4D-BFB3-51FC9D55F19E}"/>
              </a:ext>
            </a:extLst>
          </p:cNvPr>
          <p:cNvSpPr/>
          <p:nvPr/>
        </p:nvSpPr>
        <p:spPr>
          <a:xfrm>
            <a:off x="7270230" y="3252866"/>
            <a:ext cx="1663908" cy="1918741"/>
          </a:xfrm>
          <a:custGeom>
            <a:avLst/>
            <a:gdLst>
              <a:gd name="connsiteX0" fmla="*/ 119921 w 1663908"/>
              <a:gd name="connsiteY0" fmla="*/ 14990 h 1918741"/>
              <a:gd name="connsiteX1" fmla="*/ 749508 w 1663908"/>
              <a:gd name="connsiteY1" fmla="*/ 0 h 1918741"/>
              <a:gd name="connsiteX2" fmla="*/ 1229193 w 1663908"/>
              <a:gd name="connsiteY2" fmla="*/ 134911 h 1918741"/>
              <a:gd name="connsiteX3" fmla="*/ 1663908 w 1663908"/>
              <a:gd name="connsiteY3" fmla="*/ 719527 h 1918741"/>
              <a:gd name="connsiteX4" fmla="*/ 1648918 w 1663908"/>
              <a:gd name="connsiteY4" fmla="*/ 1753849 h 1918741"/>
              <a:gd name="connsiteX5" fmla="*/ 1304144 w 1663908"/>
              <a:gd name="connsiteY5" fmla="*/ 1918741 h 1918741"/>
              <a:gd name="connsiteX6" fmla="*/ 0 w 1663908"/>
              <a:gd name="connsiteY6" fmla="*/ 899409 h 1918741"/>
              <a:gd name="connsiteX7" fmla="*/ 119921 w 1663908"/>
              <a:gd name="connsiteY7" fmla="*/ 14990 h 19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3908" h="1918741">
                <a:moveTo>
                  <a:pt x="119921" y="14990"/>
                </a:moveTo>
                <a:lnTo>
                  <a:pt x="749508" y="0"/>
                </a:lnTo>
                <a:lnTo>
                  <a:pt x="1229193" y="134911"/>
                </a:lnTo>
                <a:lnTo>
                  <a:pt x="1663908" y="719527"/>
                </a:lnTo>
                <a:lnTo>
                  <a:pt x="1648918" y="1753849"/>
                </a:lnTo>
                <a:lnTo>
                  <a:pt x="1304144" y="1918741"/>
                </a:lnTo>
                <a:lnTo>
                  <a:pt x="0" y="899409"/>
                </a:lnTo>
                <a:lnTo>
                  <a:pt x="119921" y="14990"/>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5E30D201-BDBC-3440-A910-3D5C9546A2E2}"/>
              </a:ext>
            </a:extLst>
          </p:cNvPr>
          <p:cNvSpPr txBox="1"/>
          <p:nvPr/>
        </p:nvSpPr>
        <p:spPr>
          <a:xfrm>
            <a:off x="6903902" y="5770907"/>
            <a:ext cx="475001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ctr"/>
            <a:r>
              <a:rPr kumimoji="1" lang="en-US" altLang="zh-CN" dirty="0">
                <a:latin typeface="Helvetica" pitchFamily="2" charset="0"/>
              </a:rPr>
              <a:t>the vertex </a:t>
            </a:r>
            <a:r>
              <a:rPr kumimoji="1" lang="en-US" altLang="zh-CN" i="1" dirty="0">
                <a:latin typeface="Helvetica" pitchFamily="2" charset="0"/>
              </a:rPr>
              <a:t>c</a:t>
            </a:r>
            <a:r>
              <a:rPr kumimoji="1" lang="en-US" altLang="zh-CN" dirty="0">
                <a:latin typeface="Helvetica" pitchFamily="2" charset="0"/>
              </a:rPr>
              <a:t> cannot reach any free statement</a:t>
            </a:r>
            <a:endParaRPr kumimoji="1" lang="zh-CN" altLang="en-US" dirty="0">
              <a:latin typeface="Helvetica" pitchFamily="2" charset="0"/>
            </a:endParaRPr>
          </a:p>
        </p:txBody>
      </p:sp>
    </p:spTree>
    <p:extLst>
      <p:ext uri="{BB962C8B-B14F-4D97-AF65-F5344CB8AC3E}">
        <p14:creationId xmlns:p14="http://schemas.microsoft.com/office/powerpoint/2010/main" val="3153533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8">
                                            <p:txEl>
                                              <p:pRg st="0" end="0"/>
                                            </p:txEl>
                                          </p:spTgt>
                                        </p:tgtEl>
                                        <p:attrNameLst>
                                          <p:attrName>style.color</p:attrName>
                                        </p:attrNameLst>
                                      </p:cBhvr>
                                      <p:to>
                                        <a:srgbClr val="AAAAAA"/>
                                      </p:to>
                                    </p:animClr>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E531F1-9267-E245-B717-D73B7163D2AF}"/>
              </a:ext>
            </a:extLst>
          </p:cNvPr>
          <p:cNvSpPr>
            <a:spLocks noGrp="1"/>
          </p:cNvSpPr>
          <p:nvPr>
            <p:ph type="title"/>
          </p:nvPr>
        </p:nvSpPr>
        <p:spPr/>
        <p:txBody>
          <a:bodyPr/>
          <a:lstStyle/>
          <a:p>
            <a:r>
              <a:rPr kumimoji="1" lang="en-US" altLang="zh-CN" dirty="0"/>
              <a:t>Mutual Synergy</a:t>
            </a:r>
            <a:endParaRPr kumimoji="1" lang="zh-CN" altLang="en-US" dirty="0"/>
          </a:p>
        </p:txBody>
      </p:sp>
      <p:sp>
        <p:nvSpPr>
          <p:cNvPr id="3" name="内容占位符 2">
            <a:extLst>
              <a:ext uri="{FF2B5EF4-FFF2-40B4-BE49-F238E27FC236}">
                <a16:creationId xmlns:a16="http://schemas.microsoft.com/office/drawing/2014/main" id="{5DAD0920-FB38-9348-9BF2-C478EDE535BF}"/>
              </a:ext>
            </a:extLst>
          </p:cNvPr>
          <p:cNvSpPr>
            <a:spLocks noGrp="1"/>
          </p:cNvSpPr>
          <p:nvPr>
            <p:ph idx="1"/>
          </p:nvPr>
        </p:nvSpPr>
        <p:spPr/>
        <p:txBody>
          <a:bodyPr>
            <a:normAutofit/>
          </a:bodyPr>
          <a:lstStyle/>
          <a:p>
            <a:r>
              <a:rPr kumimoji="1" lang="en-US" altLang="zh-CN" sz="2400" dirty="0">
                <a:solidFill>
                  <a:srgbClr val="AAAAAA"/>
                </a:solidFill>
                <a:latin typeface="Helvetica" pitchFamily="2" charset="0"/>
              </a:rPr>
              <a:t>Path Overlapping</a:t>
            </a:r>
          </a:p>
          <a:p>
            <a:endParaRPr kumimoji="1" lang="en-US" altLang="zh-CN" sz="2400" dirty="0">
              <a:latin typeface="Helvetica" pitchFamily="2" charset="0"/>
            </a:endParaRPr>
          </a:p>
          <a:p>
            <a:pPr lvl="1"/>
            <a:r>
              <a:rPr kumimoji="1" lang="en-US" altLang="zh-CN" sz="2000" dirty="0">
                <a:latin typeface="Helvetica" pitchFamily="2" charset="0"/>
              </a:rPr>
              <a:t>Memory-leak bugs</a:t>
            </a:r>
          </a:p>
          <a:p>
            <a:pPr lvl="1"/>
            <a:endParaRPr kumimoji="1" lang="en-US" altLang="zh-CN" dirty="0">
              <a:latin typeface="Helvetica" pitchFamily="2" charset="0"/>
            </a:endParaRPr>
          </a:p>
          <a:p>
            <a:pPr lvl="2"/>
            <a:r>
              <a:rPr kumimoji="1" lang="en-US" altLang="zh-CN" sz="2000" dirty="0">
                <a:latin typeface="Helvetica" pitchFamily="2" charset="0"/>
              </a:rPr>
              <a:t>heap pointers </a:t>
            </a:r>
            <a:r>
              <a:rPr kumimoji="1" lang="en-US" altLang="zh-CN" sz="2000" dirty="0">
                <a:latin typeface="Helvetica" pitchFamily="2" charset="0"/>
                <a:sym typeface="Wingdings" pitchFamily="2" charset="2"/>
              </a:rPr>
              <a:t></a:t>
            </a:r>
            <a:r>
              <a:rPr kumimoji="1" lang="en-US" altLang="zh-CN" sz="2000" dirty="0">
                <a:latin typeface="Helvetica" pitchFamily="2" charset="0"/>
              </a:rPr>
              <a:t> free statements</a:t>
            </a:r>
          </a:p>
          <a:p>
            <a:pPr lvl="2"/>
            <a:r>
              <a:rPr kumimoji="1" lang="en-US" altLang="zh-CN" sz="2000" dirty="0">
                <a:latin typeface="Helvetica" pitchFamily="2" charset="0"/>
              </a:rPr>
              <a:t>heap pointer condition: a ≠ 0</a:t>
            </a:r>
          </a:p>
          <a:p>
            <a:pPr lvl="1"/>
            <a:endParaRPr kumimoji="1" lang="en-US" altLang="zh-CN" dirty="0">
              <a:latin typeface="Helvetica" pitchFamily="2" charset="0"/>
            </a:endParaRPr>
          </a:p>
          <a:p>
            <a:pPr lvl="1"/>
            <a:r>
              <a:rPr kumimoji="1" lang="en-US" altLang="zh-CN" sz="2000" dirty="0">
                <a:latin typeface="Helvetica" pitchFamily="2" charset="0"/>
              </a:rPr>
              <a:t>Null-dereference bugs</a:t>
            </a:r>
          </a:p>
          <a:p>
            <a:pPr lvl="1"/>
            <a:endParaRPr kumimoji="1" lang="en-US" altLang="zh-CN" dirty="0">
              <a:latin typeface="Helvetica" pitchFamily="2" charset="0"/>
            </a:endParaRPr>
          </a:p>
          <a:p>
            <a:pPr lvl="2"/>
            <a:r>
              <a:rPr kumimoji="1" lang="en-US" altLang="zh-CN" sz="2000" dirty="0">
                <a:latin typeface="Helvetica" pitchFamily="2" charset="0"/>
              </a:rPr>
              <a:t>null pointers </a:t>
            </a:r>
            <a:r>
              <a:rPr kumimoji="1" lang="en-US" altLang="zh-CN" sz="2000" dirty="0">
                <a:latin typeface="Helvetica" pitchFamily="2" charset="0"/>
                <a:sym typeface="Wingdings" pitchFamily="2" charset="2"/>
              </a:rPr>
              <a:t> </a:t>
            </a:r>
            <a:r>
              <a:rPr kumimoji="1" lang="en-US" altLang="zh-CN" sz="2000" dirty="0">
                <a:latin typeface="Helvetica" pitchFamily="2" charset="0"/>
              </a:rPr>
              <a:t>dereference statements</a:t>
            </a:r>
            <a:endParaRPr kumimoji="1" lang="zh-CN" altLang="en-US" sz="2000" dirty="0">
              <a:latin typeface="Helvetica" pitchFamily="2" charset="0"/>
            </a:endParaRPr>
          </a:p>
          <a:p>
            <a:pPr lvl="2"/>
            <a:r>
              <a:rPr kumimoji="1" lang="en-US" altLang="zh-CN" sz="2000" dirty="0">
                <a:latin typeface="Helvetica" pitchFamily="2" charset="0"/>
              </a:rPr>
              <a:t>null pointer condition: a = 0</a:t>
            </a:r>
          </a:p>
          <a:p>
            <a:pPr marL="457200" lvl="1" indent="0">
              <a:buNone/>
            </a:pPr>
            <a:endParaRPr kumimoji="1" lang="zh-CN" altLang="en-US" sz="2000" dirty="0">
              <a:latin typeface="Helvetica" pitchFamily="2" charset="0"/>
            </a:endParaRPr>
          </a:p>
        </p:txBody>
      </p:sp>
      <p:sp>
        <p:nvSpPr>
          <p:cNvPr id="4" name="灯片编号占位符 3">
            <a:extLst>
              <a:ext uri="{FF2B5EF4-FFF2-40B4-BE49-F238E27FC236}">
                <a16:creationId xmlns:a16="http://schemas.microsoft.com/office/drawing/2014/main" id="{11E56E2E-8094-1A49-8535-6AC36742AE7B}"/>
              </a:ext>
            </a:extLst>
          </p:cNvPr>
          <p:cNvSpPr>
            <a:spLocks noGrp="1"/>
          </p:cNvSpPr>
          <p:nvPr>
            <p:ph type="sldNum" sz="quarter" idx="12"/>
          </p:nvPr>
        </p:nvSpPr>
        <p:spPr/>
        <p:txBody>
          <a:bodyPr/>
          <a:lstStyle/>
          <a:p>
            <a:fld id="{C53D9380-AD50-0C4E-BD20-74B8F0FD34CE}" type="slidenum">
              <a:rPr kumimoji="1" lang="zh-CN" altLang="en-US" smtClean="0"/>
              <a:t>9</a:t>
            </a:fld>
            <a:endParaRPr kumimoji="1" lang="zh-CN" altLang="en-US"/>
          </a:p>
        </p:txBody>
      </p:sp>
      <p:pic>
        <p:nvPicPr>
          <p:cNvPr id="9" name="图片 8">
            <a:extLst>
              <a:ext uri="{FF2B5EF4-FFF2-40B4-BE49-F238E27FC236}">
                <a16:creationId xmlns:a16="http://schemas.microsoft.com/office/drawing/2014/main" id="{FDF0238F-D10D-8944-B745-1DA92E8A3D1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328323" y="1912647"/>
            <a:ext cx="4025478" cy="3229155"/>
          </a:xfrm>
          <a:prstGeom prst="rect">
            <a:avLst/>
          </a:prstGeom>
        </p:spPr>
      </p:pic>
      <p:sp>
        <p:nvSpPr>
          <p:cNvPr id="6" name="矩形 5">
            <a:extLst>
              <a:ext uri="{FF2B5EF4-FFF2-40B4-BE49-F238E27FC236}">
                <a16:creationId xmlns:a16="http://schemas.microsoft.com/office/drawing/2014/main" id="{DCBE7814-FB65-4146-A88B-1DF3360F3C56}"/>
              </a:ext>
            </a:extLst>
          </p:cNvPr>
          <p:cNvSpPr/>
          <p:nvPr/>
        </p:nvSpPr>
        <p:spPr>
          <a:xfrm>
            <a:off x="3539932" y="1807937"/>
            <a:ext cx="3318537" cy="461665"/>
          </a:xfrm>
          <a:prstGeom prst="rect">
            <a:avLst/>
          </a:prstGeom>
        </p:spPr>
        <p:txBody>
          <a:bodyPr wrap="none">
            <a:spAutoFit/>
          </a:bodyPr>
          <a:lstStyle/>
          <a:p>
            <a:r>
              <a:rPr kumimoji="1" lang="en-US" altLang="zh-CN" sz="2400" dirty="0">
                <a:solidFill>
                  <a:schemeClr val="bg1">
                    <a:lumMod val="65000"/>
                  </a:schemeClr>
                </a:solidFill>
                <a:latin typeface="Helvetica" pitchFamily="2" charset="0"/>
              </a:rPr>
              <a:t>and</a:t>
            </a:r>
            <a:r>
              <a:rPr kumimoji="1" lang="en-US" altLang="zh-CN" sz="2400" dirty="0">
                <a:latin typeface="Helvetica" pitchFamily="2" charset="0"/>
              </a:rPr>
              <a:t> Path Contradiction</a:t>
            </a:r>
            <a:endParaRPr lang="zh-CN" altLang="en-US" sz="2400" dirty="0">
              <a:latin typeface="Helvetica" pitchFamily="2" charset="0"/>
            </a:endParaRPr>
          </a:p>
        </p:txBody>
      </p:sp>
      <p:sp>
        <p:nvSpPr>
          <p:cNvPr id="7" name="文本框 6">
            <a:extLst>
              <a:ext uri="{FF2B5EF4-FFF2-40B4-BE49-F238E27FC236}">
                <a16:creationId xmlns:a16="http://schemas.microsoft.com/office/drawing/2014/main" id="{AB0A0DD9-05B0-5C4B-948E-A8A805A7EE09}"/>
              </a:ext>
            </a:extLst>
          </p:cNvPr>
          <p:cNvSpPr txBox="1"/>
          <p:nvPr/>
        </p:nvSpPr>
        <p:spPr>
          <a:xfrm>
            <a:off x="7811636" y="5363761"/>
            <a:ext cx="3058851" cy="923330"/>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pPr algn="ctr"/>
            <a:r>
              <a:rPr kumimoji="1" lang="en-US" altLang="zh-CN" b="1" dirty="0">
                <a:latin typeface="Helvetica" pitchFamily="2" charset="0"/>
              </a:rPr>
              <a:t>𝛾 satisfiable but 𝛾∧a=0 not</a:t>
            </a:r>
          </a:p>
          <a:p>
            <a:pPr algn="ctr"/>
            <a:r>
              <a:rPr kumimoji="1" lang="en-US" altLang="zh-CN" b="1" dirty="0">
                <a:latin typeface="Helvetica" pitchFamily="2" charset="0"/>
              </a:rPr>
              <a:t>=&gt;</a:t>
            </a:r>
          </a:p>
          <a:p>
            <a:pPr algn="ctr"/>
            <a:r>
              <a:rPr kumimoji="1" lang="en-US" altLang="zh-CN" b="1" dirty="0">
                <a:latin typeface="Helvetica" pitchFamily="2" charset="0"/>
              </a:rPr>
              <a:t>𝛾∧a≠0 is satisfiable</a:t>
            </a:r>
            <a:endParaRPr kumimoji="1" lang="zh-CN" altLang="en-US" b="1" dirty="0">
              <a:latin typeface="Helvetica" pitchFamily="2" charset="0"/>
            </a:endParaRPr>
          </a:p>
        </p:txBody>
      </p:sp>
      <p:sp>
        <p:nvSpPr>
          <p:cNvPr id="5" name="任意形状 4">
            <a:extLst>
              <a:ext uri="{FF2B5EF4-FFF2-40B4-BE49-F238E27FC236}">
                <a16:creationId xmlns:a16="http://schemas.microsoft.com/office/drawing/2014/main" id="{4C1B39A3-ADB6-9648-925E-9DB45BF29B65}"/>
              </a:ext>
            </a:extLst>
          </p:cNvPr>
          <p:cNvSpPr/>
          <p:nvPr/>
        </p:nvSpPr>
        <p:spPr>
          <a:xfrm>
            <a:off x="9458793" y="2533338"/>
            <a:ext cx="2083633" cy="1379095"/>
          </a:xfrm>
          <a:custGeom>
            <a:avLst/>
            <a:gdLst>
              <a:gd name="connsiteX0" fmla="*/ 0 w 2083633"/>
              <a:gd name="connsiteY0" fmla="*/ 0 h 1379095"/>
              <a:gd name="connsiteX1" fmla="*/ 1963712 w 2083633"/>
              <a:gd name="connsiteY1" fmla="*/ 44970 h 1379095"/>
              <a:gd name="connsiteX2" fmla="*/ 2083633 w 2083633"/>
              <a:gd name="connsiteY2" fmla="*/ 1139252 h 1379095"/>
              <a:gd name="connsiteX3" fmla="*/ 839450 w 2083633"/>
              <a:gd name="connsiteY3" fmla="*/ 1379095 h 1379095"/>
              <a:gd name="connsiteX4" fmla="*/ 134912 w 2083633"/>
              <a:gd name="connsiteY4" fmla="*/ 974360 h 1379095"/>
              <a:gd name="connsiteX5" fmla="*/ 0 w 2083633"/>
              <a:gd name="connsiteY5" fmla="*/ 389744 h 1379095"/>
              <a:gd name="connsiteX6" fmla="*/ 0 w 2083633"/>
              <a:gd name="connsiteY6" fmla="*/ 59960 h 1379095"/>
              <a:gd name="connsiteX7" fmla="*/ 0 w 2083633"/>
              <a:gd name="connsiteY7" fmla="*/ 0 h 1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3633" h="1379095">
                <a:moveTo>
                  <a:pt x="0" y="0"/>
                </a:moveTo>
                <a:lnTo>
                  <a:pt x="1963712" y="44970"/>
                </a:lnTo>
                <a:lnTo>
                  <a:pt x="2083633" y="1139252"/>
                </a:lnTo>
                <a:lnTo>
                  <a:pt x="839450" y="1379095"/>
                </a:lnTo>
                <a:lnTo>
                  <a:pt x="134912" y="974360"/>
                </a:lnTo>
                <a:lnTo>
                  <a:pt x="0" y="389744"/>
                </a:lnTo>
                <a:lnTo>
                  <a:pt x="0" y="59960"/>
                </a:lnTo>
                <a:lnTo>
                  <a:pt x="0" y="0"/>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任意形状 7">
            <a:extLst>
              <a:ext uri="{FF2B5EF4-FFF2-40B4-BE49-F238E27FC236}">
                <a16:creationId xmlns:a16="http://schemas.microsoft.com/office/drawing/2014/main" id="{EB4C0E5B-3995-1F48-95BB-E6109808BA13}"/>
              </a:ext>
            </a:extLst>
          </p:cNvPr>
          <p:cNvSpPr/>
          <p:nvPr/>
        </p:nvSpPr>
        <p:spPr>
          <a:xfrm>
            <a:off x="7120328" y="2488367"/>
            <a:ext cx="1888761" cy="2158584"/>
          </a:xfrm>
          <a:custGeom>
            <a:avLst/>
            <a:gdLst>
              <a:gd name="connsiteX0" fmla="*/ 314793 w 1888761"/>
              <a:gd name="connsiteY0" fmla="*/ 0 h 2158584"/>
              <a:gd name="connsiteX1" fmla="*/ 0 w 1888761"/>
              <a:gd name="connsiteY1" fmla="*/ 1798820 h 2158584"/>
              <a:gd name="connsiteX2" fmla="*/ 914400 w 1888761"/>
              <a:gd name="connsiteY2" fmla="*/ 2158584 h 2158584"/>
              <a:gd name="connsiteX3" fmla="*/ 1019331 w 1888761"/>
              <a:gd name="connsiteY3" fmla="*/ 1798820 h 2158584"/>
              <a:gd name="connsiteX4" fmla="*/ 1349115 w 1888761"/>
              <a:gd name="connsiteY4" fmla="*/ 1229194 h 2158584"/>
              <a:gd name="connsiteX5" fmla="*/ 1873770 w 1888761"/>
              <a:gd name="connsiteY5" fmla="*/ 764499 h 2158584"/>
              <a:gd name="connsiteX6" fmla="*/ 1888761 w 1888761"/>
              <a:gd name="connsiteY6" fmla="*/ 29981 h 2158584"/>
              <a:gd name="connsiteX7" fmla="*/ 314793 w 1888761"/>
              <a:gd name="connsiteY7" fmla="*/ 0 h 2158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8761" h="2158584">
                <a:moveTo>
                  <a:pt x="314793" y="0"/>
                </a:moveTo>
                <a:lnTo>
                  <a:pt x="0" y="1798820"/>
                </a:lnTo>
                <a:lnTo>
                  <a:pt x="914400" y="2158584"/>
                </a:lnTo>
                <a:lnTo>
                  <a:pt x="1019331" y="1798820"/>
                </a:lnTo>
                <a:lnTo>
                  <a:pt x="1349115" y="1229194"/>
                </a:lnTo>
                <a:lnTo>
                  <a:pt x="1873770" y="764499"/>
                </a:lnTo>
                <a:lnTo>
                  <a:pt x="1888761" y="29981"/>
                </a:lnTo>
                <a:lnTo>
                  <a:pt x="314793" y="0"/>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125478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par>
                                <p:cTn id="23" presetID="1" presetClass="exit"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FD4D5B7-57E2-8B44-AD77-36602D73AD13}"/>
              </a:ext>
            </a:extLst>
          </p:cNvPr>
          <p:cNvPicPr>
            <a:picLocks noChangeAspect="1"/>
          </p:cNvPicPr>
          <p:nvPr/>
        </p:nvPicPr>
        <p:blipFill>
          <a:blip r:embed="rId3"/>
          <a:stretch>
            <a:fillRect/>
          </a:stretch>
        </p:blipFill>
        <p:spPr>
          <a:xfrm>
            <a:off x="1581660" y="2321047"/>
            <a:ext cx="9163552" cy="2373574"/>
          </a:xfrm>
          <a:prstGeom prst="rect">
            <a:avLst/>
          </a:prstGeom>
        </p:spPr>
      </p:pic>
      <p:sp>
        <p:nvSpPr>
          <p:cNvPr id="2" name="标题 1">
            <a:extLst>
              <a:ext uri="{FF2B5EF4-FFF2-40B4-BE49-F238E27FC236}">
                <a16:creationId xmlns:a16="http://schemas.microsoft.com/office/drawing/2014/main" id="{D817C909-8D43-7B47-BA36-4F7BB478A416}"/>
              </a:ext>
            </a:extLst>
          </p:cNvPr>
          <p:cNvSpPr>
            <a:spLocks noGrp="1"/>
          </p:cNvSpPr>
          <p:nvPr>
            <p:ph type="title"/>
          </p:nvPr>
        </p:nvSpPr>
        <p:spPr>
          <a:xfrm>
            <a:off x="838200" y="365125"/>
            <a:ext cx="10515600" cy="1325563"/>
          </a:xfrm>
        </p:spPr>
        <p:txBody>
          <a:bodyPr/>
          <a:lstStyle/>
          <a:p>
            <a:r>
              <a:rPr kumimoji="1" lang="en-US" altLang="zh-CN" dirty="0"/>
              <a:t>Workflow</a:t>
            </a:r>
            <a:endParaRPr kumimoji="1" lang="zh-CN" altLang="en-US" dirty="0"/>
          </a:p>
        </p:txBody>
      </p:sp>
      <p:sp>
        <p:nvSpPr>
          <p:cNvPr id="4" name="灯片编号占位符 3">
            <a:extLst>
              <a:ext uri="{FF2B5EF4-FFF2-40B4-BE49-F238E27FC236}">
                <a16:creationId xmlns:a16="http://schemas.microsoft.com/office/drawing/2014/main" id="{07B5F63E-76E6-1842-93C5-BFE1E580B3B9}"/>
              </a:ext>
            </a:extLst>
          </p:cNvPr>
          <p:cNvSpPr>
            <a:spLocks noGrp="1"/>
          </p:cNvSpPr>
          <p:nvPr>
            <p:ph type="sldNum" sz="quarter" idx="12"/>
          </p:nvPr>
        </p:nvSpPr>
        <p:spPr/>
        <p:txBody>
          <a:bodyPr/>
          <a:lstStyle/>
          <a:p>
            <a:fld id="{C53D9380-AD50-0C4E-BD20-74B8F0FD34CE}" type="slidenum">
              <a:rPr kumimoji="1" lang="zh-CN" altLang="en-US" smtClean="0"/>
              <a:t>10</a:t>
            </a:fld>
            <a:endParaRPr kumimoji="1" lang="zh-CN" altLang="en-US"/>
          </a:p>
        </p:txBody>
      </p:sp>
      <p:sp>
        <p:nvSpPr>
          <p:cNvPr id="7" name="右箭头 6">
            <a:extLst>
              <a:ext uri="{FF2B5EF4-FFF2-40B4-BE49-F238E27FC236}">
                <a16:creationId xmlns:a16="http://schemas.microsoft.com/office/drawing/2014/main" id="{8EAFE983-6BA3-5A4B-8673-CBC0C79B9E6B}"/>
              </a:ext>
            </a:extLst>
          </p:cNvPr>
          <p:cNvSpPr/>
          <p:nvPr/>
        </p:nvSpPr>
        <p:spPr>
          <a:xfrm rot="16200000">
            <a:off x="6174327" y="2045017"/>
            <a:ext cx="360000" cy="191837"/>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5F3EBD81-9CB9-5542-8412-1E13AF9C0064}"/>
              </a:ext>
            </a:extLst>
          </p:cNvPr>
          <p:cNvSpPr txBox="1"/>
          <p:nvPr/>
        </p:nvSpPr>
        <p:spPr>
          <a:xfrm>
            <a:off x="4202259" y="1291813"/>
            <a:ext cx="4304135" cy="707886"/>
          </a:xfrm>
          <a:prstGeom prst="rect">
            <a:avLst/>
          </a:prstGeom>
          <a:noFill/>
        </p:spPr>
        <p:txBody>
          <a:bodyPr wrap="square" rtlCol="0">
            <a:spAutoFit/>
          </a:bodyPr>
          <a:lstStyle/>
          <a:p>
            <a:pPr algn="ctr"/>
            <a:r>
              <a:rPr kumimoji="1" lang="en-US" altLang="zh-CN" sz="2000" b="1" dirty="0">
                <a:latin typeface="Helvetica" pitchFamily="2" charset="0"/>
              </a:rPr>
              <a:t>8 rules for</a:t>
            </a:r>
          </a:p>
          <a:p>
            <a:pPr algn="ctr"/>
            <a:r>
              <a:rPr kumimoji="1" lang="en-US" altLang="zh-CN" sz="2000" b="1" dirty="0">
                <a:latin typeface="Helvetica" pitchFamily="2" charset="0"/>
              </a:rPr>
              <a:t>utilizing the mutual synergy</a:t>
            </a:r>
            <a:endParaRPr kumimoji="1" lang="zh-CN" altLang="en-US" sz="2000" b="1" dirty="0">
              <a:latin typeface="Helvetica" pitchFamily="2" charset="0"/>
            </a:endParaRPr>
          </a:p>
        </p:txBody>
      </p:sp>
      <p:sp>
        <p:nvSpPr>
          <p:cNvPr id="3" name="文本框 2">
            <a:extLst>
              <a:ext uri="{FF2B5EF4-FFF2-40B4-BE49-F238E27FC236}">
                <a16:creationId xmlns:a16="http://schemas.microsoft.com/office/drawing/2014/main" id="{5DA0021D-F759-CA42-8953-9A339E147F66}"/>
              </a:ext>
            </a:extLst>
          </p:cNvPr>
          <p:cNvSpPr txBox="1"/>
          <p:nvPr/>
        </p:nvSpPr>
        <p:spPr>
          <a:xfrm>
            <a:off x="1413163" y="5263906"/>
            <a:ext cx="2980303" cy="923330"/>
          </a:xfrm>
          <a:prstGeom prst="rect">
            <a:avLst/>
          </a:prstGeom>
          <a:noFill/>
        </p:spPr>
        <p:txBody>
          <a:bodyPr wrap="none" rtlCol="0">
            <a:spAutoFit/>
          </a:bodyPr>
          <a:lstStyle/>
          <a:p>
            <a:pPr marL="342900" indent="-342900">
              <a:buAutoNum type="arabicPeriod"/>
            </a:pPr>
            <a:r>
              <a:rPr kumimoji="1" lang="en-US" altLang="zh-CN" dirty="0">
                <a:latin typeface="Helvetica" pitchFamily="2" charset="0"/>
              </a:rPr>
              <a:t>Source Vertices</a:t>
            </a:r>
          </a:p>
          <a:p>
            <a:pPr marL="342900" indent="-342900">
              <a:buAutoNum type="arabicPeriod"/>
            </a:pPr>
            <a:r>
              <a:rPr kumimoji="1" lang="en-US" altLang="zh-CN" dirty="0">
                <a:latin typeface="Helvetica" pitchFamily="2" charset="0"/>
              </a:rPr>
              <a:t>Sink Vertices</a:t>
            </a:r>
          </a:p>
          <a:p>
            <a:pPr marL="342900" indent="-342900">
              <a:buAutoNum type="arabicPeriod"/>
            </a:pPr>
            <a:r>
              <a:rPr kumimoji="1" lang="en-US" altLang="zh-CN" dirty="0">
                <a:latin typeface="Helvetica" pitchFamily="2" charset="0"/>
              </a:rPr>
              <a:t>Bug-Specific Conditions</a:t>
            </a:r>
            <a:endParaRPr kumimoji="1" lang="zh-CN" altLang="en-US" dirty="0">
              <a:latin typeface="Helvetica" pitchFamily="2" charset="0"/>
            </a:endParaRPr>
          </a:p>
        </p:txBody>
      </p:sp>
      <p:sp>
        <p:nvSpPr>
          <p:cNvPr id="9" name="右箭头 8">
            <a:extLst>
              <a:ext uri="{FF2B5EF4-FFF2-40B4-BE49-F238E27FC236}">
                <a16:creationId xmlns:a16="http://schemas.microsoft.com/office/drawing/2014/main" id="{3AB5BD65-3296-7A4C-87A3-698DD7763B38}"/>
              </a:ext>
            </a:extLst>
          </p:cNvPr>
          <p:cNvSpPr/>
          <p:nvPr/>
        </p:nvSpPr>
        <p:spPr>
          <a:xfrm rot="5400000">
            <a:off x="2137630" y="4862346"/>
            <a:ext cx="360000" cy="19080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609992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3" grpId="0"/>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95662E-C246-3349-AFAA-5A7B2E3AFFA2}"/>
              </a:ext>
            </a:extLst>
          </p:cNvPr>
          <p:cNvSpPr>
            <a:spLocks noGrp="1"/>
          </p:cNvSpPr>
          <p:nvPr>
            <p:ph type="title"/>
          </p:nvPr>
        </p:nvSpPr>
        <p:spPr/>
        <p:txBody>
          <a:bodyPr/>
          <a:lstStyle/>
          <a:p>
            <a:r>
              <a:rPr kumimoji="1" lang="en-US" altLang="zh-CN" dirty="0"/>
              <a:t>Evaluation</a:t>
            </a:r>
            <a:endParaRPr kumimoji="1" lang="zh-CN" altLang="en-US" dirty="0"/>
          </a:p>
        </p:txBody>
      </p:sp>
      <p:sp>
        <p:nvSpPr>
          <p:cNvPr id="4" name="灯片编号占位符 3">
            <a:extLst>
              <a:ext uri="{FF2B5EF4-FFF2-40B4-BE49-F238E27FC236}">
                <a16:creationId xmlns:a16="http://schemas.microsoft.com/office/drawing/2014/main" id="{A7EA8D93-17E1-0C48-AE71-AADEF4B20100}"/>
              </a:ext>
            </a:extLst>
          </p:cNvPr>
          <p:cNvSpPr>
            <a:spLocks noGrp="1"/>
          </p:cNvSpPr>
          <p:nvPr>
            <p:ph type="sldNum" sz="quarter" idx="12"/>
          </p:nvPr>
        </p:nvSpPr>
        <p:spPr/>
        <p:txBody>
          <a:bodyPr/>
          <a:lstStyle/>
          <a:p>
            <a:fld id="{C53D9380-AD50-0C4E-BD20-74B8F0FD34CE}" type="slidenum">
              <a:rPr kumimoji="1" lang="zh-CN" altLang="en-US" smtClean="0"/>
              <a:t>11</a:t>
            </a:fld>
            <a:endParaRPr kumimoji="1" lang="zh-CN" altLang="en-US" dirty="0"/>
          </a:p>
        </p:txBody>
      </p:sp>
      <p:pic>
        <p:nvPicPr>
          <p:cNvPr id="5" name="Picture 2" descr="PEC logo">
            <a:extLst>
              <a:ext uri="{FF2B5EF4-FFF2-40B4-BE49-F238E27FC236}">
                <a16:creationId xmlns:a16="http://schemas.microsoft.com/office/drawing/2014/main" id="{D33AF68D-B86E-424C-8CD9-F2C575DEF2E6}"/>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301864" y="2590862"/>
            <a:ext cx="647207" cy="9442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mage result for github">
            <a:extLst>
              <a:ext uri="{FF2B5EF4-FFF2-40B4-BE49-F238E27FC236}">
                <a16:creationId xmlns:a16="http://schemas.microsoft.com/office/drawing/2014/main" id="{3E59916E-D68C-394B-807E-C269A2125ABD}"/>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693159" y="4287272"/>
            <a:ext cx="2255912" cy="750091"/>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0D4B55C0-AFE9-5A4D-AC1B-22F7468EF99D}"/>
              </a:ext>
            </a:extLst>
          </p:cNvPr>
          <p:cNvSpPr txBox="1"/>
          <p:nvPr/>
        </p:nvSpPr>
        <p:spPr>
          <a:xfrm>
            <a:off x="3381749" y="2803438"/>
            <a:ext cx="712054" cy="400110"/>
          </a:xfrm>
          <a:prstGeom prst="rect">
            <a:avLst/>
          </a:prstGeom>
          <a:noFill/>
        </p:spPr>
        <p:txBody>
          <a:bodyPr wrap="none" rtlCol="0">
            <a:spAutoFit/>
          </a:bodyPr>
          <a:lstStyle/>
          <a:p>
            <a:r>
              <a:rPr kumimoji="1" lang="en-US" altLang="zh-CN" sz="2000" dirty="0">
                <a:latin typeface="Helvetica" pitchFamily="2" charset="0"/>
              </a:rPr>
              <a:t>X 12</a:t>
            </a:r>
            <a:endParaRPr kumimoji="1" lang="zh-CN" altLang="en-US" sz="2000" dirty="0">
              <a:latin typeface="Helvetica" pitchFamily="2" charset="0"/>
            </a:endParaRPr>
          </a:p>
        </p:txBody>
      </p:sp>
      <p:sp>
        <p:nvSpPr>
          <p:cNvPr id="8" name="文本框 7">
            <a:extLst>
              <a:ext uri="{FF2B5EF4-FFF2-40B4-BE49-F238E27FC236}">
                <a16:creationId xmlns:a16="http://schemas.microsoft.com/office/drawing/2014/main" id="{19E0F7FB-8355-E643-A4FB-4A3EF47DB72F}"/>
              </a:ext>
            </a:extLst>
          </p:cNvPr>
          <p:cNvSpPr txBox="1"/>
          <p:nvPr/>
        </p:nvSpPr>
        <p:spPr>
          <a:xfrm>
            <a:off x="3381749" y="4460711"/>
            <a:ext cx="712054" cy="400110"/>
          </a:xfrm>
          <a:prstGeom prst="rect">
            <a:avLst/>
          </a:prstGeom>
          <a:noFill/>
        </p:spPr>
        <p:txBody>
          <a:bodyPr wrap="none" rtlCol="0">
            <a:spAutoFit/>
          </a:bodyPr>
          <a:lstStyle/>
          <a:p>
            <a:r>
              <a:rPr kumimoji="1" lang="en-US" altLang="zh-CN" sz="2000" dirty="0">
                <a:latin typeface="Helvetica" pitchFamily="2" charset="0"/>
              </a:rPr>
              <a:t>X 10</a:t>
            </a:r>
            <a:endParaRPr kumimoji="1" lang="zh-CN" altLang="en-US" sz="2000" dirty="0">
              <a:latin typeface="Helvetica" pitchFamily="2" charset="0"/>
            </a:endParaRPr>
          </a:p>
        </p:txBody>
      </p:sp>
      <p:pic>
        <p:nvPicPr>
          <p:cNvPr id="18" name="图片 17">
            <a:extLst>
              <a:ext uri="{FF2B5EF4-FFF2-40B4-BE49-F238E27FC236}">
                <a16:creationId xmlns:a16="http://schemas.microsoft.com/office/drawing/2014/main" id="{5824A5FE-9B07-DA41-BDD9-58BB8D12EA00}"/>
              </a:ext>
            </a:extLst>
          </p:cNvPr>
          <p:cNvPicPr>
            <a:picLocks noChangeAspect="1"/>
          </p:cNvPicPr>
          <p:nvPr/>
        </p:nvPicPr>
        <p:blipFill>
          <a:blip r:embed="rId5"/>
          <a:stretch>
            <a:fillRect/>
          </a:stretch>
        </p:blipFill>
        <p:spPr>
          <a:xfrm>
            <a:off x="4656406" y="1856727"/>
            <a:ext cx="6702718" cy="4021630"/>
          </a:xfrm>
          <a:prstGeom prst="rect">
            <a:avLst/>
          </a:prstGeom>
        </p:spPr>
      </p:pic>
      <p:sp>
        <p:nvSpPr>
          <p:cNvPr id="22" name="文本框 21">
            <a:extLst>
              <a:ext uri="{FF2B5EF4-FFF2-40B4-BE49-F238E27FC236}">
                <a16:creationId xmlns:a16="http://schemas.microsoft.com/office/drawing/2014/main" id="{562AA0CE-037C-3248-A311-CF5040898597}"/>
              </a:ext>
            </a:extLst>
          </p:cNvPr>
          <p:cNvSpPr txBox="1"/>
          <p:nvPr/>
        </p:nvSpPr>
        <p:spPr>
          <a:xfrm>
            <a:off x="9959927" y="2392128"/>
            <a:ext cx="918841" cy="369332"/>
          </a:xfrm>
          <a:prstGeom prst="rect">
            <a:avLst/>
          </a:prstGeom>
          <a:noFill/>
        </p:spPr>
        <p:txBody>
          <a:bodyPr wrap="none" rtlCol="0">
            <a:spAutoFit/>
          </a:bodyPr>
          <a:lstStyle/>
          <a:p>
            <a:r>
              <a:rPr kumimoji="1" lang="en-US" altLang="zh-CN" b="1" dirty="0">
                <a:solidFill>
                  <a:srgbClr val="FF0000"/>
                </a:solidFill>
              </a:rPr>
              <a:t>2MLoC</a:t>
            </a:r>
            <a:endParaRPr kumimoji="1" lang="zh-CN" altLang="en-US" b="1" dirty="0">
              <a:solidFill>
                <a:srgbClr val="FF0000"/>
              </a:solidFill>
            </a:endParaRPr>
          </a:p>
        </p:txBody>
      </p:sp>
      <p:sp>
        <p:nvSpPr>
          <p:cNvPr id="23" name="文本框 22">
            <a:extLst>
              <a:ext uri="{FF2B5EF4-FFF2-40B4-BE49-F238E27FC236}">
                <a16:creationId xmlns:a16="http://schemas.microsoft.com/office/drawing/2014/main" id="{E6D1D408-8F5F-7048-8D6B-DA6164B906BC}"/>
              </a:ext>
            </a:extLst>
          </p:cNvPr>
          <p:cNvSpPr txBox="1"/>
          <p:nvPr/>
        </p:nvSpPr>
        <p:spPr>
          <a:xfrm>
            <a:off x="9995993" y="4938628"/>
            <a:ext cx="846707" cy="369332"/>
          </a:xfrm>
          <a:prstGeom prst="rect">
            <a:avLst/>
          </a:prstGeom>
          <a:noFill/>
        </p:spPr>
        <p:txBody>
          <a:bodyPr wrap="none" rtlCol="0">
            <a:spAutoFit/>
          </a:bodyPr>
          <a:lstStyle/>
          <a:p>
            <a:r>
              <a:rPr kumimoji="1" lang="en-US" altLang="zh-CN" b="1" dirty="0">
                <a:solidFill>
                  <a:srgbClr val="FF0000"/>
                </a:solidFill>
              </a:rPr>
              <a:t>2KLoC</a:t>
            </a:r>
            <a:endParaRPr kumimoji="1" lang="zh-CN" altLang="en-US" b="1" dirty="0">
              <a:solidFill>
                <a:srgbClr val="FF0000"/>
              </a:solidFill>
            </a:endParaRPr>
          </a:p>
        </p:txBody>
      </p:sp>
      <p:sp>
        <p:nvSpPr>
          <p:cNvPr id="24" name="虚尾箭头 23">
            <a:extLst>
              <a:ext uri="{FF2B5EF4-FFF2-40B4-BE49-F238E27FC236}">
                <a16:creationId xmlns:a16="http://schemas.microsoft.com/office/drawing/2014/main" id="{9C3EF1F7-1191-214A-ABA1-EED2D189B307}"/>
              </a:ext>
            </a:extLst>
          </p:cNvPr>
          <p:cNvSpPr/>
          <p:nvPr/>
        </p:nvSpPr>
        <p:spPr>
          <a:xfrm rot="16200000">
            <a:off x="9412035" y="3677592"/>
            <a:ext cx="1986486" cy="341412"/>
          </a:xfrm>
          <a:prstGeom prst="stripedRightArrow">
            <a:avLst>
              <a:gd name="adj1" fmla="val 50000"/>
              <a:gd name="adj2" fmla="val 174653"/>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992487870"/>
      </p:ext>
    </p:extLst>
  </p:cSld>
  <p:clrMapOvr>
    <a:masterClrMapping/>
  </p:clrMapOvr>
  <mc:AlternateContent xmlns:mc="http://schemas.openxmlformats.org/markup-compatibility/2006" xmlns:p14="http://schemas.microsoft.com/office/powerpoint/2010/main">
    <mc:Choice Requires="p14">
      <p:transition spd="slow" p14:dur="2000" advTm="27643"/>
    </mc:Choice>
    <mc:Fallback xmlns="">
      <p:transition spd="slow" advTm="2764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8EE9AA-8CFD-8744-BDCF-1B5088F6AED6}"/>
              </a:ext>
            </a:extLst>
          </p:cNvPr>
          <p:cNvSpPr>
            <a:spLocks noGrp="1"/>
          </p:cNvSpPr>
          <p:nvPr>
            <p:ph type="title"/>
          </p:nvPr>
        </p:nvSpPr>
        <p:spPr/>
        <p:txBody>
          <a:bodyPr/>
          <a:lstStyle/>
          <a:p>
            <a:r>
              <a:rPr kumimoji="1" lang="en-US" altLang="zh-CN" dirty="0"/>
              <a:t>Evaluation</a:t>
            </a:r>
            <a:endParaRPr kumimoji="1" lang="zh-CN" altLang="en-US" dirty="0"/>
          </a:p>
        </p:txBody>
      </p:sp>
      <p:sp>
        <p:nvSpPr>
          <p:cNvPr id="3" name="内容占位符 2">
            <a:extLst>
              <a:ext uri="{FF2B5EF4-FFF2-40B4-BE49-F238E27FC236}">
                <a16:creationId xmlns:a16="http://schemas.microsoft.com/office/drawing/2014/main" id="{3479F3AE-E6DB-2243-8649-E2AF6FEDC976}"/>
              </a:ext>
            </a:extLst>
          </p:cNvPr>
          <p:cNvSpPr>
            <a:spLocks noGrp="1"/>
          </p:cNvSpPr>
          <p:nvPr>
            <p:ph idx="1"/>
          </p:nvPr>
        </p:nvSpPr>
        <p:spPr/>
        <p:txBody>
          <a:bodyPr/>
          <a:lstStyle/>
          <a:p>
            <a:r>
              <a:rPr kumimoji="1" lang="en-US" altLang="zh-CN" dirty="0">
                <a:latin typeface="Helvetica" pitchFamily="2" charset="0"/>
              </a:rPr>
              <a:t>Comparing Catapult with existing tools by checking twenty value-flow problems</a:t>
            </a:r>
          </a:p>
          <a:p>
            <a:endParaRPr kumimoji="1" lang="zh-CN" altLang="en-US" dirty="0"/>
          </a:p>
        </p:txBody>
      </p:sp>
      <p:pic>
        <p:nvPicPr>
          <p:cNvPr id="16" name="图片 15">
            <a:extLst>
              <a:ext uri="{FF2B5EF4-FFF2-40B4-BE49-F238E27FC236}">
                <a16:creationId xmlns:a16="http://schemas.microsoft.com/office/drawing/2014/main" id="{CE8E2809-6614-1B43-B0BA-1BBD0E18D7DA}"/>
              </a:ext>
            </a:extLst>
          </p:cNvPr>
          <p:cNvPicPr>
            <a:picLocks noChangeAspect="1"/>
          </p:cNvPicPr>
          <p:nvPr/>
        </p:nvPicPr>
        <p:blipFill rotWithShape="1">
          <a:blip r:embed="rId3"/>
          <a:srcRect b="49623"/>
          <a:stretch/>
        </p:blipFill>
        <p:spPr>
          <a:xfrm>
            <a:off x="1854005" y="3659653"/>
            <a:ext cx="8483989" cy="1812682"/>
          </a:xfrm>
          <a:prstGeom prst="rect">
            <a:avLst/>
          </a:prstGeom>
        </p:spPr>
      </p:pic>
      <p:sp>
        <p:nvSpPr>
          <p:cNvPr id="4" name="矩形 3">
            <a:extLst>
              <a:ext uri="{FF2B5EF4-FFF2-40B4-BE49-F238E27FC236}">
                <a16:creationId xmlns:a16="http://schemas.microsoft.com/office/drawing/2014/main" id="{361F8211-0C93-8748-A11F-D7722AB1C417}"/>
              </a:ext>
            </a:extLst>
          </p:cNvPr>
          <p:cNvSpPr/>
          <p:nvPr/>
        </p:nvSpPr>
        <p:spPr>
          <a:xfrm>
            <a:off x="1354667" y="3659653"/>
            <a:ext cx="3708400" cy="1691280"/>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灯片编号占位符 3">
            <a:extLst>
              <a:ext uri="{FF2B5EF4-FFF2-40B4-BE49-F238E27FC236}">
                <a16:creationId xmlns:a16="http://schemas.microsoft.com/office/drawing/2014/main" id="{0FBF4157-B462-9343-96F5-5E906EDF052C}"/>
              </a:ext>
            </a:extLst>
          </p:cNvPr>
          <p:cNvSpPr>
            <a:spLocks noGrp="1"/>
          </p:cNvSpPr>
          <p:nvPr>
            <p:ph type="sldNum" sz="quarter" idx="12"/>
          </p:nvPr>
        </p:nvSpPr>
        <p:spPr>
          <a:xfrm>
            <a:off x="8610600" y="6356350"/>
            <a:ext cx="2743200" cy="365125"/>
          </a:xfrm>
        </p:spPr>
        <p:txBody>
          <a:bodyPr/>
          <a:lstStyle/>
          <a:p>
            <a:fld id="{C53D9380-AD50-0C4E-BD20-74B8F0FD34CE}" type="slidenum">
              <a:rPr kumimoji="1" lang="zh-CN" altLang="en-US" smtClean="0"/>
              <a:t>12</a:t>
            </a:fld>
            <a:endParaRPr kumimoji="1" lang="zh-CN" altLang="en-US" dirty="0"/>
          </a:p>
        </p:txBody>
      </p:sp>
    </p:spTree>
    <p:extLst>
      <p:ext uri="{BB962C8B-B14F-4D97-AF65-F5344CB8AC3E}">
        <p14:creationId xmlns:p14="http://schemas.microsoft.com/office/powerpoint/2010/main" val="438517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1F0951B-1334-BF46-B308-5D968C508630}"/>
              </a:ext>
            </a:extLst>
          </p:cNvPr>
          <p:cNvSpPr>
            <a:spLocks noGrp="1"/>
          </p:cNvSpPr>
          <p:nvPr>
            <p:ph type="sldNum" sz="quarter" idx="12"/>
          </p:nvPr>
        </p:nvSpPr>
        <p:spPr/>
        <p:txBody>
          <a:bodyPr/>
          <a:lstStyle/>
          <a:p>
            <a:fld id="{C53D9380-AD50-0C4E-BD20-74B8F0FD34CE}" type="slidenum">
              <a:rPr kumimoji="1" lang="zh-CN" altLang="en-US" smtClean="0"/>
              <a:t>13</a:t>
            </a:fld>
            <a:endParaRPr kumimoji="1" lang="zh-CN" altLang="en-US"/>
          </a:p>
        </p:txBody>
      </p:sp>
      <p:sp>
        <p:nvSpPr>
          <p:cNvPr id="9" name="内容占位符 8">
            <a:extLst>
              <a:ext uri="{FF2B5EF4-FFF2-40B4-BE49-F238E27FC236}">
                <a16:creationId xmlns:a16="http://schemas.microsoft.com/office/drawing/2014/main" id="{65144140-6E61-9149-B670-8436CBACDB56}"/>
              </a:ext>
            </a:extLst>
          </p:cNvPr>
          <p:cNvSpPr>
            <a:spLocks noGrp="1"/>
          </p:cNvSpPr>
          <p:nvPr>
            <p:ph idx="1"/>
          </p:nvPr>
        </p:nvSpPr>
        <p:spPr>
          <a:xfrm>
            <a:off x="6328228" y="1490131"/>
            <a:ext cx="5558972" cy="4013202"/>
          </a:xfrm>
        </p:spPr>
        <p:txBody>
          <a:bodyPr>
            <a:normAutofit/>
          </a:bodyPr>
          <a:lstStyle/>
          <a:p>
            <a:endParaRPr kumimoji="1" lang="en-US" altLang="zh-CN" dirty="0">
              <a:latin typeface="Helvetica" pitchFamily="2" charset="0"/>
            </a:endParaRPr>
          </a:p>
          <a:p>
            <a:r>
              <a:rPr kumimoji="1" lang="en-US" altLang="zh-CN" b="1" dirty="0">
                <a:latin typeface="Helvetica" pitchFamily="2" charset="0"/>
              </a:rPr>
              <a:t>Efficiency: Time and Memory</a:t>
            </a:r>
          </a:p>
          <a:p>
            <a:endParaRPr kumimoji="1" lang="en-US" altLang="zh-CN" dirty="0">
              <a:latin typeface="Helvetica" pitchFamily="2" charset="0"/>
            </a:endParaRPr>
          </a:p>
          <a:p>
            <a:pPr lvl="1"/>
            <a:r>
              <a:rPr kumimoji="1" lang="en-US" altLang="zh-CN" sz="2000" dirty="0">
                <a:latin typeface="Helvetica" pitchFamily="2" charset="0"/>
              </a:rPr>
              <a:t>Time reduction:</a:t>
            </a:r>
          </a:p>
          <a:p>
            <a:pPr lvl="2"/>
            <a:r>
              <a:rPr kumimoji="1" lang="en-US" altLang="zh-CN" sz="2000" dirty="0">
                <a:latin typeface="Helvetica" pitchFamily="2" charset="0"/>
              </a:rPr>
              <a:t>8X faster than Pinpoint</a:t>
            </a:r>
          </a:p>
          <a:p>
            <a:endParaRPr kumimoji="1" lang="en-US" altLang="zh-CN" dirty="0">
              <a:latin typeface="Helvetica" pitchFamily="2" charset="0"/>
            </a:endParaRPr>
          </a:p>
          <a:p>
            <a:pPr lvl="1"/>
            <a:r>
              <a:rPr kumimoji="1" lang="en-US" altLang="zh-CN" sz="2000" dirty="0">
                <a:latin typeface="Helvetica" pitchFamily="2" charset="0"/>
              </a:rPr>
              <a:t>Memory reduction</a:t>
            </a:r>
          </a:p>
          <a:p>
            <a:pPr lvl="2"/>
            <a:r>
              <a:rPr kumimoji="1" lang="en-US" altLang="zh-CN" sz="2000" dirty="0">
                <a:latin typeface="Helvetica" pitchFamily="2" charset="0"/>
              </a:rPr>
              <a:t>1/7 memory of Pinpoint</a:t>
            </a:r>
          </a:p>
        </p:txBody>
      </p:sp>
      <p:pic>
        <p:nvPicPr>
          <p:cNvPr id="12" name="图片 11">
            <a:extLst>
              <a:ext uri="{FF2B5EF4-FFF2-40B4-BE49-F238E27FC236}">
                <a16:creationId xmlns:a16="http://schemas.microsoft.com/office/drawing/2014/main" id="{38F4AEDA-6A3D-164E-9EA9-2947ED3867C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9607" y="0"/>
            <a:ext cx="5292090" cy="6858000"/>
          </a:xfrm>
          <a:prstGeom prst="rect">
            <a:avLst/>
          </a:prstGeom>
        </p:spPr>
      </p:pic>
    </p:spTree>
    <p:extLst>
      <p:ext uri="{BB962C8B-B14F-4D97-AF65-F5344CB8AC3E}">
        <p14:creationId xmlns:p14="http://schemas.microsoft.com/office/powerpoint/2010/main" val="2658092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1F0951B-1334-BF46-B308-5D968C508630}"/>
              </a:ext>
            </a:extLst>
          </p:cNvPr>
          <p:cNvSpPr>
            <a:spLocks noGrp="1"/>
          </p:cNvSpPr>
          <p:nvPr>
            <p:ph type="sldNum" sz="quarter" idx="12"/>
          </p:nvPr>
        </p:nvSpPr>
        <p:spPr/>
        <p:txBody>
          <a:bodyPr/>
          <a:lstStyle/>
          <a:p>
            <a:fld id="{C53D9380-AD50-0C4E-BD20-74B8F0FD34CE}" type="slidenum">
              <a:rPr kumimoji="1" lang="zh-CN" altLang="en-US" smtClean="0"/>
              <a:t>14</a:t>
            </a:fld>
            <a:endParaRPr kumimoji="1" lang="zh-CN" altLang="en-US"/>
          </a:p>
        </p:txBody>
      </p:sp>
      <p:sp>
        <p:nvSpPr>
          <p:cNvPr id="9" name="内容占位符 8">
            <a:extLst>
              <a:ext uri="{FF2B5EF4-FFF2-40B4-BE49-F238E27FC236}">
                <a16:creationId xmlns:a16="http://schemas.microsoft.com/office/drawing/2014/main" id="{4F473F81-2B8D-5348-9624-562F31504750}"/>
              </a:ext>
            </a:extLst>
          </p:cNvPr>
          <p:cNvSpPr>
            <a:spLocks noGrp="1"/>
          </p:cNvSpPr>
          <p:nvPr>
            <p:ph idx="1"/>
          </p:nvPr>
        </p:nvSpPr>
        <p:spPr>
          <a:xfrm>
            <a:off x="6328228" y="1591731"/>
            <a:ext cx="5457372" cy="4436535"/>
          </a:xfrm>
        </p:spPr>
        <p:txBody>
          <a:bodyPr>
            <a:normAutofit/>
          </a:bodyPr>
          <a:lstStyle/>
          <a:p>
            <a:endParaRPr kumimoji="1" lang="en-US" altLang="zh-CN" dirty="0">
              <a:latin typeface="Helvetica" pitchFamily="2" charset="0"/>
            </a:endParaRPr>
          </a:p>
          <a:p>
            <a:endParaRPr kumimoji="1" lang="en-US" altLang="zh-CN" dirty="0">
              <a:latin typeface="Helvetica" pitchFamily="2" charset="0"/>
            </a:endParaRPr>
          </a:p>
          <a:p>
            <a:r>
              <a:rPr kumimoji="1" lang="en-US" altLang="zh-CN" b="1" dirty="0">
                <a:latin typeface="Helvetica" pitchFamily="2" charset="0"/>
              </a:rPr>
              <a:t>Extensional Scalability</a:t>
            </a:r>
          </a:p>
          <a:p>
            <a:pPr lvl="1"/>
            <a:endParaRPr kumimoji="1" lang="en-US" altLang="zh-CN" sz="2000" dirty="0">
              <a:latin typeface="Helvetica" pitchFamily="2" charset="0"/>
            </a:endParaRPr>
          </a:p>
          <a:p>
            <a:pPr lvl="1"/>
            <a:r>
              <a:rPr kumimoji="1" lang="en-US" altLang="zh-CN" sz="2000" dirty="0">
                <a:latin typeface="Helvetica" pitchFamily="2" charset="0"/>
              </a:rPr>
              <a:t>Add the value-flow problem one by one</a:t>
            </a:r>
          </a:p>
          <a:p>
            <a:pPr lvl="1"/>
            <a:endParaRPr kumimoji="1" lang="en-US" altLang="zh-CN" sz="2000" dirty="0">
              <a:latin typeface="Helvetica" pitchFamily="2" charset="0"/>
            </a:endParaRPr>
          </a:p>
          <a:p>
            <a:pPr lvl="1"/>
            <a:r>
              <a:rPr kumimoji="1" lang="en-US" altLang="zh-CN" sz="2000" dirty="0">
                <a:latin typeface="Helvetica" pitchFamily="2" charset="0"/>
              </a:rPr>
              <a:t>Time and memory grow much slower</a:t>
            </a:r>
            <a:endParaRPr kumimoji="1" lang="zh-CN" altLang="en-US" sz="2000" dirty="0">
              <a:latin typeface="Helvetica" pitchFamily="2" charset="0"/>
            </a:endParaRPr>
          </a:p>
        </p:txBody>
      </p:sp>
      <p:pic>
        <p:nvPicPr>
          <p:cNvPr id="3" name="图片 2">
            <a:extLst>
              <a:ext uri="{FF2B5EF4-FFF2-40B4-BE49-F238E27FC236}">
                <a16:creationId xmlns:a16="http://schemas.microsoft.com/office/drawing/2014/main" id="{2E5FCBE3-64EA-874E-B484-BCAEBD4027A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0662" y="0"/>
            <a:ext cx="5454449" cy="6858000"/>
          </a:xfrm>
          <a:prstGeom prst="rect">
            <a:avLst/>
          </a:prstGeom>
        </p:spPr>
      </p:pic>
    </p:spTree>
    <p:extLst>
      <p:ext uri="{BB962C8B-B14F-4D97-AF65-F5344CB8AC3E}">
        <p14:creationId xmlns:p14="http://schemas.microsoft.com/office/powerpoint/2010/main" val="1134282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41E0FB-79F2-A34D-BA89-0E3307A8EA11}"/>
              </a:ext>
            </a:extLst>
          </p:cNvPr>
          <p:cNvSpPr>
            <a:spLocks noGrp="1"/>
          </p:cNvSpPr>
          <p:nvPr>
            <p:ph type="title"/>
          </p:nvPr>
        </p:nvSpPr>
        <p:spPr/>
        <p:txBody>
          <a:bodyPr/>
          <a:lstStyle/>
          <a:p>
            <a:r>
              <a:rPr kumimoji="1" lang="en-US" altLang="zh-CN" dirty="0"/>
              <a:t>Summary</a:t>
            </a:r>
            <a:endParaRPr kumimoji="1" lang="zh-CN" altLang="en-US" dirty="0"/>
          </a:p>
        </p:txBody>
      </p:sp>
      <p:sp>
        <p:nvSpPr>
          <p:cNvPr id="3" name="内容占位符 2">
            <a:extLst>
              <a:ext uri="{FF2B5EF4-FFF2-40B4-BE49-F238E27FC236}">
                <a16:creationId xmlns:a16="http://schemas.microsoft.com/office/drawing/2014/main" id="{CE2CF4C2-720C-A24D-AA80-DCDC5FC9CBCE}"/>
              </a:ext>
            </a:extLst>
          </p:cNvPr>
          <p:cNvSpPr>
            <a:spLocks noGrp="1"/>
          </p:cNvSpPr>
          <p:nvPr>
            <p:ph idx="1"/>
          </p:nvPr>
        </p:nvSpPr>
        <p:spPr/>
        <p:txBody>
          <a:bodyPr/>
          <a:lstStyle/>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zh-CN" altLang="en-US" sz="2400" dirty="0"/>
          </a:p>
        </p:txBody>
      </p:sp>
      <p:sp>
        <p:nvSpPr>
          <p:cNvPr id="4" name="灯片编号占位符 3">
            <a:extLst>
              <a:ext uri="{FF2B5EF4-FFF2-40B4-BE49-F238E27FC236}">
                <a16:creationId xmlns:a16="http://schemas.microsoft.com/office/drawing/2014/main" id="{A2032C0C-0DC4-9C49-9478-2055328DE5EA}"/>
              </a:ext>
            </a:extLst>
          </p:cNvPr>
          <p:cNvSpPr>
            <a:spLocks noGrp="1"/>
          </p:cNvSpPr>
          <p:nvPr>
            <p:ph type="sldNum" sz="quarter" idx="12"/>
          </p:nvPr>
        </p:nvSpPr>
        <p:spPr/>
        <p:txBody>
          <a:bodyPr/>
          <a:lstStyle/>
          <a:p>
            <a:fld id="{C53D9380-AD50-0C4E-BD20-74B8F0FD34CE}" type="slidenum">
              <a:rPr kumimoji="1" lang="zh-CN" altLang="en-US" smtClean="0"/>
              <a:t>15</a:t>
            </a:fld>
            <a:endParaRPr kumimoji="1" lang="zh-CN" altLang="en-US"/>
          </a:p>
        </p:txBody>
      </p:sp>
      <p:sp>
        <p:nvSpPr>
          <p:cNvPr id="8" name="文本框 7">
            <a:extLst>
              <a:ext uri="{FF2B5EF4-FFF2-40B4-BE49-F238E27FC236}">
                <a16:creationId xmlns:a16="http://schemas.microsoft.com/office/drawing/2014/main" id="{99D33A22-355B-8F4B-9894-3F4ABE6630FF}"/>
              </a:ext>
            </a:extLst>
          </p:cNvPr>
          <p:cNvSpPr txBox="1"/>
          <p:nvPr/>
        </p:nvSpPr>
        <p:spPr>
          <a:xfrm>
            <a:off x="1168401" y="2694298"/>
            <a:ext cx="9855197" cy="2246769"/>
          </a:xfrm>
          <a:prstGeom prst="rect">
            <a:avLst/>
          </a:prstGeom>
          <a:noFill/>
        </p:spPr>
        <p:txBody>
          <a:bodyPr wrap="none" rtlCol="0">
            <a:spAutoFit/>
          </a:bodyPr>
          <a:lstStyle/>
          <a:p>
            <a:pPr algn="ctr"/>
            <a:r>
              <a:rPr kumimoji="1" lang="en-US" altLang="zh-CN" sz="2800" b="1" dirty="0">
                <a:latin typeface="Helvetica" pitchFamily="2" charset="0"/>
              </a:rPr>
              <a:t>Inter-Property-Aware Analysis</a:t>
            </a:r>
          </a:p>
          <a:p>
            <a:pPr algn="ctr"/>
            <a:endParaRPr kumimoji="1" lang="en-US" altLang="zh-CN" sz="2800" b="1" dirty="0">
              <a:latin typeface="Helvetica" pitchFamily="2" charset="0"/>
            </a:endParaRPr>
          </a:p>
          <a:p>
            <a:pPr algn="ctr"/>
            <a:r>
              <a:rPr kumimoji="1" lang="en-US" altLang="zh-CN" sz="2800" b="1" dirty="0">
                <a:latin typeface="Helvetica" pitchFamily="2" charset="0"/>
              </a:rPr>
              <a:t>Using the Mutual Synergy to Prune and Share Paths</a:t>
            </a:r>
          </a:p>
          <a:p>
            <a:pPr algn="ctr"/>
            <a:endParaRPr kumimoji="1" lang="en-US" altLang="zh-CN" sz="2800" b="1" dirty="0">
              <a:latin typeface="Helvetica" pitchFamily="2" charset="0"/>
            </a:endParaRPr>
          </a:p>
          <a:p>
            <a:pPr algn="ctr"/>
            <a:r>
              <a:rPr kumimoji="1" lang="en-US" altLang="zh-CN" sz="2800" b="1" dirty="0">
                <a:latin typeface="Helvetica" pitchFamily="2" charset="0"/>
              </a:rPr>
              <a:t>Reduce Unnecessary Graph Traversals and SMT Solving</a:t>
            </a:r>
            <a:endParaRPr kumimoji="1" lang="zh-CN" altLang="en-US" sz="2800" b="1" dirty="0">
              <a:latin typeface="Helvetica" pitchFamily="2" charset="0"/>
            </a:endParaRPr>
          </a:p>
        </p:txBody>
      </p:sp>
    </p:spTree>
    <p:extLst>
      <p:ext uri="{BB962C8B-B14F-4D97-AF65-F5344CB8AC3E}">
        <p14:creationId xmlns:p14="http://schemas.microsoft.com/office/powerpoint/2010/main" val="3728695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4B6D7-BB78-7948-AD1C-9B08DF660E1E}"/>
              </a:ext>
            </a:extLst>
          </p:cNvPr>
          <p:cNvSpPr>
            <a:spLocks noGrp="1"/>
          </p:cNvSpPr>
          <p:nvPr>
            <p:ph type="title"/>
          </p:nvPr>
        </p:nvSpPr>
        <p:spPr>
          <a:xfrm>
            <a:off x="838200" y="2742569"/>
            <a:ext cx="10515600" cy="1325563"/>
          </a:xfrm>
        </p:spPr>
        <p:txBody>
          <a:bodyPr/>
          <a:lstStyle/>
          <a:p>
            <a:r>
              <a:rPr kumimoji="1" lang="en-US" altLang="zh-CN" dirty="0"/>
              <a:t>THANKS FOR YOUR TIME! Q&amp;A</a:t>
            </a:r>
            <a:endParaRPr kumimoji="1" lang="zh-CN" altLang="en-US" dirty="0"/>
          </a:p>
        </p:txBody>
      </p:sp>
    </p:spTree>
    <p:extLst>
      <p:ext uri="{BB962C8B-B14F-4D97-AF65-F5344CB8AC3E}">
        <p14:creationId xmlns:p14="http://schemas.microsoft.com/office/powerpoint/2010/main" val="3541076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8FFE43-D7D6-634E-8B2F-ED17A349C7E5}"/>
              </a:ext>
            </a:extLst>
          </p:cNvPr>
          <p:cNvSpPr>
            <a:spLocks noGrp="1"/>
          </p:cNvSpPr>
          <p:nvPr>
            <p:ph type="title"/>
          </p:nvPr>
        </p:nvSpPr>
        <p:spPr>
          <a:xfrm>
            <a:off x="838200" y="365125"/>
            <a:ext cx="10515600" cy="1325563"/>
          </a:xfrm>
        </p:spPr>
        <p:txBody>
          <a:bodyPr/>
          <a:lstStyle/>
          <a:p>
            <a:r>
              <a:rPr kumimoji="1" lang="en-US" altLang="zh-CN" dirty="0"/>
              <a:t>Comparing to Clang and Infer</a:t>
            </a:r>
            <a:endParaRPr kumimoji="1" lang="zh-CN" altLang="en-US" dirty="0"/>
          </a:p>
        </p:txBody>
      </p:sp>
      <p:sp>
        <p:nvSpPr>
          <p:cNvPr id="4" name="灯片编号占位符 3">
            <a:extLst>
              <a:ext uri="{FF2B5EF4-FFF2-40B4-BE49-F238E27FC236}">
                <a16:creationId xmlns:a16="http://schemas.microsoft.com/office/drawing/2014/main" id="{91F0951B-1334-BF46-B308-5D968C508630}"/>
              </a:ext>
            </a:extLst>
          </p:cNvPr>
          <p:cNvSpPr>
            <a:spLocks noGrp="1"/>
          </p:cNvSpPr>
          <p:nvPr>
            <p:ph type="sldNum" sz="quarter" idx="12"/>
          </p:nvPr>
        </p:nvSpPr>
        <p:spPr/>
        <p:txBody>
          <a:bodyPr/>
          <a:lstStyle/>
          <a:p>
            <a:fld id="{C53D9380-AD50-0C4E-BD20-74B8F0FD34CE}" type="slidenum">
              <a:rPr kumimoji="1" lang="zh-CN" altLang="en-US" smtClean="0"/>
              <a:t>17</a:t>
            </a:fld>
            <a:endParaRPr kumimoji="1" lang="zh-CN" altLang="en-US"/>
          </a:p>
        </p:txBody>
      </p:sp>
      <p:sp>
        <p:nvSpPr>
          <p:cNvPr id="9" name="内容占位符 8">
            <a:extLst>
              <a:ext uri="{FF2B5EF4-FFF2-40B4-BE49-F238E27FC236}">
                <a16:creationId xmlns:a16="http://schemas.microsoft.com/office/drawing/2014/main" id="{65144140-6E61-9149-B670-8436CBACDB56}"/>
              </a:ext>
            </a:extLst>
          </p:cNvPr>
          <p:cNvSpPr>
            <a:spLocks noGrp="1"/>
          </p:cNvSpPr>
          <p:nvPr>
            <p:ph idx="1"/>
          </p:nvPr>
        </p:nvSpPr>
        <p:spPr>
          <a:xfrm>
            <a:off x="838200" y="1825624"/>
            <a:ext cx="10515600" cy="4778375"/>
          </a:xfrm>
        </p:spPr>
        <p:txBody>
          <a:bodyPr/>
          <a:lstStyle/>
          <a:p>
            <a:r>
              <a:rPr kumimoji="1" lang="en-US" altLang="zh-CN" sz="2400" dirty="0">
                <a:latin typeface="Helvetica" pitchFamily="2" charset="0"/>
              </a:rPr>
              <a:t>Clang Static Analyzer – Symbolic Execution</a:t>
            </a:r>
          </a:p>
          <a:p>
            <a:endParaRPr kumimoji="1" lang="en-US" altLang="zh-CN" dirty="0">
              <a:latin typeface="Helvetica" pitchFamily="2" charset="0"/>
            </a:endParaRPr>
          </a:p>
          <a:p>
            <a:pPr lvl="1"/>
            <a:r>
              <a:rPr kumimoji="1" lang="en-US" altLang="zh-CN" sz="2000" dirty="0">
                <a:latin typeface="Helvetica" pitchFamily="2" charset="0"/>
              </a:rPr>
              <a:t>Default Version – Clang (default)</a:t>
            </a:r>
          </a:p>
          <a:p>
            <a:pPr lvl="2"/>
            <a:endParaRPr kumimoji="1" lang="en-US" altLang="zh-CN" sz="2000" dirty="0">
              <a:latin typeface="Helvetica" pitchFamily="2" charset="0"/>
            </a:endParaRPr>
          </a:p>
          <a:p>
            <a:pPr lvl="2"/>
            <a:r>
              <a:rPr kumimoji="1" lang="en-US" altLang="zh-CN" sz="2000" dirty="0">
                <a:latin typeface="Helvetica" pitchFamily="2" charset="0"/>
              </a:rPr>
              <a:t>Using an imprecise and range-based solver to determine path feasibility</a:t>
            </a:r>
          </a:p>
          <a:p>
            <a:pPr lvl="1"/>
            <a:endParaRPr kumimoji="1" lang="en-US" altLang="zh-CN" sz="2000" dirty="0">
              <a:latin typeface="Helvetica" pitchFamily="2" charset="0"/>
            </a:endParaRPr>
          </a:p>
          <a:p>
            <a:pPr lvl="1"/>
            <a:r>
              <a:rPr kumimoji="1" lang="en-US" altLang="zh-CN" sz="2000" dirty="0">
                <a:latin typeface="Helvetica" pitchFamily="2" charset="0"/>
              </a:rPr>
              <a:t>Full Path-Sensitive Version – Clang (Z3)</a:t>
            </a:r>
          </a:p>
          <a:p>
            <a:pPr lvl="1"/>
            <a:endParaRPr kumimoji="1" lang="en-US" altLang="zh-CN" sz="2000" dirty="0">
              <a:latin typeface="Helvetica" pitchFamily="2" charset="0"/>
            </a:endParaRPr>
          </a:p>
          <a:p>
            <a:pPr lvl="2"/>
            <a:r>
              <a:rPr kumimoji="1" lang="en-US" altLang="zh-CN" sz="2000" dirty="0">
                <a:latin typeface="Helvetica" pitchFamily="2" charset="0"/>
              </a:rPr>
              <a:t>Using Z3, a precise and full-featured SMT solver to determine path feasibility</a:t>
            </a:r>
          </a:p>
          <a:p>
            <a:pPr lvl="2"/>
            <a:endParaRPr kumimoji="1" lang="en-US" altLang="zh-CN" sz="2000" dirty="0">
              <a:latin typeface="Helvetica" pitchFamily="2" charset="0"/>
            </a:endParaRPr>
          </a:p>
          <a:p>
            <a:r>
              <a:rPr kumimoji="1" lang="en-US" altLang="zh-CN" sz="2400" dirty="0">
                <a:latin typeface="Helvetica" pitchFamily="2" charset="0"/>
              </a:rPr>
              <a:t>Infer – Abstraction Interpretation</a:t>
            </a:r>
          </a:p>
          <a:p>
            <a:endParaRPr kumimoji="1" lang="en-US" altLang="zh-CN" sz="2400" dirty="0">
              <a:latin typeface="Helvetica" pitchFamily="2" charset="0"/>
            </a:endParaRPr>
          </a:p>
          <a:p>
            <a:pPr marL="457200" lvl="1" indent="0">
              <a:buNone/>
            </a:pPr>
            <a:endParaRPr kumimoji="1" lang="zh-CN" altLang="en-US" sz="2000" dirty="0">
              <a:latin typeface="Helvetica" pitchFamily="2" charset="0"/>
            </a:endParaRPr>
          </a:p>
        </p:txBody>
      </p:sp>
    </p:spTree>
    <p:extLst>
      <p:ext uri="{BB962C8B-B14F-4D97-AF65-F5344CB8AC3E}">
        <p14:creationId xmlns:p14="http://schemas.microsoft.com/office/powerpoint/2010/main" val="636513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F4CEC42-119E-1945-87DE-8D0AA78FC455}"/>
              </a:ext>
            </a:extLst>
          </p:cNvPr>
          <p:cNvSpPr>
            <a:spLocks noGrp="1"/>
          </p:cNvSpPr>
          <p:nvPr>
            <p:ph type="sldNum" sz="quarter" idx="12"/>
          </p:nvPr>
        </p:nvSpPr>
        <p:spPr/>
        <p:txBody>
          <a:bodyPr/>
          <a:lstStyle/>
          <a:p>
            <a:fld id="{C53D9380-AD50-0C4E-BD20-74B8F0FD34CE}" type="slidenum">
              <a:rPr kumimoji="1" lang="zh-CN" altLang="en-US" smtClean="0"/>
              <a:t>18</a:t>
            </a:fld>
            <a:endParaRPr kumimoji="1" lang="zh-CN" altLang="en-US"/>
          </a:p>
        </p:txBody>
      </p:sp>
      <p:pic>
        <p:nvPicPr>
          <p:cNvPr id="5" name="内容占位符 6">
            <a:extLst>
              <a:ext uri="{FF2B5EF4-FFF2-40B4-BE49-F238E27FC236}">
                <a16:creationId xmlns:a16="http://schemas.microsoft.com/office/drawing/2014/main" id="{E61292DF-726A-964D-962D-B4DE23F73D3A}"/>
              </a:ext>
            </a:extLst>
          </p:cNvPr>
          <p:cNvPicPr>
            <a:picLocks noChangeAspect="1"/>
          </p:cNvPicPr>
          <p:nvPr/>
        </p:nvPicPr>
        <p:blipFill>
          <a:blip r:embed="rId3"/>
          <a:stretch>
            <a:fillRect/>
          </a:stretch>
        </p:blipFill>
        <p:spPr>
          <a:xfrm>
            <a:off x="441313" y="195884"/>
            <a:ext cx="5522167" cy="6575032"/>
          </a:xfrm>
          <a:prstGeom prst="rect">
            <a:avLst/>
          </a:prstGeom>
        </p:spPr>
      </p:pic>
      <p:sp>
        <p:nvSpPr>
          <p:cNvPr id="6" name="内容占位符 8">
            <a:extLst>
              <a:ext uri="{FF2B5EF4-FFF2-40B4-BE49-F238E27FC236}">
                <a16:creationId xmlns:a16="http://schemas.microsoft.com/office/drawing/2014/main" id="{ADA066A0-8C84-2D47-BE0B-328D747C796B}"/>
              </a:ext>
            </a:extLst>
          </p:cNvPr>
          <p:cNvSpPr txBox="1">
            <a:spLocks/>
          </p:cNvSpPr>
          <p:nvPr/>
        </p:nvSpPr>
        <p:spPr>
          <a:xfrm>
            <a:off x="6142700" y="1077213"/>
            <a:ext cx="5863772" cy="52175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en-US" altLang="zh-CN" dirty="0"/>
          </a:p>
          <a:p>
            <a:r>
              <a:rPr kumimoji="1" lang="en-US" altLang="zh-CN" dirty="0"/>
              <a:t>Efficiency: Time and Memory</a:t>
            </a:r>
          </a:p>
          <a:p>
            <a:endParaRPr kumimoji="1" lang="en-US" altLang="zh-CN" dirty="0"/>
          </a:p>
          <a:p>
            <a:pPr lvl="1"/>
            <a:r>
              <a:rPr kumimoji="1" lang="en-US" altLang="zh-CN" sz="2000" dirty="0"/>
              <a:t>Much Faster than Clang (Z3)</a:t>
            </a:r>
          </a:p>
          <a:p>
            <a:endParaRPr kumimoji="1" lang="en-US" altLang="zh-CN" dirty="0"/>
          </a:p>
          <a:p>
            <a:pPr lvl="1"/>
            <a:r>
              <a:rPr kumimoji="1" lang="en-US" altLang="zh-CN" sz="2000" dirty="0"/>
              <a:t>Similar Time Cost with Clang (default) / Infer</a:t>
            </a:r>
          </a:p>
          <a:p>
            <a:endParaRPr kumimoji="1" lang="en-US" altLang="zh-CN" dirty="0"/>
          </a:p>
          <a:p>
            <a:pPr lvl="1"/>
            <a:r>
              <a:rPr kumimoji="1" lang="en-US" altLang="zh-CN" sz="2000" dirty="0"/>
              <a:t>Similar Memory Cost with Clang / Infer</a:t>
            </a:r>
            <a:endParaRPr kumimoji="1" lang="en-US" altLang="zh-CN" dirty="0"/>
          </a:p>
          <a:p>
            <a:endParaRPr kumimoji="1" lang="en-US" altLang="zh-CN" dirty="0"/>
          </a:p>
          <a:p>
            <a:r>
              <a:rPr kumimoji="1" lang="en-US" altLang="zh-CN" dirty="0"/>
              <a:t>Effectiveness: False Positives</a:t>
            </a:r>
          </a:p>
          <a:p>
            <a:endParaRPr kumimoji="1" lang="en-US" altLang="zh-CN" dirty="0"/>
          </a:p>
          <a:p>
            <a:pPr lvl="1"/>
            <a:r>
              <a:rPr kumimoji="1" lang="en-US" altLang="zh-CN" sz="2000" b="1" dirty="0"/>
              <a:t>Catapult</a:t>
            </a:r>
            <a:r>
              <a:rPr kumimoji="1" lang="en-US" altLang="zh-CN" sz="2000" dirty="0"/>
              <a:t>: 28.6%; </a:t>
            </a:r>
            <a:r>
              <a:rPr kumimoji="1" lang="en-US" altLang="zh-CN" sz="2000" b="1" dirty="0"/>
              <a:t>Infer/Clang</a:t>
            </a:r>
            <a:r>
              <a:rPr kumimoji="1" lang="en-US" altLang="zh-CN" sz="2000" dirty="0"/>
              <a:t>: &gt; 60%</a:t>
            </a:r>
            <a:endParaRPr kumimoji="1" lang="zh-CN" altLang="en-US" sz="2000" dirty="0"/>
          </a:p>
        </p:txBody>
      </p:sp>
    </p:spTree>
    <p:extLst>
      <p:ext uri="{BB962C8B-B14F-4D97-AF65-F5344CB8AC3E}">
        <p14:creationId xmlns:p14="http://schemas.microsoft.com/office/powerpoint/2010/main" val="2688140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1531</TotalTime>
  <Words>1933</Words>
  <Application>Microsoft Macintosh PowerPoint</Application>
  <PresentationFormat>宽屏</PresentationFormat>
  <Paragraphs>279</Paragraphs>
  <Slides>18</Slides>
  <Notes>17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等线</vt:lpstr>
      <vt:lpstr>等线 Light</vt:lpstr>
      <vt:lpstr>Arial</vt:lpstr>
      <vt:lpstr>Gill Sans MT</vt:lpstr>
      <vt:lpstr>Helvetica</vt:lpstr>
      <vt:lpstr>Iowan Old Style Titling</vt:lpstr>
      <vt:lpstr>Wingdings</vt:lpstr>
      <vt:lpstr>Office 主题​​</vt:lpstr>
      <vt:lpstr>Conquering the Extensional Scalability Problem for Value-Flow Analysis Frameworks </vt:lpstr>
      <vt:lpstr>Outline</vt:lpstr>
      <vt:lpstr>A Broad Range of Software Bugs</vt:lpstr>
      <vt:lpstr>Value Flow Problems</vt:lpstr>
      <vt:lpstr>Value Flow Analysis</vt:lpstr>
      <vt:lpstr>The Extensional Scalability Problem</vt:lpstr>
      <vt:lpstr>Basic Idea</vt:lpstr>
      <vt:lpstr>Mutual Synergy</vt:lpstr>
      <vt:lpstr>Mutual Synergy</vt:lpstr>
      <vt:lpstr>Workflow</vt:lpstr>
      <vt:lpstr>Evaluation</vt:lpstr>
      <vt:lpstr>Evaluation</vt:lpstr>
      <vt:lpstr>PowerPoint 演示文稿</vt:lpstr>
      <vt:lpstr>PowerPoint 演示文稿</vt:lpstr>
      <vt:lpstr>Summary</vt:lpstr>
      <vt:lpstr>THANKS FOR YOUR TIME! Q&amp;A</vt:lpstr>
      <vt:lpstr>Comparing to Clang and Infer</vt:lpstr>
      <vt:lpstr>PowerPoint 演示文稿</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Qingkai Shi</dc:creator>
  <cp:lastModifiedBy>Qingkai Shi</cp:lastModifiedBy>
  <cp:revision>223</cp:revision>
  <dcterms:created xsi:type="dcterms:W3CDTF">2020-02-16T05:26:24Z</dcterms:created>
  <dcterms:modified xsi:type="dcterms:W3CDTF">2020-06-27T09:35:52Z</dcterms:modified>
</cp:coreProperties>
</file>